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couverture. Présenter l'équipe et le contexte du projet. Insister sur l'enjeu critique de la sauvegarde des workloads OpenShift en production multi-AZ.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plan et permettre aux participants de poser des questions sur les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SLA et les exigences de conformité. Mentionner le contexte réglementaire (RGPD, LPM, etc.) si applicable.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topologie des deux clusters, le rôle Primary/Standby des masters, et le flux de réplication AIR entre les DataDomains.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RTO de 30 secondes du failover OpenSVC. La VIP flottante garantit que les media servers et clients NBU ne nécessitent aucune reconfiguration.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OADP gère les ressources K8s natives (via Kubernetes API), tandis que NBU DataProtector gère les données des PVC et le streaming vers DDBoost. Les deux sont complémentaires.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dédiée à la sécurité. Transition pour les équipes sécurité / RSSI.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critique : vérifier que la rotation des clés est testée en procédure DR. La perte des clés de chiffrement DDBoost rend les backups illisibles.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Valider avec l'équipe IAM le mapping des rôles NBU avec les groupes AD existants. Le compte Security Admin doit être nominatif et non partagé.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rétention WORM sur DataDomain est un argument fort pour les auditeurs. Insister sur l'immuabilité des logs de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micro-segmentation OpenShift avec les Network Policies. Mentionner l'intégration possible avec Istio/mTLS pour le service mesh.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tiers Gold/Silver/Bronze doivent être validés avec les équipes applicatives. Le tier ARCHIVE avec WORM répond aux exigences légales de conservation.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matrice de risques doit être revue semestriellement. Les risques critiques avec probabilité faible restent prioritaires car l'impact est catastrophique sur la continuité.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Résumer les 3 messages clés : Résilience multi-AZ, Sécurité Zero Trust, et ROI sur la déduplication DDBoost. Ouvrir sur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4630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44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CONFIDENTIEL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 Sauvegarde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NetBackup Multi-AZ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· DDBoost · Sécurité · OpenShift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 |  2024  |  Infrastructure &amp; Sécurité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406640" y="10972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0607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081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architecture multi-AZ 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01952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956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3042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NBU, Media Servers, DDBoost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98064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980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52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200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OpenSVC · Failover · Catalog HA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94176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9417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OpenShift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096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OADP · Velero · NBU DataProtector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0058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005840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10607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Sécurité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4081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· RBAC · Audit · Zero Trust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90195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901952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90195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1956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/ RTO &amp; SLA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23042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reprise et garanties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798064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798064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7980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2852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des Risques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3200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risques et mitigations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Contexte &amp; Enjeux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NBU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+ DRP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960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42032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2032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DDBoost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18304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960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18304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8304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94576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A2E44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94576" y="960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94576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94576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sauvegarde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adressés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de service : zéro perte de données acceptable sur les workloads OpenShift critiques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8444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38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Déduplication avancée via DDBoost : réduction de 30:1 du volume de données transférées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5993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142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sécurisé : isolation des accès par namespace et par cluster OpenShift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53542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4897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 : chiffrement AES-256 en transit et au repos, logs d'audit complets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Architecture Globale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NBU #1 — Production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1A2E44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AZ-1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" y="15087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08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(Primary)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210312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03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26974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697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" y="329184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291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DDBoost LSU AZ1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38862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862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Cluster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1170432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1A2E44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188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AZ-2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50008" y="15087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1508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(Standby)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50008" y="210312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2103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50008" y="26974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0008" y="2697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 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50008" y="329184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0008" y="3291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DDBoost LSU AZ2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50008" y="38862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0008" y="38862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Cluster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75688" y="3566160"/>
            <a:ext cx="2743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2002536" y="34290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AIR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77724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102A1A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822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NBU #2 — DRP / Secondary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1170432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1A2E44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188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AZ-A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56048" y="15087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1508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(Primary)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56048" y="210312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103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 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56048" y="26974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2697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 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56048" y="329184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291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DDBoost LSU AZ-A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56048" y="38862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38862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Cluster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6560" y="1170432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1A2E44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1188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AZ-B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30568" y="15087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0568" y="1508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(Standby)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30568" y="210312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0568" y="2103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 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30568" y="26974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30568" y="2697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 8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30568" y="329184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30568" y="3291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DDBoost LSU AZ-B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30568" y="38862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30568" y="38862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Cluster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43400" y="3566160"/>
            <a:ext cx="4572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lgDash"/>
          </a:ln>
        </p:spPr>
      </p:sp>
      <p:sp>
        <p:nvSpPr>
          <p:cNvPr id="59" name="Text 57"/>
          <p:cNvSpPr/>
          <p:nvPr/>
        </p:nvSpPr>
        <p:spPr>
          <a:xfrm>
            <a:off x="41148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97316"/>
                </a:solidFill>
              </a:rPr>
              <a:t>AIR inter-clusters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20040" y="48920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" y="48737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Master NBU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103120" y="48920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95144" y="48737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Media Server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886200" y="48920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78224" y="48737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DDBoost LSU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669280" y="48920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61304" y="48737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OpenShift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452360" y="48920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44384" y="48737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Standby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Haute Disponibilité avec OpenSVC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NBU Master AZ-1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PRIMARY · ACTIF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VIP: 10.0.1.100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Catalog DB + Policies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9144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960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NBU Master AZ-2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280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STANDBY · EN ATTENTE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0" y="1508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VIP: 10.0.1.100 (takeover)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17190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Catalog Replica sync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600200"/>
            <a:ext cx="2377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12801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8620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OpenSVC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1581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</a:rPr>
              <a:t>Failover &lt; 30s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bascule automatique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077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29077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du heartbeat réseau inter-AZ (&gt; 10s)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83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383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du service nbpem / bprd sur le Master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5876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587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!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8587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Indisponibilité du stockage Catalog (NFS / block)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334256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342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!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3342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DR planifié (bascule manuelle contrôlée)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Catalog NBU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90779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9077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29077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nbcatsync + rsync chiffré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8328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383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: 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3383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15 minutes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85876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8587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max toléré : 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9320" y="3858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min (RPO catalog)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33425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3342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: 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43342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zstd — réduction 70%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Protection des clusters OpenShift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4069080"/>
          </a:xfrm>
          <a:prstGeom prst="roundRect">
            <a:avLst>
              <a:gd name="adj" fmla="val 2273"/>
            </a:avLst>
          </a:prstGeom>
          <a:solidFill>
            <a:srgbClr val="1A2E44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OADP + Velero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Sauvegarde des ressources Kubernetes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K8s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76479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Deployments, Services, ConfigMaps, Secrets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48256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48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via CSI Snapshot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27685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cohérents en groupe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560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backup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78892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direct du keystore OpenShift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072384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072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complets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30098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sélective par labels/annotations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84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NBU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381304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final sur LSU DDBoost via Object Store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822960"/>
            <a:ext cx="4023360" cy="4069080"/>
          </a:xfrm>
          <a:prstGeom prst="roundRect">
            <a:avLst>
              <a:gd name="adj" fmla="val 2273"/>
            </a:avLst>
          </a:prstGeom>
          <a:solidFill>
            <a:srgbClr val="1A2E44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NBU DataProtector for K8s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Agent Flex — DaemonSet natif OCP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1536192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536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automatique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47488" y="176479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dynamique namespaces + PVC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2048256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20482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direct DDBoost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47488" y="227685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optimisé sans staging disk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256032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2560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Déduplication côté DD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47488" y="278892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typique 20:1 à 40:1 pour OCP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3072384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30723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NBU centralisée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47488" y="330098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SLP, rétention, fréquence depuis console NBU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3584448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35844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granulaire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47488" y="381304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Namespace, PVC, objet K8s individuel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891B2">
              <a:alpha val="6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97316">
              <a:alpha val="7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3474720" y="54864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891B2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· RBAC · Audit · Zero Trust · Hardening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05a — Chiffrement des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1A2E44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en transit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91440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325880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25880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2588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TLS 1.3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353312" y="132588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connexions Master ↔ Media Server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1837944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837944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83794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TLS 1.3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353312" y="1837944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client OCP → Media Server (BPCD)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2350008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350008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35000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DDBoost SSL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353312" y="2350008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DDBoost over TLS vers DataDomain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2862072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2862072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286207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IPSec / MACsec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353312" y="286207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réplication AIR inter-AZ et inter-clusters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3374136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374136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337413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mTLS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353312" y="3374136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OpenSVC heartbeat et management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3886200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2920" y="3886200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388620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SSH / SCP chiffré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353312" y="388620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catalog nbcatsync avec authentification par certificat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46320" y="82296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1A2E44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93776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au repos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983480" y="1325880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20640" y="13258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20640" y="1554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images NBU sur le DataDomain (DD Encryption)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983480" y="1837944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20640" y="183794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120640" y="206654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KMS externe (HashiCorp Vault / Thales CipherTrust)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983480" y="2350008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20640" y="23500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120640" y="257860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automatique des clés tous les 90 jours — sans interruption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983480" y="2862072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20640" y="28620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 DataDomain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120640" y="309067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 Encryption activé sur tous les LSU DDBoost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983480" y="3374136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20640" y="33741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chiffré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120640" y="360273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Répertoire catalog NBU chiffré (LUKS2 AES-256) sur disque dédié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983480" y="3886200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1B2A"/>
          </a:solidFill>
          <a:ln w="6350">
            <a:solidFill>
              <a:srgbClr val="30303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20640" y="3886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de secours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120640" y="41148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key en HSM — procédure de break-glass documentée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05b — RBAC &amp; Contrôle d'accès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Matrice des rôles NBU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Rôle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207008"/>
            <a:ext cx="3657600" cy="329184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2070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Opérations autorisées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207008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2070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95160" y="1207008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2070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MFA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137160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1554480"/>
            <a:ext cx="365760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1554480"/>
            <a:ext cx="146304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554480"/>
            <a:ext cx="82296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5544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Security Admin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chiffrement, gestion clés KMS, audit global, all-access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0" y="15544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Global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95160" y="155448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Oui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057400"/>
            <a:ext cx="1371600" cy="438912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83080" y="2057400"/>
            <a:ext cx="3657600" cy="438912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2057400"/>
            <a:ext cx="1463040" cy="438912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2057400"/>
            <a:ext cx="822960" cy="438912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0574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NBU Admin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83080" y="20574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policies, SLP, catalogues, Storage Units, Media Servers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0" y="20574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Cluster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95160" y="205740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Oui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560320"/>
            <a:ext cx="137160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2560320"/>
            <a:ext cx="365760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2560320"/>
            <a:ext cx="146304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2560320"/>
            <a:ext cx="82296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5603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NBU Operator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83080" y="25603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jobs, monitoring, reporting — PAS de modification config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0" y="2560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Cluster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256032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Oui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063240"/>
            <a:ext cx="1371600" cy="438912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3063240"/>
            <a:ext cx="3657600" cy="438912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3063240"/>
            <a:ext cx="1463040" cy="438912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95160" y="3063240"/>
            <a:ext cx="822960" cy="438912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0632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OCP Backup SA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83080" y="3063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Backup/restore namespaces assignés uniquement (ServiceAccount)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86400" y="30632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Namespace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95160" y="306324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N/A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566160"/>
            <a:ext cx="137160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" y="3566160"/>
            <a:ext cx="365760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0" y="3566160"/>
            <a:ext cx="146304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95160" y="3566160"/>
            <a:ext cx="822960" cy="438912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566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Audit Read-Only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783080" y="3566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logs, rapports de conformité — lecture seule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86400" y="35661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Global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5160" y="356616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Non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380390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Mesures complémentaires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65760" y="4133088"/>
            <a:ext cx="4023360" cy="329184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1330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/ Active Directory — Authentification centralisée — SSO via SAML 2.0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517136"/>
            <a:ext cx="4023360" cy="329184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5171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obligatoire — Accès SSH Media Server et Master uniquement via Bastion PAM (CyberArk / Teleport)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4133088"/>
            <a:ext cx="4023360" cy="329184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41330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du moindre privilège — Service accounts dédiés par cluster OCP — pas de compte partagé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4517136"/>
            <a:ext cx="4023360" cy="329184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45171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— Expiration automatique 4h (GUI NBU) / 30 min (API tokens)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05c — Audit, Logs &amp; Conformité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Pipeline de collecte et d'analyse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A2E44"/>
          </a:solidFill>
          <a:ln w="889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161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NBU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bpdbm / nbpem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opcd / bprd logs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74520" y="1691640"/>
            <a:ext cx="2103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118872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A2E44"/>
          </a:solidFill>
          <a:ln w="889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2161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DataDomain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1536192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DDBoost audit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logs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93592" y="1691640"/>
            <a:ext cx="2103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03904" y="118872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A2E44"/>
          </a:solidFill>
          <a:ln w="889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12161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03904" y="1536192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audit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Velero events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12664" y="1691640"/>
            <a:ext cx="2103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22976" y="118872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A2E44"/>
          </a:solidFill>
          <a:ln w="889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22976" y="12161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OpenSVC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22976" y="1536192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events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logs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31736" y="1691640"/>
            <a:ext cx="2103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42048" y="118872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0891B2"/>
          </a:solidFill>
          <a:ln w="889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42048" y="12161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42048" y="1536192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/ Elastic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temps réel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Exigences d'audit et de conformité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88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2788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des logs d'audit : 13 mois (norme PCI-DSS / LPM)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209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09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320954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en écriture seule (WORM) : tamper-proof via DataDomain Retention Lock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6301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630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36301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des logs : checksum SHA-256 + signature HMAC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0507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50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" y="40507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SIEM : échec backup critique, accès non autorisé, anomalie de transfert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4714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471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" y="447141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conformité automatisé : hebdomadaire + à la demande (PDF signé)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1888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Standards adressés 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20240" y="475488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A2E44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0240" y="4754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ISO 27001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0" y="475488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A2E44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4754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PCI-DSS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94960" y="475488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A2E44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4754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LPM / NIS2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32320" y="475488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A2E44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4754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SOC 2 Type II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05d — Sécurité réseau &amp; Zero Trust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955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Segmentation réseau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762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Management NBU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017520" y="1188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10.0.100.0/24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↔ Media Servers — accès restreint Bastion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393192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65376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653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Backup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17520" y="18653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10.0.200.0/23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backup client → Media Server (10 GbE dédié)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393192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762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42032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42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DDBoost Replication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17520" y="2542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10.0.50.0/24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27980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Servers → DataDomain / AIR inter-AZ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218688"/>
            <a:ext cx="393192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18688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186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OCP Node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17520" y="32186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172.16.0.0/16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OpenShift — accès via NetworkPolicy K8s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895344"/>
            <a:ext cx="393192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762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95344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953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Out-of-Band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017520" y="38953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192.168.1.0/24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IPMI / iDRAC — isolé sans routage prod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795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Principes Zero Trust appliqués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188720"/>
            <a:ext cx="411480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126187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14538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connexion est authentifiée par certificat X.509 — pas de trust implicite intra-réseau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1865376"/>
            <a:ext cx="411480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193852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18653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74920" y="2130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Policies OCP isolant chaque namespace. FW applicatif entre AZ.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542032"/>
            <a:ext cx="411480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261518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542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access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74920" y="2807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 K8s avec permissions minimales. RBAC NBU granulaire.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218688"/>
            <a:ext cx="411480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36592" y="329184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3218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verification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74920" y="34838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re-vérifiées toutes les 4h. Révocation immédiate sur alerte SIEM.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895344"/>
            <a:ext cx="4114800" cy="585216"/>
          </a:xfrm>
          <a:prstGeom prst="roundRect">
            <a:avLst>
              <a:gd name="adj" fmla="val 10938"/>
            </a:avLst>
          </a:prstGeom>
          <a:solidFill>
            <a:srgbClr val="1A2E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36592" y="3968496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38953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breach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7492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automatique d'un cluster en cas de détection d'anomalie. Plan de confinement.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— RPO / RTO &amp; Objectifs de 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Catalog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Perte max données catalog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14600" y="8229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Données OCP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Perte max données applicatives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Master HA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Failover OpenSVC automatique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12280" y="8229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4h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1228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Restore Full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Restore workload complet OCP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Niveaux de service par tier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68580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3810">
            <a:solidFill>
              <a:srgbClr val="303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346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7280" y="2834640"/>
            <a:ext cx="178308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3810">
            <a:solidFill>
              <a:srgbClr val="303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Workload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0" y="2834640"/>
            <a:ext cx="196596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3810">
            <a:solidFill>
              <a:srgbClr val="3030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Fréquence backup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2834640"/>
            <a:ext cx="160020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3810">
            <a:solidFill>
              <a:srgbClr val="3030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834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Rétention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83680" y="2834640"/>
            <a:ext cx="150876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3810">
            <a:solidFill>
              <a:srgbClr val="3030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8346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SLA Restore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172968"/>
            <a:ext cx="68580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3172968"/>
            <a:ext cx="178308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0" y="3172968"/>
            <a:ext cx="196596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3172968"/>
            <a:ext cx="160020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3172968"/>
            <a:ext cx="150876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17296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GOLD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1729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ETCD, bases de données critiques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926080" y="31729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4h + Incr horaire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37760" y="31729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83680" y="31729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3593592"/>
            <a:ext cx="68580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593592"/>
            <a:ext cx="178308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3593592"/>
            <a:ext cx="196596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3593592"/>
            <a:ext cx="160020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0" y="3593592"/>
            <a:ext cx="150876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59359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SILVER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" y="3593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stateful OpenShift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926080" y="35935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Quotidien Full + Incr 6h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37760" y="35935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semaines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83680" y="359359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5760" y="4014216"/>
            <a:ext cx="68580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7280" y="4014216"/>
            <a:ext cx="178308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0" y="4014216"/>
            <a:ext cx="196596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37760" y="4014216"/>
            <a:ext cx="160020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0" y="4014216"/>
            <a:ext cx="1508760" cy="36576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014216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BRONZE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97280" y="4014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stateless / Dev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926080" y="401421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Quotidien Full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37760" y="401421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83680" y="4014216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8h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4434840"/>
            <a:ext cx="68580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7280" y="4434840"/>
            <a:ext cx="178308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26080" y="4434840"/>
            <a:ext cx="196596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4434840"/>
            <a:ext cx="160020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83680" y="4434840"/>
            <a:ext cx="150876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4348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ARCHIVE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97280" y="4434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926080" y="44348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Hebdo Full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937760" y="4434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ans (WORM)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583680" y="4434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effort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— Matrice des risques &amp; mitigations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977640" cy="274320"/>
          </a:xfrm>
          <a:prstGeom prst="rect">
            <a:avLst/>
          </a:prstGeom>
          <a:solidFill>
            <a:srgbClr val="EF4444">
              <a:alpha val="80000"/>
            </a:srgbClr>
          </a:solidFill>
          <a:ln w="3810">
            <a:solidFill>
              <a:srgbClr val="30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Risque identifié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0" y="804672"/>
            <a:ext cx="1097280" cy="274320"/>
          </a:xfrm>
          <a:prstGeom prst="rect">
            <a:avLst/>
          </a:prstGeom>
          <a:solidFill>
            <a:srgbClr val="EF4444">
              <a:alpha val="80000"/>
            </a:srgbClr>
          </a:solidFill>
          <a:ln w="3810">
            <a:solidFill>
              <a:srgbClr val="303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804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Impact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32120" y="804672"/>
            <a:ext cx="914400" cy="274320"/>
          </a:xfrm>
          <a:prstGeom prst="rect">
            <a:avLst/>
          </a:prstGeom>
          <a:solidFill>
            <a:srgbClr val="EF4444">
              <a:alpha val="80000"/>
            </a:srgbClr>
          </a:solidFill>
          <a:ln w="3810">
            <a:solidFill>
              <a:srgbClr val="30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04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Probabilité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92240" y="804672"/>
            <a:ext cx="2606040" cy="274320"/>
          </a:xfrm>
          <a:prstGeom prst="rect">
            <a:avLst/>
          </a:prstGeom>
          <a:solidFill>
            <a:srgbClr val="EF4444">
              <a:alpha val="80000"/>
            </a:srgbClr>
          </a:solidFill>
          <a:ln w="3810">
            <a:solidFill>
              <a:srgbClr val="30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Mitigation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115568"/>
            <a:ext cx="8732520" cy="45720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1170432"/>
            <a:ext cx="201168" cy="347472"/>
          </a:xfrm>
          <a:prstGeom prst="roundRect">
            <a:avLst>
              <a:gd name="adj" fmla="val 18182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115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simultanée des 2 AZ (sinistre majeur)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0" y="11155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CRITIQUE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2120" y="11155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FAIBLE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1115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NBU #2 (DRP) + réplication AIR inter-clusters + backup offline sur bande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1636776"/>
            <a:ext cx="873252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1691640"/>
            <a:ext cx="201168" cy="347472"/>
          </a:xfrm>
          <a:prstGeom prst="roundRect">
            <a:avLst>
              <a:gd name="adj" fmla="val 18182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16367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chiffrant les images NBU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0" y="16367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CRITIQUE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32120" y="16367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MOYENNE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16367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DataDomain Retention Lock + isolation réseau backup + air-gap bandes mensuelles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157984"/>
            <a:ext cx="8732520" cy="45720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2212848"/>
            <a:ext cx="201168" cy="347472"/>
          </a:xfrm>
          <a:prstGeom prst="roundRect">
            <a:avLst>
              <a:gd name="adj" fmla="val 18182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2157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du catalog NBU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89120" y="21579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ÉLEVÉ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32120" y="21579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FAIBLE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21579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catalog AZ-2 (lag &lt; 15 min) + nbcatutil recover + snapshot catalog quotidien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" y="2679192"/>
            <a:ext cx="873252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2734056"/>
            <a:ext cx="201168" cy="347472"/>
          </a:xfrm>
          <a:prstGeom prst="roundRect">
            <a:avLst>
              <a:gd name="adj" fmla="val 18182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2679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 compte NBU Admin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0" y="26791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ÉLEVÉ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32120" y="26791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FAIBLE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92240" y="2679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obligatoire + Bastion PAM + révocation immédiate + audit trail complet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3200400"/>
            <a:ext cx="8732520" cy="45720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" y="3255264"/>
            <a:ext cx="201168" cy="347472"/>
          </a:xfrm>
          <a:prstGeom prst="roundRect">
            <a:avLst>
              <a:gd name="adj" fmla="val 18182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Défaillance Media Server (panne hard)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891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MOYEN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3212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MOYENNE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922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Media Servers par AZ en load-balancing — failover automatique NBU sur pool restant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3721608"/>
            <a:ext cx="873252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" y="3776472"/>
            <a:ext cx="201168" cy="347472"/>
          </a:xfrm>
          <a:prstGeom prst="roundRect">
            <a:avLst>
              <a:gd name="adj" fmla="val 18182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37216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stockage DataDomain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389120" y="37216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MOYEN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32120" y="37216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MOYENNE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92240" y="37216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à 75% / 90% — déduplication DDBoost ratio 30:1 — archivage automatique WORM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65760" y="4242816"/>
            <a:ext cx="8732520" cy="457200"/>
          </a:xfrm>
          <a:prstGeom prst="rect">
            <a:avLst/>
          </a:prstGeom>
          <a:solidFill>
            <a:srgbClr val="1A2E44"/>
          </a:solidFill>
          <a:ln w="3810">
            <a:solidFill>
              <a:srgbClr val="1E2C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" y="4297680"/>
            <a:ext cx="201168" cy="347472"/>
          </a:xfrm>
          <a:prstGeom prst="roundRect">
            <a:avLst>
              <a:gd name="adj" fmla="val 18182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42428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clés chiffrement KMS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389120" y="4242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CRITIQUE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32120" y="42428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TRÈS FAIBLE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92240" y="42428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avec backup clés en coffre physique + procédure break-glass documentée et testée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0891B2">
              <a:alpha val="7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97316">
              <a:alpha val="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+ OpenSVC HA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&lt; 30s · RPO &lt; 1h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920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460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5786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TLS 1.3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+ RBAC MFA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5786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DDBoost dédupliq. 30:1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natif OCP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1920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A2E44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1228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25786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· Audit 13 mois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· NIS2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4930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Actions prioritaires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858768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58768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58768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J+0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50976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architecture avec équipes Infra, Sécu &amp; OCP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197096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9709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97096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J+15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50976" y="4197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Cluster NBU #1 AZ-1 + Media Servers + DDBoost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535424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535424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35424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J+30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50976" y="45354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OpenSVC HA + test bascule AZ-1 → AZ-2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3858768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858768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858768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J+45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85816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OADP/Velero + NBU DataProtector sur OCP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4197096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19709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97096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J+60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85816" y="4197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Cluster NBU #2 DRP + test DR complet documenté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NBU Multi-AZ — Sécurité &amp; Résilience</dc:title>
  <dc:subject>PptxGenJS Presentation</dc:subject>
  <dc:creator>Infrastructure &amp; Sécurité</dc:creator>
  <cp:lastModifiedBy>Infrastructure &amp; Sécurité</cp:lastModifiedBy>
  <cp:revision>1</cp:revision>
  <dcterms:created xsi:type="dcterms:W3CDTF">2026-06-10T19:04:50Z</dcterms:created>
  <dcterms:modified xsi:type="dcterms:W3CDTF">2026-06-10T19:04:50Z</dcterms:modified>
</cp:coreProperties>
</file>