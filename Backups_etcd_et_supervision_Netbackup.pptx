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 — etcd contient tout l'état du plan de contrôle. Les éléments OBLIGATOIRES à protéger sont le snapshot complet du keyspace, les secrets et tokens de ServiceAccount, le RBAC, la PKI/CA et les clés de chiffrement etcd — sans eux, une restauration ne peut ni reconstruire ni déchiffrer le cluster. NetBackup for Kubernetes capture un snapshot applicatif cohérent, le déduplique et le chiffre dans MSDP, puis expédie une copie immuable air-gapped. Cette chaîne répond à DORA : RTO/RPO testés, inscription au registre de continuité et rétention immuable auditable.
EN — etcd holds the entire control-plane state. The mandatory items to protect are the full keyspace snapshot, the secrets and ServiceAccount tokens, RBAC, the PKI/CA and the etcd encryption keys — without these a restore cannot rebuild or decrypt the cluster. NetBackup for Kubernetes captures an application-consistent snapshot, dedupes and encrypts it into MSDP, then ships an immutable air-gapped copy. That chain is what satisfies DORA: tested RTO/RPO, an entry in the continuity register, and auditable immutable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 — Ni DORA ni NIST ne fixent un chiffre unique : ils lient la fréquence de sauvegarde au RPO et à la criticité métier. Pour le plan de contrôle, cela signifie des snapshots etcd fréquents (toutes les 15 à 30 minutes pour les clusters critiques) ; les données applicatives et de namespace suivent une cadence horaire à quotidienne selon le tier. La rétention opérationnelle est par paliers : quotidiennes 30 jours, hebdomadaires 12 semaines, mensuelles 12 mois, ce qui couvre la reprise courante et les tests de restauration. Si la réglementation l'exige, une copie immuable WORM air-gapped est conservée à long terme — jusqu'à sept ans pour le secteur financier sous DORA — comme preuve d'audit anti-ransomware.
EN — Neither DORA nor NIST fixes a single number — they tie backup frequency to the recovery point objective and business criticality. For the control-plane that means frequent etcd snapshots (every 15 to 30 minutes for critical clusters); application and namespace data follows an hourly-to-daily cadence by tier. Operational retention is tiered: dailies for 30 days, weeklies for 12 weeks, monthlies for 12 months, which covers everyday recovery and restore testing. Where regulation requires it, a WORM-locked, air-gapped immutable copy is kept long-term — up to seven years for the financial sector under DORA — as ransomware-proof audit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 — Le collecteur s'authentifie auprès du serveur NetBackup Primary via POST /netbackup/login pour obtenir un JWT, puis interroge GET /admin/jobs filtré sur les politiques de backup Kubernetes. Pour chaque job il lit GET /admin/jobs/{jobId} (statut, code de sortie, durée, octets) et récupère GET /admin/jobs/{jobId}/try-logs pour exposer le texte d'erreur en cas d'échec. Ces données deviennent des métriques Prometheus ; Prometheus évalue les règles d'alerte et Grafana affiche le dashboard, tandis qu'Alertmanager pousse les échecs vers Slack et PagerDuty. En parallèle, le collecteur expédie la liste des fichiers vers Elasticsearch / Kibana.
EN — The job collector authenticates to the NetBackup Primary Server with POST /netbackup/login to get a JWT, then polls GET /admin/jobs filtered to Kubernetes backup policies. For each job it reads GET /admin/jobs/{jobId} for the status, exit code, duration and bytes, and pulls GET /admin/jobs/{jobId}/try-logs to surface the error text on failures. Those become Prometheus metrics; Prometheus evaluates alert rules and Grafana renders the dashboard while Alertmanager pushes failures to Slack and PagerDuty. In parallel, the collector ships the file list to Elasticsearch / Kibana.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 — En complément des métriques de jobs Grafana, le catalogue au niveau fichier de chaque job NetBackup est expédié — via Logstash ou Beats — dans Elasticsearch et consulté dans Kibana Discover. Cela donne une visibilité complète sur les fichiers réellement protégés : snapshot etcd et WAL, certificats PKI et CA, secrets scellés, ConfigMaps et images de volumes persistants, avec leur namespace, taille et job d'origine. Un fichier en échec apparaît immédiatement et peut être recherché et filtré, en complément de l'alerting au niveau métrique.
EN — Alongside the Grafana job metrics, the file-level catalog from each NetBackup job is shipped — via Logstash or Beats — into Elasticsearch and browsed in Kibana Discover. This gives full visibility of exactly which files were protected: the etcd snapshot and WAL, the PKI and CA certificates, sealed secrets, ConfigMaps and the persistent-volume images, with their namespace, size and originating job. A failed file shows up immediately and can be searched and filtered, complementing the metric-level alerting.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 — Protéger un namespace est une boucle d'API en quatre étapes sur le serveur NetBackup Primary. Découvrir : lister les clusters enregistrés, déclencher une requête de découverte, relire les assets namespace. Sauvegarder : abonner le namespace à un plan de protection, lancer un backup manuel, suivre le job. Restaurer : trouver les points de récupération, lancer le scénario de recovery, confirmer le job. Superviser : suivre les jobs via /admin/jobs et /try-logs, les échecs étant alertés dans Grafana. Chaque étape utilise la même API REST et le même JWT que la supervision, donc s'automatise proprement en pipeline.
EN — Protecting a namespace is a four-step API loop against the NetBackup Primary Server. Discover: list the registered clusters, trigger a discovery query, and read back the namespace assets. Back up: subscribe the namespace to a protection plan, start a manual backup, and track the job. Restore: find the recovery points, launch the recovery scenario, and confirm the job. Monitor: track the jobs via /admin/jobs and /try-logs, with failures alerted in Grafana. Every step is the same REST API and JWT used for supervision, so it automates cleanly into 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762000" y="571500"/>
            <a:ext cx="10896600" cy="223838"/>
          </a:xfrm>
          <a:prstGeom prst="rect">
            <a:avLst/>
          </a:prstGeom>
          <a:noFill/>
          <a:ln/>
        </p:spPr>
        <p:txBody>
          <a:bodyPr wrap="square" lIns="25400" tIns="25400" rIns="25400" bIns="25400" rtlCol="0" anchor="t">
            <a:normAutofit/>
          </a:bodyPr>
          <a:lstStyle/>
          <a:p>
            <a:pPr algn="l" indent="0" marL="0">
              <a:buNone/>
            </a:pPr>
            <a:r>
              <a:rPr lang="en-US" sz="1125" spc="247" kern="0" dirty="0">
                <a:solidFill>
                  <a:srgbClr val="2B5FC7"/>
                </a:solidFill>
                <a:latin typeface="Courier New" pitchFamily="34" charset="0"/>
                <a:ea typeface="Courier New" pitchFamily="34" charset="-122"/>
                <a:cs typeface="Courier New" pitchFamily="34" charset="-120"/>
              </a:rPr>
              <a:t>01 — BACKUP &amp; RECOVERY</a:t>
            </a:r>
            <a:endParaRPr lang="en-US" sz="1125" dirty="0"/>
          </a:p>
        </p:txBody>
      </p:sp>
      <p:sp>
        <p:nvSpPr>
          <p:cNvPr id="3" name="Text 1"/>
          <p:cNvSpPr/>
          <p:nvPr/>
        </p:nvSpPr>
        <p:spPr>
          <a:xfrm>
            <a:off x="762000" y="890588"/>
            <a:ext cx="10896600" cy="498128"/>
          </a:xfrm>
          <a:prstGeom prst="rect">
            <a:avLst/>
          </a:prstGeom>
          <a:noFill/>
          <a:ln/>
        </p:spPr>
        <p:txBody>
          <a:bodyPr wrap="square" lIns="25400" tIns="25400" rIns="25400" bIns="25400" rtlCol="0" anchor="t">
            <a:normAutofit/>
          </a:bodyPr>
          <a:lstStyle/>
          <a:p>
            <a:pPr algn="l" indent="0" marL="0">
              <a:lnSpc>
                <a:spcPct val="105000"/>
              </a:lnSpc>
              <a:buNone/>
            </a:pPr>
            <a:r>
              <a:rPr lang="en-US" sz="3450" b="1" spc="-69" kern="0" dirty="0">
                <a:solidFill>
                  <a:srgbClr val="18181B"/>
                </a:solidFill>
                <a:latin typeface="Arial" pitchFamily="34" charset="0"/>
                <a:ea typeface="Arial" pitchFamily="34" charset="-122"/>
                <a:cs typeface="Arial" pitchFamily="34" charset="-120"/>
              </a:rPr>
              <a:t>Protecting etcd with NetBackup for Kubernetes</a:t>
            </a:r>
            <a:endParaRPr lang="en-US" sz="3450" dirty="0"/>
          </a:p>
        </p:txBody>
      </p:sp>
      <p:sp>
        <p:nvSpPr>
          <p:cNvPr id="4" name="Text 2"/>
          <p:cNvSpPr/>
          <p:nvPr/>
        </p:nvSpPr>
        <p:spPr>
          <a:xfrm>
            <a:off x="762000" y="1483965"/>
            <a:ext cx="10203180" cy="595313"/>
          </a:xfrm>
          <a:prstGeom prst="rect">
            <a:avLst/>
          </a:prstGeom>
          <a:noFill/>
          <a:ln/>
        </p:spPr>
        <p:txBody>
          <a:bodyPr wrap="square" lIns="25400" tIns="25400" rIns="25400" bIns="25400" rtlCol="0" anchor="t">
            <a:normAutofit/>
          </a:bodyPr>
          <a:lstStyle/>
          <a:p>
            <a:pPr algn="l" indent="0" marL="0">
              <a:lnSpc>
                <a:spcPct val="150000"/>
              </a:lnSpc>
              <a:buNone/>
            </a:pPr>
            <a:r>
              <a:rPr lang="en-US" sz="1463" dirty="0">
                <a:solidFill>
                  <a:srgbClr val="52525B"/>
                </a:solidFill>
                <a:latin typeface="Arial" pitchFamily="34" charset="0"/>
                <a:ea typeface="Arial" pitchFamily="34" charset="-122"/>
                <a:cs typeface="Arial" pitchFamily="34" charset="-120"/>
              </a:rPr>
              <a:t>etcd is the single source of truth for the cluster — its mandatory state is captured, deduplicated and stored immutably, meeting DORA resilience and continuity obligations.</a:t>
            </a:r>
            <a:endParaRPr lang="en-US" sz="1463" dirty="0"/>
          </a:p>
        </p:txBody>
      </p:sp>
      <p:sp>
        <p:nvSpPr>
          <p:cNvPr id="5" name="Shape 3"/>
          <p:cNvSpPr/>
          <p:nvPr/>
        </p:nvSpPr>
        <p:spPr>
          <a:xfrm>
            <a:off x="762000" y="2365028"/>
            <a:ext cx="3805237" cy="1443484"/>
          </a:xfrm>
          <a:prstGeom prst="roundRect">
            <a:avLst>
              <a:gd name="adj" fmla="val 9238"/>
            </a:avLst>
          </a:prstGeom>
          <a:solidFill>
            <a:srgbClr val="FFFFFF"/>
          </a:solidFill>
          <a:ln w="9525">
            <a:solidFill>
              <a:srgbClr val="E7E6DF"/>
            </a:solidFill>
            <a:prstDash val="solid"/>
          </a:ln>
          <a:effectLst>
            <a:outerShdw sx="100000" sy="100000" kx="0" ky="0" algn="bl" rotWithShape="0" blurRad="19050" dist="9525" dir="5400000">
              <a:srgbClr val="141414">
                <a:alpha val="4000"/>
              </a:srgbClr>
            </a:outerShdw>
          </a:effectLst>
        </p:spPr>
      </p:sp>
      <p:sp>
        <p:nvSpPr>
          <p:cNvPr id="6" name="Shape 4"/>
          <p:cNvSpPr/>
          <p:nvPr/>
        </p:nvSpPr>
        <p:spPr>
          <a:xfrm>
            <a:off x="981075" y="2565053"/>
            <a:ext cx="285750" cy="285750"/>
          </a:xfrm>
          <a:prstGeom prst="roundRect">
            <a:avLst>
              <a:gd name="adj" fmla="val 26667"/>
            </a:avLst>
          </a:prstGeom>
          <a:solidFill>
            <a:srgbClr val="EAF0FB"/>
          </a:solidFill>
          <a:ln/>
        </p:spPr>
      </p:sp>
      <p:sp>
        <p:nvSpPr>
          <p:cNvPr id="7" name="Text 5"/>
          <p:cNvSpPr/>
          <p:nvPr/>
        </p:nvSpPr>
        <p:spPr>
          <a:xfrm>
            <a:off x="942975" y="2565053"/>
            <a:ext cx="361950" cy="323850"/>
          </a:xfrm>
          <a:prstGeom prst="rect">
            <a:avLst/>
          </a:prstGeom>
          <a:noFill/>
          <a:ln/>
        </p:spPr>
        <p:txBody>
          <a:bodyPr wrap="square" lIns="25400" tIns="25400" rIns="25400" bIns="25400" rtlCol="0" anchor="ctr">
            <a:normAutofit/>
          </a:bodyPr>
          <a:lstStyle/>
          <a:p>
            <a:pPr algn="ctr" indent="0" marL="0">
              <a:buNone/>
            </a:pPr>
            <a:r>
              <a:rPr lang="en-US" sz="1050" dirty="0">
                <a:solidFill>
                  <a:srgbClr val="2B5FC7"/>
                </a:solidFill>
                <a:latin typeface="Courier New" pitchFamily="34" charset="0"/>
                <a:ea typeface="Courier New" pitchFamily="34" charset="-122"/>
                <a:cs typeface="Courier New" pitchFamily="34" charset="-120"/>
              </a:rPr>
              <a:t>01</a:t>
            </a:r>
            <a:endParaRPr lang="en-US" sz="1050" dirty="0"/>
          </a:p>
        </p:txBody>
      </p:sp>
      <p:sp>
        <p:nvSpPr>
          <p:cNvPr id="8" name="Text 6"/>
          <p:cNvSpPr/>
          <p:nvPr/>
        </p:nvSpPr>
        <p:spPr>
          <a:xfrm>
            <a:off x="1362075" y="2638871"/>
            <a:ext cx="541437" cy="176212"/>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9A9A93"/>
                </a:solidFill>
                <a:latin typeface="Courier New" pitchFamily="34" charset="0"/>
                <a:ea typeface="Courier New" pitchFamily="34" charset="-122"/>
                <a:cs typeface="Courier New" pitchFamily="34" charset="-120"/>
              </a:rPr>
              <a:t>SOURCE</a:t>
            </a:r>
            <a:endParaRPr lang="en-US" sz="825" dirty="0"/>
          </a:p>
        </p:txBody>
      </p:sp>
      <p:sp>
        <p:nvSpPr>
          <p:cNvPr id="9" name="Text 7"/>
          <p:cNvSpPr/>
          <p:nvPr/>
        </p:nvSpPr>
        <p:spPr>
          <a:xfrm>
            <a:off x="981075" y="2955578"/>
            <a:ext cx="3703796" cy="242888"/>
          </a:xfrm>
          <a:prstGeom prst="rect">
            <a:avLst/>
          </a:prstGeom>
          <a:noFill/>
          <a:ln/>
        </p:spPr>
        <p:txBody>
          <a:bodyPr wrap="square" lIns="25400" tIns="25400" rIns="25400" bIns="25400" rtlCol="0" anchor="t">
            <a:normAutofit/>
          </a:bodyPr>
          <a:lstStyle/>
          <a:p>
            <a:pPr algn="l" indent="0" marL="0">
              <a:buNone/>
            </a:pPr>
            <a:r>
              <a:rPr lang="en-US" sz="1500" b="1" dirty="0">
                <a:solidFill>
                  <a:srgbClr val="18181B"/>
                </a:solidFill>
                <a:latin typeface="Arial" pitchFamily="34" charset="0"/>
                <a:ea typeface="Arial" pitchFamily="34" charset="-122"/>
                <a:cs typeface="Arial" pitchFamily="34" charset="-120"/>
              </a:rPr>
              <a:t>Kubernetes Cluster</a:t>
            </a:r>
            <a:endParaRPr lang="en-US" sz="1500" dirty="0"/>
          </a:p>
        </p:txBody>
      </p:sp>
      <p:sp>
        <p:nvSpPr>
          <p:cNvPr id="10" name="Text 8"/>
          <p:cNvSpPr/>
          <p:nvPr/>
        </p:nvSpPr>
        <p:spPr>
          <a:xfrm>
            <a:off x="981075" y="3207990"/>
            <a:ext cx="3703796" cy="238348"/>
          </a:xfrm>
          <a:prstGeom prst="rect">
            <a:avLst/>
          </a:prstGeom>
          <a:noFill/>
          <a:ln/>
        </p:spPr>
        <p:txBody>
          <a:bodyPr wrap="square" lIns="25400" tIns="25400" rIns="25400" bIns="25400" rtlCol="0" anchor="t">
            <a:normAutofit/>
          </a:bodyPr>
          <a:lstStyle/>
          <a:p>
            <a:pPr algn="l" indent="0" marL="0">
              <a:lnSpc>
                <a:spcPct val="145000"/>
              </a:lnSpc>
              <a:buNone/>
            </a:pPr>
            <a:r>
              <a:rPr lang="en-US" sz="1088" dirty="0">
                <a:solidFill>
                  <a:srgbClr val="71717A"/>
                </a:solidFill>
                <a:latin typeface="Arial" pitchFamily="34" charset="0"/>
                <a:ea typeface="Arial" pitchFamily="34" charset="-122"/>
                <a:cs typeface="Arial" pitchFamily="34" charset="-120"/>
              </a:rPr>
              <a:t>etcd holds all cluster state &amp; desired configuration.</a:t>
            </a:r>
            <a:endParaRPr lang="en-US" sz="1088" dirty="0"/>
          </a:p>
        </p:txBody>
      </p:sp>
      <p:sp>
        <p:nvSpPr>
          <p:cNvPr id="11" name="Shape 9"/>
          <p:cNvSpPr/>
          <p:nvPr/>
        </p:nvSpPr>
        <p:spPr>
          <a:xfrm>
            <a:off x="4700588" y="3077245"/>
            <a:ext cx="247650" cy="19050"/>
          </a:xfrm>
          <a:prstGeom prst="rect">
            <a:avLst/>
          </a:prstGeom>
          <a:solidFill>
            <a:srgbClr val="C9C8C0"/>
          </a:solidFill>
          <a:ln/>
        </p:spPr>
      </p:sp>
      <p:sp>
        <p:nvSpPr>
          <p:cNvPr id="12" name="Shape 10"/>
          <p:cNvSpPr/>
          <p:nvPr/>
        </p:nvSpPr>
        <p:spPr>
          <a:xfrm>
            <a:off x="4872038" y="3039145"/>
            <a:ext cx="85725" cy="95250"/>
          </a:xfrm>
          <a:prstGeom prst="rect">
            <a:avLst/>
          </a:prstGeom>
          <a:solidFill>
            <a:srgbClr val="C9C8C0"/>
          </a:solidFill>
          <a:ln/>
        </p:spPr>
      </p:sp>
      <p:sp>
        <p:nvSpPr>
          <p:cNvPr id="13" name="Shape 11"/>
          <p:cNvSpPr/>
          <p:nvPr/>
        </p:nvSpPr>
        <p:spPr>
          <a:xfrm>
            <a:off x="5081588" y="2365028"/>
            <a:ext cx="3805237" cy="1443484"/>
          </a:xfrm>
          <a:prstGeom prst="roundRect">
            <a:avLst>
              <a:gd name="adj" fmla="val 9238"/>
            </a:avLst>
          </a:prstGeom>
          <a:solidFill>
            <a:srgbClr val="FFFFFF"/>
          </a:solidFill>
          <a:ln w="9525">
            <a:solidFill>
              <a:srgbClr val="E7E6DF"/>
            </a:solidFill>
            <a:prstDash val="solid"/>
          </a:ln>
          <a:effectLst>
            <a:outerShdw sx="100000" sy="100000" kx="0" ky="0" algn="bl" rotWithShape="0" blurRad="19050" dist="9525" dir="5400000">
              <a:srgbClr val="141414">
                <a:alpha val="4000"/>
              </a:srgbClr>
            </a:outerShdw>
          </a:effectLst>
        </p:spPr>
      </p:sp>
      <p:sp>
        <p:nvSpPr>
          <p:cNvPr id="14" name="Shape 12"/>
          <p:cNvSpPr/>
          <p:nvPr/>
        </p:nvSpPr>
        <p:spPr>
          <a:xfrm>
            <a:off x="5300663" y="2565053"/>
            <a:ext cx="285750" cy="285750"/>
          </a:xfrm>
          <a:prstGeom prst="roundRect">
            <a:avLst>
              <a:gd name="adj" fmla="val 26667"/>
            </a:avLst>
          </a:prstGeom>
          <a:solidFill>
            <a:srgbClr val="EAF0FB"/>
          </a:solidFill>
          <a:ln/>
        </p:spPr>
      </p:sp>
      <p:sp>
        <p:nvSpPr>
          <p:cNvPr id="15" name="Text 13"/>
          <p:cNvSpPr/>
          <p:nvPr/>
        </p:nvSpPr>
        <p:spPr>
          <a:xfrm>
            <a:off x="5262563" y="2565053"/>
            <a:ext cx="361950" cy="323850"/>
          </a:xfrm>
          <a:prstGeom prst="rect">
            <a:avLst/>
          </a:prstGeom>
          <a:noFill/>
          <a:ln/>
        </p:spPr>
        <p:txBody>
          <a:bodyPr wrap="square" lIns="25400" tIns="25400" rIns="25400" bIns="25400" rtlCol="0" anchor="ctr">
            <a:normAutofit/>
          </a:bodyPr>
          <a:lstStyle/>
          <a:p>
            <a:pPr algn="ctr" indent="0" marL="0">
              <a:buNone/>
            </a:pPr>
            <a:r>
              <a:rPr lang="en-US" sz="1050" dirty="0">
                <a:solidFill>
                  <a:srgbClr val="2B5FC7"/>
                </a:solidFill>
                <a:latin typeface="Courier New" pitchFamily="34" charset="0"/>
                <a:ea typeface="Courier New" pitchFamily="34" charset="-122"/>
                <a:cs typeface="Courier New" pitchFamily="34" charset="-120"/>
              </a:rPr>
              <a:t>02</a:t>
            </a:r>
            <a:endParaRPr lang="en-US" sz="1050" dirty="0"/>
          </a:p>
        </p:txBody>
      </p:sp>
      <p:sp>
        <p:nvSpPr>
          <p:cNvPr id="16" name="Text 14"/>
          <p:cNvSpPr/>
          <p:nvPr/>
        </p:nvSpPr>
        <p:spPr>
          <a:xfrm>
            <a:off x="5681663" y="2638871"/>
            <a:ext cx="618976" cy="176212"/>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9A9A93"/>
                </a:solidFill>
                <a:latin typeface="Courier New" pitchFamily="34" charset="0"/>
                <a:ea typeface="Courier New" pitchFamily="34" charset="-122"/>
                <a:cs typeface="Courier New" pitchFamily="34" charset="-120"/>
              </a:rPr>
              <a:t>CAPTURE</a:t>
            </a:r>
            <a:endParaRPr lang="en-US" sz="825" dirty="0"/>
          </a:p>
        </p:txBody>
      </p:sp>
      <p:sp>
        <p:nvSpPr>
          <p:cNvPr id="17" name="Text 15"/>
          <p:cNvSpPr/>
          <p:nvPr/>
        </p:nvSpPr>
        <p:spPr>
          <a:xfrm>
            <a:off x="5300663" y="2955578"/>
            <a:ext cx="3703796" cy="242888"/>
          </a:xfrm>
          <a:prstGeom prst="rect">
            <a:avLst/>
          </a:prstGeom>
          <a:noFill/>
          <a:ln/>
        </p:spPr>
        <p:txBody>
          <a:bodyPr wrap="square" lIns="25400" tIns="25400" rIns="25400" bIns="25400" rtlCol="0" anchor="t">
            <a:normAutofit/>
          </a:bodyPr>
          <a:lstStyle/>
          <a:p>
            <a:pPr algn="l" indent="0" marL="0">
              <a:buNone/>
            </a:pPr>
            <a:r>
              <a:rPr lang="en-US" sz="1500" b="1" dirty="0">
                <a:solidFill>
                  <a:srgbClr val="18181B"/>
                </a:solidFill>
                <a:latin typeface="Arial" pitchFamily="34" charset="0"/>
                <a:ea typeface="Arial" pitchFamily="34" charset="-122"/>
                <a:cs typeface="Arial" pitchFamily="34" charset="-120"/>
              </a:rPr>
              <a:t>NetBackup for K8s</a:t>
            </a:r>
            <a:endParaRPr lang="en-US" sz="1500" dirty="0"/>
          </a:p>
        </p:txBody>
      </p:sp>
      <p:sp>
        <p:nvSpPr>
          <p:cNvPr id="18" name="Text 16"/>
          <p:cNvSpPr/>
          <p:nvPr/>
        </p:nvSpPr>
        <p:spPr>
          <a:xfrm>
            <a:off x="5300663" y="3207990"/>
            <a:ext cx="3468100" cy="438596"/>
          </a:xfrm>
          <a:prstGeom prst="rect">
            <a:avLst/>
          </a:prstGeom>
          <a:noFill/>
          <a:ln/>
        </p:spPr>
        <p:txBody>
          <a:bodyPr wrap="square" lIns="25400" tIns="25400" rIns="25400" bIns="25400" rtlCol="0" anchor="t">
            <a:normAutofit/>
          </a:bodyPr>
          <a:lstStyle/>
          <a:p>
            <a:pPr algn="l" indent="0" marL="0">
              <a:lnSpc>
                <a:spcPct val="145000"/>
              </a:lnSpc>
              <a:buNone/>
            </a:pPr>
            <a:r>
              <a:rPr lang="en-US" sz="1088" dirty="0">
                <a:solidFill>
                  <a:srgbClr val="71717A"/>
                </a:solidFill>
                <a:latin typeface="Arial" pitchFamily="34" charset="0"/>
                <a:ea typeface="Arial" pitchFamily="34" charset="-122"/>
                <a:cs typeface="Arial" pitchFamily="34" charset="-120"/>
              </a:rPr>
              <a:t>Policy-driven, application-consistent snapshot via data mover.</a:t>
            </a:r>
            <a:endParaRPr lang="en-US" sz="1088" dirty="0"/>
          </a:p>
        </p:txBody>
      </p:sp>
      <p:sp>
        <p:nvSpPr>
          <p:cNvPr id="19" name="Shape 17"/>
          <p:cNvSpPr/>
          <p:nvPr/>
        </p:nvSpPr>
        <p:spPr>
          <a:xfrm>
            <a:off x="9020175" y="3077245"/>
            <a:ext cx="247650" cy="19050"/>
          </a:xfrm>
          <a:prstGeom prst="rect">
            <a:avLst/>
          </a:prstGeom>
          <a:solidFill>
            <a:srgbClr val="C9C8C0"/>
          </a:solidFill>
          <a:ln/>
        </p:spPr>
      </p:sp>
      <p:sp>
        <p:nvSpPr>
          <p:cNvPr id="20" name="Shape 18"/>
          <p:cNvSpPr/>
          <p:nvPr/>
        </p:nvSpPr>
        <p:spPr>
          <a:xfrm>
            <a:off x="9191625" y="3039145"/>
            <a:ext cx="85725" cy="95250"/>
          </a:xfrm>
          <a:prstGeom prst="rect">
            <a:avLst/>
          </a:prstGeom>
          <a:solidFill>
            <a:srgbClr val="C9C8C0"/>
          </a:solidFill>
          <a:ln/>
        </p:spPr>
      </p:sp>
      <p:sp>
        <p:nvSpPr>
          <p:cNvPr id="21" name="Shape 19"/>
          <p:cNvSpPr/>
          <p:nvPr/>
        </p:nvSpPr>
        <p:spPr>
          <a:xfrm>
            <a:off x="9401175" y="2365028"/>
            <a:ext cx="3805237" cy="1443484"/>
          </a:xfrm>
          <a:prstGeom prst="roundRect">
            <a:avLst>
              <a:gd name="adj" fmla="val 9238"/>
            </a:avLst>
          </a:prstGeom>
          <a:solidFill>
            <a:srgbClr val="FFFFFF"/>
          </a:solidFill>
          <a:ln w="9525">
            <a:solidFill>
              <a:srgbClr val="E7E6DF"/>
            </a:solidFill>
            <a:prstDash val="solid"/>
          </a:ln>
          <a:effectLst>
            <a:outerShdw sx="100000" sy="100000" kx="0" ky="0" algn="bl" rotWithShape="0" blurRad="19050" dist="9525" dir="5400000">
              <a:srgbClr val="141414">
                <a:alpha val="4000"/>
              </a:srgbClr>
            </a:outerShdw>
          </a:effectLst>
        </p:spPr>
      </p:sp>
      <p:sp>
        <p:nvSpPr>
          <p:cNvPr id="22" name="Shape 20"/>
          <p:cNvSpPr/>
          <p:nvPr/>
        </p:nvSpPr>
        <p:spPr>
          <a:xfrm>
            <a:off x="9620250" y="2565053"/>
            <a:ext cx="285750" cy="285750"/>
          </a:xfrm>
          <a:prstGeom prst="roundRect">
            <a:avLst>
              <a:gd name="adj" fmla="val 26667"/>
            </a:avLst>
          </a:prstGeom>
          <a:solidFill>
            <a:srgbClr val="EAF0FB"/>
          </a:solidFill>
          <a:ln/>
        </p:spPr>
      </p:sp>
      <p:sp>
        <p:nvSpPr>
          <p:cNvPr id="23" name="Text 21"/>
          <p:cNvSpPr/>
          <p:nvPr/>
        </p:nvSpPr>
        <p:spPr>
          <a:xfrm>
            <a:off x="9582150" y="2565053"/>
            <a:ext cx="361950" cy="323850"/>
          </a:xfrm>
          <a:prstGeom prst="rect">
            <a:avLst/>
          </a:prstGeom>
          <a:noFill/>
          <a:ln/>
        </p:spPr>
        <p:txBody>
          <a:bodyPr wrap="square" lIns="25400" tIns="25400" rIns="25400" bIns="25400" rtlCol="0" anchor="ctr">
            <a:normAutofit/>
          </a:bodyPr>
          <a:lstStyle/>
          <a:p>
            <a:pPr algn="ctr" indent="0" marL="0">
              <a:buNone/>
            </a:pPr>
            <a:r>
              <a:rPr lang="en-US" sz="1050" dirty="0">
                <a:solidFill>
                  <a:srgbClr val="2B5FC7"/>
                </a:solidFill>
                <a:latin typeface="Courier New" pitchFamily="34" charset="0"/>
                <a:ea typeface="Courier New" pitchFamily="34" charset="-122"/>
                <a:cs typeface="Courier New" pitchFamily="34" charset="-120"/>
              </a:rPr>
              <a:t>03</a:t>
            </a:r>
            <a:endParaRPr lang="en-US" sz="1050" dirty="0"/>
          </a:p>
        </p:txBody>
      </p:sp>
      <p:sp>
        <p:nvSpPr>
          <p:cNvPr id="24" name="Text 22"/>
          <p:cNvSpPr/>
          <p:nvPr/>
        </p:nvSpPr>
        <p:spPr>
          <a:xfrm>
            <a:off x="10001250" y="2638871"/>
            <a:ext cx="463897" cy="176212"/>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9A9A93"/>
                </a:solidFill>
                <a:latin typeface="Courier New" pitchFamily="34" charset="0"/>
                <a:ea typeface="Courier New" pitchFamily="34" charset="-122"/>
                <a:cs typeface="Courier New" pitchFamily="34" charset="-120"/>
              </a:rPr>
              <a:t>STORE</a:t>
            </a:r>
            <a:endParaRPr lang="en-US" sz="825" dirty="0"/>
          </a:p>
        </p:txBody>
      </p:sp>
      <p:sp>
        <p:nvSpPr>
          <p:cNvPr id="25" name="Text 23"/>
          <p:cNvSpPr/>
          <p:nvPr/>
        </p:nvSpPr>
        <p:spPr>
          <a:xfrm>
            <a:off x="9620250" y="2955578"/>
            <a:ext cx="3703796" cy="242888"/>
          </a:xfrm>
          <a:prstGeom prst="rect">
            <a:avLst/>
          </a:prstGeom>
          <a:noFill/>
          <a:ln/>
        </p:spPr>
        <p:txBody>
          <a:bodyPr wrap="square" lIns="25400" tIns="25400" rIns="25400" bIns="25400" rtlCol="0" anchor="t">
            <a:normAutofit/>
          </a:bodyPr>
          <a:lstStyle/>
          <a:p>
            <a:pPr algn="l" indent="0" marL="0">
              <a:buNone/>
            </a:pPr>
            <a:r>
              <a:rPr lang="en-US" sz="1500" b="1" dirty="0">
                <a:solidFill>
                  <a:srgbClr val="18181B"/>
                </a:solidFill>
                <a:latin typeface="Arial" pitchFamily="34" charset="0"/>
                <a:ea typeface="Arial" pitchFamily="34" charset="-122"/>
                <a:cs typeface="Arial" pitchFamily="34" charset="-120"/>
              </a:rPr>
              <a:t>MSDP Storage Pool</a:t>
            </a:r>
            <a:endParaRPr lang="en-US" sz="1500" dirty="0"/>
          </a:p>
        </p:txBody>
      </p:sp>
      <p:sp>
        <p:nvSpPr>
          <p:cNvPr id="26" name="Text 24"/>
          <p:cNvSpPr/>
          <p:nvPr/>
        </p:nvSpPr>
        <p:spPr>
          <a:xfrm>
            <a:off x="9620250" y="3207990"/>
            <a:ext cx="3468100" cy="438596"/>
          </a:xfrm>
          <a:prstGeom prst="rect">
            <a:avLst/>
          </a:prstGeom>
          <a:noFill/>
          <a:ln/>
        </p:spPr>
        <p:txBody>
          <a:bodyPr wrap="square" lIns="25400" tIns="25400" rIns="25400" bIns="25400" rtlCol="0" anchor="t">
            <a:normAutofit/>
          </a:bodyPr>
          <a:lstStyle/>
          <a:p>
            <a:pPr algn="l" indent="0" marL="0">
              <a:lnSpc>
                <a:spcPct val="145000"/>
              </a:lnSpc>
              <a:buNone/>
            </a:pPr>
            <a:r>
              <a:rPr lang="en-US" sz="1088" dirty="0">
                <a:solidFill>
                  <a:srgbClr val="71717A"/>
                </a:solidFill>
                <a:latin typeface="Arial" pitchFamily="34" charset="0"/>
                <a:ea typeface="Arial" pitchFamily="34" charset="-122"/>
                <a:cs typeface="Arial" pitchFamily="34" charset="-120"/>
              </a:rPr>
              <a:t>Deduplicated &amp; encrypted backup images, defined retention.</a:t>
            </a:r>
            <a:endParaRPr lang="en-US" sz="1088" dirty="0"/>
          </a:p>
        </p:txBody>
      </p:sp>
      <p:sp>
        <p:nvSpPr>
          <p:cNvPr id="27" name="Shape 25"/>
          <p:cNvSpPr/>
          <p:nvPr/>
        </p:nvSpPr>
        <p:spPr>
          <a:xfrm>
            <a:off x="13339763" y="3077245"/>
            <a:ext cx="247650" cy="19050"/>
          </a:xfrm>
          <a:prstGeom prst="rect">
            <a:avLst/>
          </a:prstGeom>
          <a:solidFill>
            <a:srgbClr val="C9C8C0"/>
          </a:solidFill>
          <a:ln/>
        </p:spPr>
      </p:sp>
      <p:sp>
        <p:nvSpPr>
          <p:cNvPr id="28" name="Shape 26"/>
          <p:cNvSpPr/>
          <p:nvPr/>
        </p:nvSpPr>
        <p:spPr>
          <a:xfrm>
            <a:off x="13511213" y="3039145"/>
            <a:ext cx="85725" cy="95250"/>
          </a:xfrm>
          <a:prstGeom prst="rect">
            <a:avLst/>
          </a:prstGeom>
          <a:solidFill>
            <a:srgbClr val="C9C8C0"/>
          </a:solidFill>
          <a:ln/>
        </p:spPr>
      </p:sp>
      <p:sp>
        <p:nvSpPr>
          <p:cNvPr id="29" name="Shape 27"/>
          <p:cNvSpPr/>
          <p:nvPr/>
        </p:nvSpPr>
        <p:spPr>
          <a:xfrm>
            <a:off x="13720763" y="2365028"/>
            <a:ext cx="3805237" cy="1443484"/>
          </a:xfrm>
          <a:prstGeom prst="roundRect">
            <a:avLst>
              <a:gd name="adj" fmla="val 9238"/>
            </a:avLst>
          </a:prstGeom>
          <a:solidFill>
            <a:srgbClr val="102A52"/>
          </a:solidFill>
          <a:ln w="9525">
            <a:solidFill>
              <a:srgbClr val="102A52"/>
            </a:solidFill>
            <a:prstDash val="solid"/>
          </a:ln>
          <a:effectLst>
            <a:outerShdw sx="100000" sy="100000" kx="0" ky="0" algn="bl" rotWithShape="0" blurRad="171450" dist="57150" dir="5400000">
              <a:srgbClr val="102A52">
                <a:alpha val="18000"/>
              </a:srgbClr>
            </a:outerShdw>
          </a:effectLst>
        </p:spPr>
      </p:sp>
      <p:sp>
        <p:nvSpPr>
          <p:cNvPr id="30" name="Shape 28"/>
          <p:cNvSpPr/>
          <p:nvPr/>
        </p:nvSpPr>
        <p:spPr>
          <a:xfrm>
            <a:off x="13939838" y="2565053"/>
            <a:ext cx="285750" cy="285750"/>
          </a:xfrm>
          <a:prstGeom prst="roundRect">
            <a:avLst>
              <a:gd name="adj" fmla="val 26667"/>
            </a:avLst>
          </a:prstGeom>
          <a:solidFill>
            <a:srgbClr val="FFFFFF">
              <a:alpha val="12000"/>
            </a:srgbClr>
          </a:solidFill>
          <a:ln/>
        </p:spPr>
      </p:sp>
      <p:sp>
        <p:nvSpPr>
          <p:cNvPr id="31" name="Text 29"/>
          <p:cNvSpPr/>
          <p:nvPr/>
        </p:nvSpPr>
        <p:spPr>
          <a:xfrm>
            <a:off x="13901738" y="2565053"/>
            <a:ext cx="361950" cy="323850"/>
          </a:xfrm>
          <a:prstGeom prst="rect">
            <a:avLst/>
          </a:prstGeom>
          <a:noFill/>
          <a:ln/>
        </p:spPr>
        <p:txBody>
          <a:bodyPr wrap="square" lIns="25400" tIns="25400" rIns="25400" bIns="25400" rtlCol="0" anchor="ctr">
            <a:normAutofit/>
          </a:bodyPr>
          <a:lstStyle/>
          <a:p>
            <a:pPr algn="ctr" indent="0" marL="0">
              <a:buNone/>
            </a:pPr>
            <a:r>
              <a:rPr lang="en-US" sz="1050" dirty="0">
                <a:solidFill>
                  <a:srgbClr val="9FC0FF"/>
                </a:solidFill>
                <a:latin typeface="Courier New" pitchFamily="34" charset="0"/>
                <a:ea typeface="Courier New" pitchFamily="34" charset="-122"/>
                <a:cs typeface="Courier New" pitchFamily="34" charset="-120"/>
              </a:rPr>
              <a:t>04</a:t>
            </a:r>
            <a:endParaRPr lang="en-US" sz="1050" dirty="0"/>
          </a:p>
        </p:txBody>
      </p:sp>
      <p:sp>
        <p:nvSpPr>
          <p:cNvPr id="32" name="Text 30"/>
          <p:cNvSpPr/>
          <p:nvPr/>
        </p:nvSpPr>
        <p:spPr>
          <a:xfrm>
            <a:off x="14320838" y="2638871"/>
            <a:ext cx="618976" cy="176212"/>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7E9AC9"/>
                </a:solidFill>
                <a:latin typeface="Courier New" pitchFamily="34" charset="0"/>
                <a:ea typeface="Courier New" pitchFamily="34" charset="-122"/>
                <a:cs typeface="Courier New" pitchFamily="34" charset="-120"/>
              </a:rPr>
              <a:t>PROTECT</a:t>
            </a:r>
            <a:endParaRPr lang="en-US" sz="825" dirty="0"/>
          </a:p>
        </p:txBody>
      </p:sp>
      <p:sp>
        <p:nvSpPr>
          <p:cNvPr id="33" name="Text 31"/>
          <p:cNvSpPr/>
          <p:nvPr/>
        </p:nvSpPr>
        <p:spPr>
          <a:xfrm>
            <a:off x="13939838" y="2955578"/>
            <a:ext cx="3703796" cy="242888"/>
          </a:xfrm>
          <a:prstGeom prst="rect">
            <a:avLst/>
          </a:prstGeom>
          <a:noFill/>
          <a:ln/>
        </p:spPr>
        <p:txBody>
          <a:bodyPr wrap="square" lIns="25400" tIns="25400" rIns="25400" bIns="25400" rtlCol="0" anchor="t">
            <a:normAutofit/>
          </a:bodyPr>
          <a:lstStyle/>
          <a:p>
            <a:pPr algn="l" indent="0" marL="0">
              <a:buNone/>
            </a:pPr>
            <a:r>
              <a:rPr lang="en-US" sz="1500" b="1" dirty="0">
                <a:solidFill>
                  <a:srgbClr val="FFFFFF"/>
                </a:solidFill>
                <a:latin typeface="Arial" pitchFamily="34" charset="0"/>
                <a:ea typeface="Arial" pitchFamily="34" charset="-122"/>
                <a:cs typeface="Arial" pitchFamily="34" charset="-120"/>
              </a:rPr>
              <a:t>Immutable Copy</a:t>
            </a:r>
            <a:endParaRPr lang="en-US" sz="1500" dirty="0"/>
          </a:p>
        </p:txBody>
      </p:sp>
      <p:sp>
        <p:nvSpPr>
          <p:cNvPr id="34" name="Text 32"/>
          <p:cNvSpPr/>
          <p:nvPr/>
        </p:nvSpPr>
        <p:spPr>
          <a:xfrm>
            <a:off x="13939838" y="3207990"/>
            <a:ext cx="3468100" cy="438596"/>
          </a:xfrm>
          <a:prstGeom prst="rect">
            <a:avLst/>
          </a:prstGeom>
          <a:noFill/>
          <a:ln/>
        </p:spPr>
        <p:txBody>
          <a:bodyPr wrap="square" lIns="25400" tIns="25400" rIns="25400" bIns="25400" rtlCol="0" anchor="t">
            <a:normAutofit/>
          </a:bodyPr>
          <a:lstStyle/>
          <a:p>
            <a:pPr algn="l" indent="0" marL="0">
              <a:lnSpc>
                <a:spcPct val="145000"/>
              </a:lnSpc>
              <a:buNone/>
            </a:pPr>
            <a:r>
              <a:rPr lang="en-US" sz="1088" dirty="0">
                <a:solidFill>
                  <a:srgbClr val="B9C8E0"/>
                </a:solidFill>
                <a:latin typeface="Arial" pitchFamily="34" charset="0"/>
                <a:ea typeface="Arial" pitchFamily="34" charset="-122"/>
                <a:cs typeface="Arial" pitchFamily="34" charset="-120"/>
              </a:rPr>
              <a:t>WORM-locked, air-gapped copy for ransomware resilience.</a:t>
            </a:r>
            <a:endParaRPr lang="en-US" sz="1088" dirty="0"/>
          </a:p>
        </p:txBody>
      </p:sp>
      <p:sp>
        <p:nvSpPr>
          <p:cNvPr id="35" name="Text 33"/>
          <p:cNvSpPr/>
          <p:nvPr/>
        </p:nvSpPr>
        <p:spPr>
          <a:xfrm>
            <a:off x="762000" y="4132362"/>
            <a:ext cx="2018638" cy="20002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9A9A93"/>
                </a:solidFill>
                <a:latin typeface="Courier New" pitchFamily="34" charset="0"/>
                <a:ea typeface="Courier New" pitchFamily="34" charset="-122"/>
                <a:cs typeface="Courier New" pitchFamily="34" charset="-120"/>
              </a:rPr>
              <a:t>WHAT IS INSIDE etcd</a:t>
            </a:r>
            <a:endParaRPr lang="en-US" sz="975" dirty="0"/>
          </a:p>
        </p:txBody>
      </p:sp>
      <p:sp>
        <p:nvSpPr>
          <p:cNvPr id="36" name="Shape 34"/>
          <p:cNvSpPr/>
          <p:nvPr/>
        </p:nvSpPr>
        <p:spPr>
          <a:xfrm>
            <a:off x="2730475" y="4175224"/>
            <a:ext cx="85725" cy="85725"/>
          </a:xfrm>
          <a:prstGeom prst="ellipse">
            <a:avLst/>
          </a:prstGeom>
          <a:solidFill>
            <a:srgbClr val="C0392B"/>
          </a:solidFill>
          <a:ln/>
        </p:spPr>
      </p:sp>
      <p:sp>
        <p:nvSpPr>
          <p:cNvPr id="37" name="Text 35"/>
          <p:cNvSpPr/>
          <p:nvPr/>
        </p:nvSpPr>
        <p:spPr>
          <a:xfrm>
            <a:off x="2882875" y="4141887"/>
            <a:ext cx="1447800" cy="190500"/>
          </a:xfrm>
          <a:prstGeom prst="rect">
            <a:avLst/>
          </a:prstGeom>
          <a:noFill/>
          <a:ln/>
        </p:spPr>
        <p:txBody>
          <a:bodyPr wrap="square" lIns="0" tIns="0" rIns="0" bIns="0" rtlCol="0" anchor="t">
            <a:normAutofit/>
          </a:bodyPr>
          <a:lstStyle/>
          <a:p>
            <a:pPr algn="l" indent="0" marL="0">
              <a:buNone/>
            </a:pPr>
            <a:r>
              <a:rPr lang="en-US" sz="900" dirty="0">
                <a:solidFill>
                  <a:srgbClr val="A5281B"/>
                </a:solidFill>
                <a:latin typeface="Courier New" pitchFamily="34" charset="0"/>
                <a:ea typeface="Courier New" pitchFamily="34" charset="-122"/>
                <a:cs typeface="Courier New" pitchFamily="34" charset="-120"/>
              </a:rPr>
              <a:t>mandatory to protect</a:t>
            </a:r>
            <a:endParaRPr lang="en-US" sz="900" dirty="0"/>
          </a:p>
        </p:txBody>
      </p:sp>
      <p:sp>
        <p:nvSpPr>
          <p:cNvPr id="38" name="Shape 36"/>
          <p:cNvSpPr/>
          <p:nvPr/>
        </p:nvSpPr>
        <p:spPr>
          <a:xfrm>
            <a:off x="762000" y="4427637"/>
            <a:ext cx="4624536" cy="1797546"/>
          </a:xfrm>
          <a:prstGeom prst="roundRect">
            <a:avLst>
              <a:gd name="adj" fmla="val 5299"/>
            </a:avLst>
          </a:prstGeom>
          <a:solidFill>
            <a:srgbClr val="FFFFFF"/>
          </a:solidFill>
          <a:ln/>
        </p:spPr>
      </p:sp>
      <p:sp>
        <p:nvSpPr>
          <p:cNvPr id="39" name="Shape 37"/>
          <p:cNvSpPr/>
          <p:nvPr/>
        </p:nvSpPr>
        <p:spPr>
          <a:xfrm>
            <a:off x="762000" y="6215658"/>
            <a:ext cx="4624536" cy="9525"/>
          </a:xfrm>
          <a:prstGeom prst="rect">
            <a:avLst/>
          </a:prstGeom>
          <a:solidFill>
            <a:srgbClr val="E7E6DF"/>
          </a:solidFill>
          <a:ln/>
        </p:spPr>
      </p:sp>
      <p:sp>
        <p:nvSpPr>
          <p:cNvPr id="40" name="Shape 38"/>
          <p:cNvSpPr/>
          <p:nvPr/>
        </p:nvSpPr>
        <p:spPr>
          <a:xfrm>
            <a:off x="762000" y="4427637"/>
            <a:ext cx="4624536" cy="9525"/>
          </a:xfrm>
          <a:prstGeom prst="rect">
            <a:avLst/>
          </a:prstGeom>
          <a:solidFill>
            <a:srgbClr val="E7E6DF"/>
          </a:solidFill>
          <a:ln/>
        </p:spPr>
      </p:sp>
      <p:sp>
        <p:nvSpPr>
          <p:cNvPr id="41" name="Shape 39"/>
          <p:cNvSpPr/>
          <p:nvPr/>
        </p:nvSpPr>
        <p:spPr>
          <a:xfrm>
            <a:off x="762000" y="4427637"/>
            <a:ext cx="28575" cy="1797546"/>
          </a:xfrm>
          <a:prstGeom prst="rect">
            <a:avLst/>
          </a:prstGeom>
          <a:solidFill>
            <a:srgbClr val="C0392B"/>
          </a:solidFill>
          <a:ln/>
        </p:spPr>
      </p:sp>
      <p:sp>
        <p:nvSpPr>
          <p:cNvPr id="42" name="Shape 40"/>
          <p:cNvSpPr/>
          <p:nvPr/>
        </p:nvSpPr>
        <p:spPr>
          <a:xfrm>
            <a:off x="5377011" y="4427637"/>
            <a:ext cx="9525" cy="1797546"/>
          </a:xfrm>
          <a:prstGeom prst="rect">
            <a:avLst/>
          </a:prstGeom>
          <a:solidFill>
            <a:srgbClr val="E7E6DF"/>
          </a:solidFill>
          <a:ln/>
        </p:spPr>
      </p:sp>
      <p:sp>
        <p:nvSpPr>
          <p:cNvPr id="43" name="Text 41"/>
          <p:cNvSpPr/>
          <p:nvPr/>
        </p:nvSpPr>
        <p:spPr>
          <a:xfrm>
            <a:off x="933450" y="4560987"/>
            <a:ext cx="4730755" cy="209550"/>
          </a:xfrm>
          <a:prstGeom prst="rect">
            <a:avLst/>
          </a:prstGeom>
          <a:noFill/>
          <a:ln/>
        </p:spPr>
        <p:txBody>
          <a:bodyPr wrap="square" lIns="25400" tIns="25400" rIns="25400" bIns="25400" rtlCol="0" anchor="t">
            <a:normAutofit/>
          </a:bodyPr>
          <a:lstStyle/>
          <a:p>
            <a:pPr algn="l" indent="0" marL="0">
              <a:buNone/>
            </a:pPr>
            <a:r>
              <a:rPr lang="en-US" sz="1238" b="1" dirty="0">
                <a:solidFill>
                  <a:srgbClr val="18181B"/>
                </a:solidFill>
                <a:latin typeface="Arial" pitchFamily="34" charset="0"/>
                <a:ea typeface="Arial" pitchFamily="34" charset="-122"/>
                <a:cs typeface="Arial" pitchFamily="34" charset="-120"/>
              </a:rPr>
              <a:t>Keyspace snapshot</a:t>
            </a:r>
            <a:endParaRPr lang="en-US" sz="1238" dirty="0"/>
          </a:p>
        </p:txBody>
      </p:sp>
      <p:sp>
        <p:nvSpPr>
          <p:cNvPr id="44" name="Text 42"/>
          <p:cNvSpPr/>
          <p:nvPr/>
        </p:nvSpPr>
        <p:spPr>
          <a:xfrm>
            <a:off x="933450" y="4761012"/>
            <a:ext cx="4730755" cy="224730"/>
          </a:xfrm>
          <a:prstGeom prst="rect">
            <a:avLst/>
          </a:prstGeom>
          <a:noFill/>
          <a:ln/>
        </p:spPr>
        <p:txBody>
          <a:bodyPr wrap="square" lIns="25400" tIns="25400" rIns="25400" bIns="25400" rtlCol="0" anchor="t">
            <a:normAutofit/>
          </a:bodyPr>
          <a:lstStyle/>
          <a:p>
            <a:pPr algn="l" indent="0" marL="0">
              <a:lnSpc>
                <a:spcPct val="140000"/>
              </a:lnSpc>
              <a:buNone/>
            </a:pPr>
            <a:r>
              <a:rPr lang="en-US" sz="1050" dirty="0">
                <a:solidFill>
                  <a:srgbClr val="71717A"/>
                </a:solidFill>
                <a:latin typeface="Arial" pitchFamily="34" charset="0"/>
                <a:ea typeface="Arial" pitchFamily="34" charset="-122"/>
                <a:cs typeface="Arial" pitchFamily="34" charset="-120"/>
              </a:rPr>
              <a:t>All API objects &amp; desired cluster state.</a:t>
            </a:r>
            <a:endParaRPr lang="en-US" sz="1050" dirty="0"/>
          </a:p>
        </p:txBody>
      </p:sp>
      <p:sp>
        <p:nvSpPr>
          <p:cNvPr id="45" name="Shape 43"/>
          <p:cNvSpPr/>
          <p:nvPr/>
        </p:nvSpPr>
        <p:spPr>
          <a:xfrm>
            <a:off x="5491311" y="4427637"/>
            <a:ext cx="4624536" cy="1797546"/>
          </a:xfrm>
          <a:prstGeom prst="roundRect">
            <a:avLst>
              <a:gd name="adj" fmla="val 5299"/>
            </a:avLst>
          </a:prstGeom>
          <a:solidFill>
            <a:srgbClr val="FFFFFF"/>
          </a:solidFill>
          <a:ln/>
        </p:spPr>
      </p:sp>
      <p:sp>
        <p:nvSpPr>
          <p:cNvPr id="46" name="Shape 44"/>
          <p:cNvSpPr/>
          <p:nvPr/>
        </p:nvSpPr>
        <p:spPr>
          <a:xfrm>
            <a:off x="5491311" y="6215658"/>
            <a:ext cx="4624536" cy="9525"/>
          </a:xfrm>
          <a:prstGeom prst="rect">
            <a:avLst/>
          </a:prstGeom>
          <a:solidFill>
            <a:srgbClr val="E7E6DF"/>
          </a:solidFill>
          <a:ln/>
        </p:spPr>
      </p:sp>
      <p:sp>
        <p:nvSpPr>
          <p:cNvPr id="47" name="Shape 45"/>
          <p:cNvSpPr/>
          <p:nvPr/>
        </p:nvSpPr>
        <p:spPr>
          <a:xfrm>
            <a:off x="5491311" y="4427637"/>
            <a:ext cx="4624536" cy="9525"/>
          </a:xfrm>
          <a:prstGeom prst="rect">
            <a:avLst/>
          </a:prstGeom>
          <a:solidFill>
            <a:srgbClr val="E7E6DF"/>
          </a:solidFill>
          <a:ln/>
        </p:spPr>
      </p:sp>
      <p:sp>
        <p:nvSpPr>
          <p:cNvPr id="48" name="Shape 46"/>
          <p:cNvSpPr/>
          <p:nvPr/>
        </p:nvSpPr>
        <p:spPr>
          <a:xfrm>
            <a:off x="5491311" y="4427637"/>
            <a:ext cx="28575" cy="1797546"/>
          </a:xfrm>
          <a:prstGeom prst="rect">
            <a:avLst/>
          </a:prstGeom>
          <a:solidFill>
            <a:srgbClr val="C0392B"/>
          </a:solidFill>
          <a:ln/>
        </p:spPr>
      </p:sp>
      <p:sp>
        <p:nvSpPr>
          <p:cNvPr id="49" name="Shape 47"/>
          <p:cNvSpPr/>
          <p:nvPr/>
        </p:nvSpPr>
        <p:spPr>
          <a:xfrm>
            <a:off x="10106323" y="4427637"/>
            <a:ext cx="9525" cy="1797546"/>
          </a:xfrm>
          <a:prstGeom prst="rect">
            <a:avLst/>
          </a:prstGeom>
          <a:solidFill>
            <a:srgbClr val="E7E6DF"/>
          </a:solidFill>
          <a:ln/>
        </p:spPr>
      </p:sp>
      <p:sp>
        <p:nvSpPr>
          <p:cNvPr id="50" name="Text 48"/>
          <p:cNvSpPr/>
          <p:nvPr/>
        </p:nvSpPr>
        <p:spPr>
          <a:xfrm>
            <a:off x="5662761" y="4560987"/>
            <a:ext cx="4730755" cy="209550"/>
          </a:xfrm>
          <a:prstGeom prst="rect">
            <a:avLst/>
          </a:prstGeom>
          <a:noFill/>
          <a:ln/>
        </p:spPr>
        <p:txBody>
          <a:bodyPr wrap="square" lIns="25400" tIns="25400" rIns="25400" bIns="25400" rtlCol="0" anchor="t">
            <a:normAutofit/>
          </a:bodyPr>
          <a:lstStyle/>
          <a:p>
            <a:pPr algn="l" indent="0" marL="0">
              <a:buNone/>
            </a:pPr>
            <a:r>
              <a:rPr lang="en-US" sz="1238" b="1" dirty="0">
                <a:solidFill>
                  <a:srgbClr val="18181B"/>
                </a:solidFill>
                <a:latin typeface="Arial" pitchFamily="34" charset="0"/>
                <a:ea typeface="Arial" pitchFamily="34" charset="-122"/>
                <a:cs typeface="Arial" pitchFamily="34" charset="-120"/>
              </a:rPr>
              <a:t>Secrets &amp; tokens</a:t>
            </a:r>
            <a:endParaRPr lang="en-US" sz="1238" dirty="0"/>
          </a:p>
        </p:txBody>
      </p:sp>
      <p:sp>
        <p:nvSpPr>
          <p:cNvPr id="51" name="Text 49"/>
          <p:cNvSpPr/>
          <p:nvPr/>
        </p:nvSpPr>
        <p:spPr>
          <a:xfrm>
            <a:off x="5662761" y="4761012"/>
            <a:ext cx="4730755" cy="224730"/>
          </a:xfrm>
          <a:prstGeom prst="rect">
            <a:avLst/>
          </a:prstGeom>
          <a:noFill/>
          <a:ln/>
        </p:spPr>
        <p:txBody>
          <a:bodyPr wrap="square" lIns="25400" tIns="25400" rIns="25400" bIns="25400" rtlCol="0" anchor="t">
            <a:normAutofit/>
          </a:bodyPr>
          <a:lstStyle/>
          <a:p>
            <a:pPr algn="l" indent="0" marL="0">
              <a:lnSpc>
                <a:spcPct val="140000"/>
              </a:lnSpc>
              <a:buNone/>
            </a:pPr>
            <a:r>
              <a:rPr lang="en-US" sz="1050" dirty="0">
                <a:solidFill>
                  <a:srgbClr val="71717A"/>
                </a:solidFill>
                <a:latin typeface="Arial" pitchFamily="34" charset="0"/>
                <a:ea typeface="Arial" pitchFamily="34" charset="-122"/>
                <a:cs typeface="Arial" pitchFamily="34" charset="-120"/>
              </a:rPr>
              <a:t>TLS, credentials, ServiceAccount tokens.</a:t>
            </a:r>
            <a:endParaRPr lang="en-US" sz="1050" dirty="0"/>
          </a:p>
        </p:txBody>
      </p:sp>
      <p:sp>
        <p:nvSpPr>
          <p:cNvPr id="52" name="Shape 50"/>
          <p:cNvSpPr/>
          <p:nvPr/>
        </p:nvSpPr>
        <p:spPr>
          <a:xfrm>
            <a:off x="762000" y="6329958"/>
            <a:ext cx="4624536" cy="1797546"/>
          </a:xfrm>
          <a:prstGeom prst="roundRect">
            <a:avLst>
              <a:gd name="adj" fmla="val 5299"/>
            </a:avLst>
          </a:prstGeom>
          <a:solidFill>
            <a:srgbClr val="FFFFFF"/>
          </a:solidFill>
          <a:ln/>
        </p:spPr>
      </p:sp>
      <p:sp>
        <p:nvSpPr>
          <p:cNvPr id="53" name="Shape 51"/>
          <p:cNvSpPr/>
          <p:nvPr/>
        </p:nvSpPr>
        <p:spPr>
          <a:xfrm>
            <a:off x="762000" y="8117979"/>
            <a:ext cx="4624536" cy="9525"/>
          </a:xfrm>
          <a:prstGeom prst="rect">
            <a:avLst/>
          </a:prstGeom>
          <a:solidFill>
            <a:srgbClr val="E7E6DF"/>
          </a:solidFill>
          <a:ln/>
        </p:spPr>
      </p:sp>
      <p:sp>
        <p:nvSpPr>
          <p:cNvPr id="54" name="Shape 52"/>
          <p:cNvSpPr/>
          <p:nvPr/>
        </p:nvSpPr>
        <p:spPr>
          <a:xfrm>
            <a:off x="762000" y="6329958"/>
            <a:ext cx="4624536" cy="9525"/>
          </a:xfrm>
          <a:prstGeom prst="rect">
            <a:avLst/>
          </a:prstGeom>
          <a:solidFill>
            <a:srgbClr val="E7E6DF"/>
          </a:solidFill>
          <a:ln/>
        </p:spPr>
      </p:sp>
      <p:sp>
        <p:nvSpPr>
          <p:cNvPr id="55" name="Shape 53"/>
          <p:cNvSpPr/>
          <p:nvPr/>
        </p:nvSpPr>
        <p:spPr>
          <a:xfrm>
            <a:off x="762000" y="6329958"/>
            <a:ext cx="28575" cy="1797546"/>
          </a:xfrm>
          <a:prstGeom prst="rect">
            <a:avLst/>
          </a:prstGeom>
          <a:solidFill>
            <a:srgbClr val="C0392B"/>
          </a:solidFill>
          <a:ln/>
        </p:spPr>
      </p:sp>
      <p:sp>
        <p:nvSpPr>
          <p:cNvPr id="56" name="Shape 54"/>
          <p:cNvSpPr/>
          <p:nvPr/>
        </p:nvSpPr>
        <p:spPr>
          <a:xfrm>
            <a:off x="5377011" y="6329958"/>
            <a:ext cx="9525" cy="1797546"/>
          </a:xfrm>
          <a:prstGeom prst="rect">
            <a:avLst/>
          </a:prstGeom>
          <a:solidFill>
            <a:srgbClr val="E7E6DF"/>
          </a:solidFill>
          <a:ln/>
        </p:spPr>
      </p:sp>
      <p:sp>
        <p:nvSpPr>
          <p:cNvPr id="57" name="Text 55"/>
          <p:cNvSpPr/>
          <p:nvPr/>
        </p:nvSpPr>
        <p:spPr>
          <a:xfrm>
            <a:off x="933450" y="6463308"/>
            <a:ext cx="4730755" cy="209550"/>
          </a:xfrm>
          <a:prstGeom prst="rect">
            <a:avLst/>
          </a:prstGeom>
          <a:noFill/>
          <a:ln/>
        </p:spPr>
        <p:txBody>
          <a:bodyPr wrap="square" lIns="25400" tIns="25400" rIns="25400" bIns="25400" rtlCol="0" anchor="t">
            <a:normAutofit/>
          </a:bodyPr>
          <a:lstStyle/>
          <a:p>
            <a:pPr algn="l" indent="0" marL="0">
              <a:buNone/>
            </a:pPr>
            <a:r>
              <a:rPr lang="en-US" sz="1238" b="1" dirty="0">
                <a:solidFill>
                  <a:srgbClr val="18181B"/>
                </a:solidFill>
                <a:latin typeface="Arial" pitchFamily="34" charset="0"/>
                <a:ea typeface="Arial" pitchFamily="34" charset="-122"/>
                <a:cs typeface="Arial" pitchFamily="34" charset="-120"/>
              </a:rPr>
              <a:t>PKI / CA &amp; encryption keys</a:t>
            </a:r>
            <a:endParaRPr lang="en-US" sz="1238" dirty="0"/>
          </a:p>
        </p:txBody>
      </p:sp>
      <p:sp>
        <p:nvSpPr>
          <p:cNvPr id="58" name="Text 56"/>
          <p:cNvSpPr/>
          <p:nvPr/>
        </p:nvSpPr>
        <p:spPr>
          <a:xfrm>
            <a:off x="933450" y="6663333"/>
            <a:ext cx="4730755" cy="224730"/>
          </a:xfrm>
          <a:prstGeom prst="rect">
            <a:avLst/>
          </a:prstGeom>
          <a:noFill/>
          <a:ln/>
        </p:spPr>
        <p:txBody>
          <a:bodyPr wrap="square" lIns="25400" tIns="25400" rIns="25400" bIns="25400" rtlCol="0" anchor="t">
            <a:normAutofit/>
          </a:bodyPr>
          <a:lstStyle/>
          <a:p>
            <a:pPr algn="l" indent="0" marL="0">
              <a:lnSpc>
                <a:spcPct val="140000"/>
              </a:lnSpc>
              <a:buNone/>
            </a:pPr>
            <a:r>
              <a:rPr lang="en-US" sz="1050" dirty="0">
                <a:solidFill>
                  <a:srgbClr val="71717A"/>
                </a:solidFill>
                <a:latin typeface="Arial" pitchFamily="34" charset="0"/>
                <a:ea typeface="Arial" pitchFamily="34" charset="-122"/>
                <a:cs typeface="Arial" pitchFamily="34" charset="-120"/>
              </a:rPr>
              <a:t>Required to decrypt &amp; trust a restore.</a:t>
            </a:r>
            <a:endParaRPr lang="en-US" sz="1050" dirty="0"/>
          </a:p>
        </p:txBody>
      </p:sp>
      <p:sp>
        <p:nvSpPr>
          <p:cNvPr id="59" name="Shape 57"/>
          <p:cNvSpPr/>
          <p:nvPr/>
        </p:nvSpPr>
        <p:spPr>
          <a:xfrm>
            <a:off x="5491311" y="6329958"/>
            <a:ext cx="4624536" cy="1797546"/>
          </a:xfrm>
          <a:prstGeom prst="roundRect">
            <a:avLst>
              <a:gd name="adj" fmla="val 5299"/>
            </a:avLst>
          </a:prstGeom>
          <a:solidFill>
            <a:srgbClr val="FFFFFF"/>
          </a:solidFill>
          <a:ln/>
        </p:spPr>
      </p:sp>
      <p:sp>
        <p:nvSpPr>
          <p:cNvPr id="60" name="Shape 58"/>
          <p:cNvSpPr/>
          <p:nvPr/>
        </p:nvSpPr>
        <p:spPr>
          <a:xfrm>
            <a:off x="5491311" y="8117979"/>
            <a:ext cx="4624536" cy="9525"/>
          </a:xfrm>
          <a:prstGeom prst="rect">
            <a:avLst/>
          </a:prstGeom>
          <a:solidFill>
            <a:srgbClr val="E7E6DF"/>
          </a:solidFill>
          <a:ln/>
        </p:spPr>
      </p:sp>
      <p:sp>
        <p:nvSpPr>
          <p:cNvPr id="61" name="Shape 59"/>
          <p:cNvSpPr/>
          <p:nvPr/>
        </p:nvSpPr>
        <p:spPr>
          <a:xfrm>
            <a:off x="5491311" y="6329958"/>
            <a:ext cx="4624536" cy="9525"/>
          </a:xfrm>
          <a:prstGeom prst="rect">
            <a:avLst/>
          </a:prstGeom>
          <a:solidFill>
            <a:srgbClr val="E7E6DF"/>
          </a:solidFill>
          <a:ln/>
        </p:spPr>
      </p:sp>
      <p:sp>
        <p:nvSpPr>
          <p:cNvPr id="62" name="Shape 60"/>
          <p:cNvSpPr/>
          <p:nvPr/>
        </p:nvSpPr>
        <p:spPr>
          <a:xfrm>
            <a:off x="5491311" y="6329958"/>
            <a:ext cx="28575" cy="1797546"/>
          </a:xfrm>
          <a:prstGeom prst="rect">
            <a:avLst/>
          </a:prstGeom>
          <a:solidFill>
            <a:srgbClr val="C0392B"/>
          </a:solidFill>
          <a:ln/>
        </p:spPr>
      </p:sp>
      <p:sp>
        <p:nvSpPr>
          <p:cNvPr id="63" name="Shape 61"/>
          <p:cNvSpPr/>
          <p:nvPr/>
        </p:nvSpPr>
        <p:spPr>
          <a:xfrm>
            <a:off x="10106323" y="6329958"/>
            <a:ext cx="9525" cy="1797546"/>
          </a:xfrm>
          <a:prstGeom prst="rect">
            <a:avLst/>
          </a:prstGeom>
          <a:solidFill>
            <a:srgbClr val="E7E6DF"/>
          </a:solidFill>
          <a:ln/>
        </p:spPr>
      </p:sp>
      <p:sp>
        <p:nvSpPr>
          <p:cNvPr id="64" name="Text 62"/>
          <p:cNvSpPr/>
          <p:nvPr/>
        </p:nvSpPr>
        <p:spPr>
          <a:xfrm>
            <a:off x="5662761" y="6463308"/>
            <a:ext cx="4730755" cy="209550"/>
          </a:xfrm>
          <a:prstGeom prst="rect">
            <a:avLst/>
          </a:prstGeom>
          <a:noFill/>
          <a:ln/>
        </p:spPr>
        <p:txBody>
          <a:bodyPr wrap="square" lIns="25400" tIns="25400" rIns="25400" bIns="25400" rtlCol="0" anchor="t">
            <a:normAutofit/>
          </a:bodyPr>
          <a:lstStyle/>
          <a:p>
            <a:pPr algn="l" indent="0" marL="0">
              <a:buNone/>
            </a:pPr>
            <a:r>
              <a:rPr lang="en-US" sz="1238" b="1" dirty="0">
                <a:solidFill>
                  <a:srgbClr val="18181B"/>
                </a:solidFill>
                <a:latin typeface="Arial" pitchFamily="34" charset="0"/>
                <a:ea typeface="Arial" pitchFamily="34" charset="-122"/>
                <a:cs typeface="Arial" pitchFamily="34" charset="-120"/>
              </a:rPr>
              <a:t>RBAC &amp; CRDs</a:t>
            </a:r>
            <a:endParaRPr lang="en-US" sz="1238" dirty="0"/>
          </a:p>
        </p:txBody>
      </p:sp>
      <p:sp>
        <p:nvSpPr>
          <p:cNvPr id="65" name="Text 63"/>
          <p:cNvSpPr/>
          <p:nvPr/>
        </p:nvSpPr>
        <p:spPr>
          <a:xfrm>
            <a:off x="5662761" y="6663333"/>
            <a:ext cx="4730755" cy="224730"/>
          </a:xfrm>
          <a:prstGeom prst="rect">
            <a:avLst/>
          </a:prstGeom>
          <a:noFill/>
          <a:ln/>
        </p:spPr>
        <p:txBody>
          <a:bodyPr wrap="square" lIns="25400" tIns="25400" rIns="25400" bIns="25400" rtlCol="0" anchor="t">
            <a:normAutofit/>
          </a:bodyPr>
          <a:lstStyle/>
          <a:p>
            <a:pPr algn="l" indent="0" marL="0">
              <a:lnSpc>
                <a:spcPct val="140000"/>
              </a:lnSpc>
              <a:buNone/>
            </a:pPr>
            <a:r>
              <a:rPr lang="en-US" sz="1050" dirty="0">
                <a:solidFill>
                  <a:srgbClr val="71717A"/>
                </a:solidFill>
                <a:latin typeface="Arial" pitchFamily="34" charset="0"/>
                <a:ea typeface="Arial" pitchFamily="34" charset="-122"/>
                <a:cs typeface="Arial" pitchFamily="34" charset="-120"/>
              </a:rPr>
              <a:t>Roles, bindings, custom resource definitions.</a:t>
            </a:r>
            <a:endParaRPr lang="en-US" sz="1050" dirty="0"/>
          </a:p>
        </p:txBody>
      </p:sp>
      <p:sp>
        <p:nvSpPr>
          <p:cNvPr id="66" name="Shape 64"/>
          <p:cNvSpPr/>
          <p:nvPr/>
        </p:nvSpPr>
        <p:spPr>
          <a:xfrm>
            <a:off x="762000" y="8232279"/>
            <a:ext cx="9353848" cy="1559421"/>
          </a:xfrm>
          <a:prstGeom prst="roundRect">
            <a:avLst>
              <a:gd name="adj" fmla="val 6108"/>
            </a:avLst>
          </a:prstGeom>
          <a:solidFill>
            <a:srgbClr val="F2F2EE"/>
          </a:solidFill>
          <a:ln w="9525">
            <a:solidFill>
              <a:srgbClr val="E3E2DB"/>
            </a:solidFill>
            <a:prstDash val="solid"/>
          </a:ln>
        </p:spPr>
      </p:sp>
      <p:sp>
        <p:nvSpPr>
          <p:cNvPr id="67" name="Text 65"/>
          <p:cNvSpPr/>
          <p:nvPr/>
        </p:nvSpPr>
        <p:spPr>
          <a:xfrm>
            <a:off x="914400" y="8935789"/>
            <a:ext cx="830610" cy="190500"/>
          </a:xfrm>
          <a:prstGeom prst="rect">
            <a:avLst/>
          </a:prstGeom>
          <a:noFill/>
          <a:ln/>
        </p:spPr>
        <p:txBody>
          <a:bodyPr wrap="none" lIns="25400" tIns="25400" rIns="25400" bIns="25400" rtlCol="0" anchor="t">
            <a:normAutofit/>
          </a:bodyPr>
          <a:lstStyle/>
          <a:p>
            <a:pPr algn="l" indent="0" marL="0">
              <a:buNone/>
            </a:pPr>
            <a:r>
              <a:rPr lang="en-US" sz="900" dirty="0">
                <a:solidFill>
                  <a:srgbClr val="9A9A93"/>
                </a:solidFill>
                <a:latin typeface="Courier New" pitchFamily="34" charset="0"/>
                <a:ea typeface="Courier New" pitchFamily="34" charset="-122"/>
                <a:cs typeface="Courier New" pitchFamily="34" charset="-120"/>
              </a:rPr>
              <a:t>ALSO INSIDE</a:t>
            </a:r>
            <a:endParaRPr lang="en-US" sz="900" dirty="0"/>
          </a:p>
        </p:txBody>
      </p:sp>
      <p:sp>
        <p:nvSpPr>
          <p:cNvPr id="68" name="Text 66"/>
          <p:cNvSpPr/>
          <p:nvPr/>
        </p:nvSpPr>
        <p:spPr>
          <a:xfrm>
            <a:off x="1764060" y="8918674"/>
            <a:ext cx="7020498" cy="224730"/>
          </a:xfrm>
          <a:prstGeom prst="rect">
            <a:avLst/>
          </a:prstGeom>
          <a:noFill/>
          <a:ln/>
        </p:spPr>
        <p:txBody>
          <a:bodyPr wrap="square" lIns="25400" tIns="25400" rIns="25400" bIns="25400" rtlCol="0" anchor="t">
            <a:normAutofit/>
          </a:bodyPr>
          <a:lstStyle/>
          <a:p>
            <a:pPr algn="l" indent="0" marL="0">
              <a:lnSpc>
                <a:spcPct val="140000"/>
              </a:lnSpc>
              <a:buNone/>
            </a:pPr>
            <a:r>
              <a:rPr lang="en-US" sz="1050" dirty="0">
                <a:solidFill>
                  <a:srgbClr val="71717A"/>
                </a:solidFill>
                <a:latin typeface="Arial" pitchFamily="34" charset="0"/>
                <a:ea typeface="Arial" pitchFamily="34" charset="-122"/>
                <a:cs typeface="Arial" pitchFamily="34" charset="-120"/>
              </a:rPr>
              <a:t>ConfigMaps · namespaces &amp; quotas · workload specs · PVC metadata — recovered with the same snapshot.</a:t>
            </a:r>
            <a:endParaRPr lang="en-US" sz="1050" dirty="0"/>
          </a:p>
        </p:txBody>
      </p:sp>
      <p:sp>
        <p:nvSpPr>
          <p:cNvPr id="69" name="Text 67"/>
          <p:cNvSpPr/>
          <p:nvPr/>
        </p:nvSpPr>
        <p:spPr>
          <a:xfrm>
            <a:off x="10439698" y="4132362"/>
            <a:ext cx="7794851" cy="20002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9A9A93"/>
                </a:solidFill>
                <a:latin typeface="Courier New" pitchFamily="34" charset="0"/>
                <a:ea typeface="Courier New" pitchFamily="34" charset="-122"/>
                <a:cs typeface="Courier New" pitchFamily="34" charset="-120"/>
              </a:rPr>
              <a:t>DORA OBLIGATIONS COVERED</a:t>
            </a:r>
            <a:endParaRPr lang="en-US" sz="975" dirty="0"/>
          </a:p>
        </p:txBody>
      </p:sp>
      <p:sp>
        <p:nvSpPr>
          <p:cNvPr id="70" name="Shape 68"/>
          <p:cNvSpPr/>
          <p:nvPr/>
        </p:nvSpPr>
        <p:spPr>
          <a:xfrm>
            <a:off x="10439698" y="4427637"/>
            <a:ext cx="7086228" cy="1718146"/>
          </a:xfrm>
          <a:prstGeom prst="roundRect">
            <a:avLst>
              <a:gd name="adj" fmla="val 5544"/>
            </a:avLst>
          </a:prstGeom>
          <a:solidFill>
            <a:srgbClr val="FFFFFF"/>
          </a:solidFill>
          <a:ln/>
        </p:spPr>
      </p:sp>
      <p:sp>
        <p:nvSpPr>
          <p:cNvPr id="71" name="Shape 69"/>
          <p:cNvSpPr/>
          <p:nvPr/>
        </p:nvSpPr>
        <p:spPr>
          <a:xfrm>
            <a:off x="10439698" y="6136258"/>
            <a:ext cx="7086228" cy="9525"/>
          </a:xfrm>
          <a:prstGeom prst="rect">
            <a:avLst/>
          </a:prstGeom>
          <a:solidFill>
            <a:srgbClr val="E7E6DF"/>
          </a:solidFill>
          <a:ln/>
        </p:spPr>
      </p:sp>
      <p:sp>
        <p:nvSpPr>
          <p:cNvPr id="72" name="Shape 70"/>
          <p:cNvSpPr/>
          <p:nvPr/>
        </p:nvSpPr>
        <p:spPr>
          <a:xfrm>
            <a:off x="10439698" y="4427637"/>
            <a:ext cx="7086228" cy="9525"/>
          </a:xfrm>
          <a:prstGeom prst="rect">
            <a:avLst/>
          </a:prstGeom>
          <a:solidFill>
            <a:srgbClr val="E7E6DF"/>
          </a:solidFill>
          <a:ln/>
        </p:spPr>
      </p:sp>
      <p:sp>
        <p:nvSpPr>
          <p:cNvPr id="73" name="Shape 71"/>
          <p:cNvSpPr/>
          <p:nvPr/>
        </p:nvSpPr>
        <p:spPr>
          <a:xfrm>
            <a:off x="10439698" y="4427637"/>
            <a:ext cx="28575" cy="1718146"/>
          </a:xfrm>
          <a:prstGeom prst="rect">
            <a:avLst/>
          </a:prstGeom>
          <a:solidFill>
            <a:srgbClr val="2B5FC7"/>
          </a:solidFill>
          <a:ln/>
        </p:spPr>
      </p:sp>
      <p:sp>
        <p:nvSpPr>
          <p:cNvPr id="74" name="Shape 72"/>
          <p:cNvSpPr/>
          <p:nvPr/>
        </p:nvSpPr>
        <p:spPr>
          <a:xfrm>
            <a:off x="17516401" y="4427637"/>
            <a:ext cx="9525" cy="1718146"/>
          </a:xfrm>
          <a:prstGeom prst="rect">
            <a:avLst/>
          </a:prstGeom>
          <a:solidFill>
            <a:srgbClr val="E7E6DF"/>
          </a:solidFill>
          <a:ln/>
        </p:spPr>
      </p:sp>
      <p:sp>
        <p:nvSpPr>
          <p:cNvPr id="75" name="Text 73"/>
          <p:cNvSpPr/>
          <p:nvPr/>
        </p:nvSpPr>
        <p:spPr>
          <a:xfrm>
            <a:off x="10620673" y="4560987"/>
            <a:ext cx="7417661" cy="223838"/>
          </a:xfrm>
          <a:prstGeom prst="rect">
            <a:avLst/>
          </a:prstGeom>
          <a:noFill/>
          <a:ln/>
        </p:spPr>
        <p:txBody>
          <a:bodyPr wrap="square" lIns="25400" tIns="25400" rIns="25400" bIns="25400" rtlCol="0" anchor="t">
            <a:normAutofit/>
          </a:bodyPr>
          <a:lstStyle/>
          <a:p>
            <a:pPr algn="l" indent="0" marL="0">
              <a:buNone/>
            </a:pPr>
            <a:r>
              <a:rPr lang="en-US" sz="1275" b="1" dirty="0">
                <a:solidFill>
                  <a:srgbClr val="18181B"/>
                </a:solidFill>
                <a:latin typeface="Arial" pitchFamily="34" charset="0"/>
                <a:ea typeface="Arial" pitchFamily="34" charset="-122"/>
                <a:cs typeface="Arial" pitchFamily="34" charset="-120"/>
              </a:rPr>
              <a:t>Operational Resilience</a:t>
            </a:r>
            <a:endParaRPr lang="en-US" sz="1275" dirty="0"/>
          </a:p>
        </p:txBody>
      </p:sp>
      <p:sp>
        <p:nvSpPr>
          <p:cNvPr id="76" name="Text 74"/>
          <p:cNvSpPr/>
          <p:nvPr/>
        </p:nvSpPr>
        <p:spPr>
          <a:xfrm>
            <a:off x="10620673" y="4775299"/>
            <a:ext cx="7417661" cy="231428"/>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71717A"/>
                </a:solidFill>
                <a:latin typeface="Arial" pitchFamily="34" charset="0"/>
                <a:ea typeface="Arial" pitchFamily="34" charset="-122"/>
                <a:cs typeface="Arial" pitchFamily="34" charset="-120"/>
              </a:rPr>
              <a:t>Defined RTO / RPO, validated by regular restore drills — not just successful backups.</a:t>
            </a:r>
            <a:endParaRPr lang="en-US" sz="1050" dirty="0"/>
          </a:p>
        </p:txBody>
      </p:sp>
      <p:sp>
        <p:nvSpPr>
          <p:cNvPr id="77" name="Shape 75"/>
          <p:cNvSpPr/>
          <p:nvPr/>
        </p:nvSpPr>
        <p:spPr>
          <a:xfrm>
            <a:off x="10439698" y="6250558"/>
            <a:ext cx="7086228" cy="1718221"/>
          </a:xfrm>
          <a:prstGeom prst="roundRect">
            <a:avLst>
              <a:gd name="adj" fmla="val 5544"/>
            </a:avLst>
          </a:prstGeom>
          <a:solidFill>
            <a:srgbClr val="FFFFFF"/>
          </a:solidFill>
          <a:ln/>
        </p:spPr>
      </p:sp>
      <p:sp>
        <p:nvSpPr>
          <p:cNvPr id="78" name="Shape 76"/>
          <p:cNvSpPr/>
          <p:nvPr/>
        </p:nvSpPr>
        <p:spPr>
          <a:xfrm>
            <a:off x="10439698" y="7959254"/>
            <a:ext cx="7086228" cy="9525"/>
          </a:xfrm>
          <a:prstGeom prst="rect">
            <a:avLst/>
          </a:prstGeom>
          <a:solidFill>
            <a:srgbClr val="E7E6DF"/>
          </a:solidFill>
          <a:ln/>
        </p:spPr>
      </p:sp>
      <p:sp>
        <p:nvSpPr>
          <p:cNvPr id="79" name="Shape 77"/>
          <p:cNvSpPr/>
          <p:nvPr/>
        </p:nvSpPr>
        <p:spPr>
          <a:xfrm>
            <a:off x="10439698" y="6250558"/>
            <a:ext cx="7086228" cy="9525"/>
          </a:xfrm>
          <a:prstGeom prst="rect">
            <a:avLst/>
          </a:prstGeom>
          <a:solidFill>
            <a:srgbClr val="E7E6DF"/>
          </a:solidFill>
          <a:ln/>
        </p:spPr>
      </p:sp>
      <p:sp>
        <p:nvSpPr>
          <p:cNvPr id="80" name="Shape 78"/>
          <p:cNvSpPr/>
          <p:nvPr/>
        </p:nvSpPr>
        <p:spPr>
          <a:xfrm>
            <a:off x="10439698" y="6250558"/>
            <a:ext cx="28575" cy="1718221"/>
          </a:xfrm>
          <a:prstGeom prst="rect">
            <a:avLst/>
          </a:prstGeom>
          <a:solidFill>
            <a:srgbClr val="1F8A5B"/>
          </a:solidFill>
          <a:ln/>
        </p:spPr>
      </p:sp>
      <p:sp>
        <p:nvSpPr>
          <p:cNvPr id="81" name="Shape 79"/>
          <p:cNvSpPr/>
          <p:nvPr/>
        </p:nvSpPr>
        <p:spPr>
          <a:xfrm>
            <a:off x="17516401" y="6250558"/>
            <a:ext cx="9525" cy="1718221"/>
          </a:xfrm>
          <a:prstGeom prst="rect">
            <a:avLst/>
          </a:prstGeom>
          <a:solidFill>
            <a:srgbClr val="E7E6DF"/>
          </a:solidFill>
          <a:ln/>
        </p:spPr>
      </p:sp>
      <p:sp>
        <p:nvSpPr>
          <p:cNvPr id="82" name="Text 80"/>
          <p:cNvSpPr/>
          <p:nvPr/>
        </p:nvSpPr>
        <p:spPr>
          <a:xfrm>
            <a:off x="10620673" y="6383908"/>
            <a:ext cx="7417661" cy="223838"/>
          </a:xfrm>
          <a:prstGeom prst="rect">
            <a:avLst/>
          </a:prstGeom>
          <a:noFill/>
          <a:ln/>
        </p:spPr>
        <p:txBody>
          <a:bodyPr wrap="square" lIns="25400" tIns="25400" rIns="25400" bIns="25400" rtlCol="0" anchor="t">
            <a:normAutofit/>
          </a:bodyPr>
          <a:lstStyle/>
          <a:p>
            <a:pPr algn="l" indent="0" marL="0">
              <a:buNone/>
            </a:pPr>
            <a:r>
              <a:rPr lang="en-US" sz="1275" b="1" dirty="0">
                <a:solidFill>
                  <a:srgbClr val="18181B"/>
                </a:solidFill>
                <a:latin typeface="Arial" pitchFamily="34" charset="0"/>
                <a:ea typeface="Arial" pitchFamily="34" charset="-122"/>
                <a:cs typeface="Arial" pitchFamily="34" charset="-120"/>
              </a:rPr>
              <a:t>Continuity &amp; Register</a:t>
            </a:r>
            <a:endParaRPr lang="en-US" sz="1275" dirty="0"/>
          </a:p>
        </p:txBody>
      </p:sp>
      <p:sp>
        <p:nvSpPr>
          <p:cNvPr id="83" name="Text 81"/>
          <p:cNvSpPr/>
          <p:nvPr/>
        </p:nvSpPr>
        <p:spPr>
          <a:xfrm>
            <a:off x="10620673" y="6598221"/>
            <a:ext cx="7417661" cy="231428"/>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71717A"/>
                </a:solidFill>
                <a:latin typeface="Arial" pitchFamily="34" charset="0"/>
                <a:ea typeface="Arial" pitchFamily="34" charset="-122"/>
                <a:cs typeface="Arial" pitchFamily="34" charset="-120"/>
              </a:rPr>
              <a:t>etcd backups recorded in the ICT asset &amp; continuity register with clear ownership.</a:t>
            </a:r>
            <a:endParaRPr lang="en-US" sz="1050" dirty="0"/>
          </a:p>
        </p:txBody>
      </p:sp>
      <p:sp>
        <p:nvSpPr>
          <p:cNvPr id="84" name="Shape 82"/>
          <p:cNvSpPr/>
          <p:nvPr/>
        </p:nvSpPr>
        <p:spPr>
          <a:xfrm>
            <a:off x="10439698" y="8073554"/>
            <a:ext cx="7086228" cy="1718146"/>
          </a:xfrm>
          <a:prstGeom prst="roundRect">
            <a:avLst>
              <a:gd name="adj" fmla="val 5544"/>
            </a:avLst>
          </a:prstGeom>
          <a:solidFill>
            <a:srgbClr val="FFFFFF"/>
          </a:solidFill>
          <a:ln/>
        </p:spPr>
      </p:sp>
      <p:sp>
        <p:nvSpPr>
          <p:cNvPr id="85" name="Shape 83"/>
          <p:cNvSpPr/>
          <p:nvPr/>
        </p:nvSpPr>
        <p:spPr>
          <a:xfrm>
            <a:off x="10439698" y="9782175"/>
            <a:ext cx="7086228" cy="9525"/>
          </a:xfrm>
          <a:prstGeom prst="rect">
            <a:avLst/>
          </a:prstGeom>
          <a:solidFill>
            <a:srgbClr val="E7E6DF"/>
          </a:solidFill>
          <a:ln/>
        </p:spPr>
      </p:sp>
      <p:sp>
        <p:nvSpPr>
          <p:cNvPr id="86" name="Shape 84"/>
          <p:cNvSpPr/>
          <p:nvPr/>
        </p:nvSpPr>
        <p:spPr>
          <a:xfrm>
            <a:off x="10439698" y="8073554"/>
            <a:ext cx="7086228" cy="9525"/>
          </a:xfrm>
          <a:prstGeom prst="rect">
            <a:avLst/>
          </a:prstGeom>
          <a:solidFill>
            <a:srgbClr val="E7E6DF"/>
          </a:solidFill>
          <a:ln/>
        </p:spPr>
      </p:sp>
      <p:sp>
        <p:nvSpPr>
          <p:cNvPr id="87" name="Shape 85"/>
          <p:cNvSpPr/>
          <p:nvPr/>
        </p:nvSpPr>
        <p:spPr>
          <a:xfrm>
            <a:off x="10439698" y="8073554"/>
            <a:ext cx="28575" cy="1718146"/>
          </a:xfrm>
          <a:prstGeom prst="rect">
            <a:avLst/>
          </a:prstGeom>
          <a:solidFill>
            <a:srgbClr val="B5882B"/>
          </a:solidFill>
          <a:ln/>
        </p:spPr>
      </p:sp>
      <p:sp>
        <p:nvSpPr>
          <p:cNvPr id="88" name="Shape 86"/>
          <p:cNvSpPr/>
          <p:nvPr/>
        </p:nvSpPr>
        <p:spPr>
          <a:xfrm>
            <a:off x="17516401" y="8073554"/>
            <a:ext cx="9525" cy="1718146"/>
          </a:xfrm>
          <a:prstGeom prst="rect">
            <a:avLst/>
          </a:prstGeom>
          <a:solidFill>
            <a:srgbClr val="E7E6DF"/>
          </a:solidFill>
          <a:ln/>
        </p:spPr>
      </p:sp>
      <p:sp>
        <p:nvSpPr>
          <p:cNvPr id="89" name="Text 87"/>
          <p:cNvSpPr/>
          <p:nvPr/>
        </p:nvSpPr>
        <p:spPr>
          <a:xfrm>
            <a:off x="10620673" y="8206904"/>
            <a:ext cx="7417661" cy="223838"/>
          </a:xfrm>
          <a:prstGeom prst="rect">
            <a:avLst/>
          </a:prstGeom>
          <a:noFill/>
          <a:ln/>
        </p:spPr>
        <p:txBody>
          <a:bodyPr wrap="square" lIns="25400" tIns="25400" rIns="25400" bIns="25400" rtlCol="0" anchor="t">
            <a:normAutofit/>
          </a:bodyPr>
          <a:lstStyle/>
          <a:p>
            <a:pPr algn="l" indent="0" marL="0">
              <a:buNone/>
            </a:pPr>
            <a:r>
              <a:rPr lang="en-US" sz="1275" b="1" dirty="0">
                <a:solidFill>
                  <a:srgbClr val="18181B"/>
                </a:solidFill>
                <a:latin typeface="Arial" pitchFamily="34" charset="0"/>
                <a:ea typeface="Arial" pitchFamily="34" charset="-122"/>
                <a:cs typeface="Arial" pitchFamily="34" charset="-120"/>
              </a:rPr>
              <a:t>Regulatory Compliance</a:t>
            </a:r>
            <a:endParaRPr lang="en-US" sz="1275" dirty="0"/>
          </a:p>
        </p:txBody>
      </p:sp>
      <p:sp>
        <p:nvSpPr>
          <p:cNvPr id="90" name="Text 88"/>
          <p:cNvSpPr/>
          <p:nvPr/>
        </p:nvSpPr>
        <p:spPr>
          <a:xfrm>
            <a:off x="10620673" y="8421216"/>
            <a:ext cx="7417661" cy="231428"/>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71717A"/>
                </a:solidFill>
                <a:latin typeface="Arial" pitchFamily="34" charset="0"/>
                <a:ea typeface="Arial" pitchFamily="34" charset="-122"/>
                <a:cs typeface="Arial" pitchFamily="34" charset="-120"/>
              </a:rPr>
              <a:t>EU DORA: auditable immutability, retention evidence &amp; proof of recovery testing.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762000" y="571500"/>
            <a:ext cx="12363450" cy="223838"/>
          </a:xfrm>
          <a:prstGeom prst="rect">
            <a:avLst/>
          </a:prstGeom>
          <a:noFill/>
          <a:ln/>
        </p:spPr>
        <p:txBody>
          <a:bodyPr wrap="square" lIns="25400" tIns="25400" rIns="25400" bIns="25400" rtlCol="0" anchor="t">
            <a:normAutofit/>
          </a:bodyPr>
          <a:lstStyle/>
          <a:p>
            <a:pPr algn="l" indent="0" marL="0">
              <a:buNone/>
            </a:pPr>
            <a:r>
              <a:rPr lang="en-US" sz="1125" spc="247" kern="0" dirty="0">
                <a:solidFill>
                  <a:srgbClr val="2B5FC7"/>
                </a:solidFill>
                <a:latin typeface="Courier New" pitchFamily="34" charset="0"/>
                <a:ea typeface="Courier New" pitchFamily="34" charset="-122"/>
                <a:cs typeface="Courier New" pitchFamily="34" charset="-120"/>
              </a:rPr>
              <a:t>02 — BACKUP POLICY</a:t>
            </a:r>
            <a:endParaRPr lang="en-US" sz="1125" dirty="0"/>
          </a:p>
        </p:txBody>
      </p:sp>
      <p:sp>
        <p:nvSpPr>
          <p:cNvPr id="3" name="Text 1"/>
          <p:cNvSpPr/>
          <p:nvPr/>
        </p:nvSpPr>
        <p:spPr>
          <a:xfrm>
            <a:off x="762000" y="890588"/>
            <a:ext cx="12363450" cy="498128"/>
          </a:xfrm>
          <a:prstGeom prst="rect">
            <a:avLst/>
          </a:prstGeom>
          <a:noFill/>
          <a:ln/>
        </p:spPr>
        <p:txBody>
          <a:bodyPr wrap="square" lIns="25400" tIns="25400" rIns="25400" bIns="25400" rtlCol="0" anchor="t">
            <a:normAutofit/>
          </a:bodyPr>
          <a:lstStyle/>
          <a:p>
            <a:pPr algn="l" indent="0" marL="0">
              <a:lnSpc>
                <a:spcPct val="105000"/>
              </a:lnSpc>
              <a:buNone/>
            </a:pPr>
            <a:r>
              <a:rPr lang="en-US" sz="3450" b="1" spc="-69" kern="0" dirty="0">
                <a:solidFill>
                  <a:srgbClr val="18181B"/>
                </a:solidFill>
                <a:latin typeface="Arial" pitchFamily="34" charset="0"/>
                <a:ea typeface="Arial" pitchFamily="34" charset="-122"/>
                <a:cs typeface="Arial" pitchFamily="34" charset="-120"/>
              </a:rPr>
              <a:t>Backup cadence &amp; retention</a:t>
            </a:r>
            <a:endParaRPr lang="en-US" sz="3450" dirty="0"/>
          </a:p>
        </p:txBody>
      </p:sp>
      <p:sp>
        <p:nvSpPr>
          <p:cNvPr id="4" name="Text 2"/>
          <p:cNvSpPr/>
          <p:nvPr/>
        </p:nvSpPr>
        <p:spPr>
          <a:xfrm>
            <a:off x="762000" y="1483965"/>
            <a:ext cx="10595610" cy="595313"/>
          </a:xfrm>
          <a:prstGeom prst="rect">
            <a:avLst/>
          </a:prstGeom>
          <a:noFill/>
          <a:ln/>
        </p:spPr>
        <p:txBody>
          <a:bodyPr wrap="square" lIns="25400" tIns="25400" rIns="25400" bIns="25400" rtlCol="0" anchor="t">
            <a:normAutofit/>
          </a:bodyPr>
          <a:lstStyle/>
          <a:p>
            <a:pPr algn="l" indent="0" marL="0">
              <a:lnSpc>
                <a:spcPct val="150000"/>
              </a:lnSpc>
              <a:buNone/>
            </a:pPr>
            <a:r>
              <a:rPr lang="en-US" sz="1463" dirty="0">
                <a:solidFill>
                  <a:srgbClr val="52525B"/>
                </a:solidFill>
                <a:latin typeface="Arial" pitchFamily="34" charset="0"/>
                <a:ea typeface="Arial" pitchFamily="34" charset="-122"/>
                <a:cs typeface="Arial" pitchFamily="34" charset="-120"/>
              </a:rPr>
              <a:t>DORA and NIST set frequency by RPO and criticality — not a fixed number. Retention is tiered, with immutable long-term copies where regulation demands.</a:t>
            </a:r>
            <a:endParaRPr lang="en-US" sz="1463" dirty="0"/>
          </a:p>
        </p:txBody>
      </p:sp>
      <p:sp>
        <p:nvSpPr>
          <p:cNvPr id="5" name="Text 3"/>
          <p:cNvSpPr/>
          <p:nvPr/>
        </p:nvSpPr>
        <p:spPr>
          <a:xfrm>
            <a:off x="762000" y="2329309"/>
            <a:ext cx="853455" cy="19050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9A9A93"/>
                </a:solidFill>
                <a:latin typeface="Courier New" pitchFamily="34" charset="0"/>
                <a:ea typeface="Courier New" pitchFamily="34" charset="-122"/>
                <a:cs typeface="Courier New" pitchFamily="34" charset="-120"/>
              </a:rPr>
              <a:t>ALIGNED TO</a:t>
            </a:r>
            <a:endParaRPr lang="en-US" sz="900" dirty="0"/>
          </a:p>
        </p:txBody>
      </p:sp>
      <p:sp>
        <p:nvSpPr>
          <p:cNvPr id="6" name="Shape 4"/>
          <p:cNvSpPr/>
          <p:nvPr/>
        </p:nvSpPr>
        <p:spPr>
          <a:xfrm>
            <a:off x="1672605" y="2269778"/>
            <a:ext cx="747713" cy="271463"/>
          </a:xfrm>
          <a:prstGeom prst="roundRect">
            <a:avLst>
              <a:gd name="adj" fmla="val 24561"/>
            </a:avLst>
          </a:prstGeom>
          <a:solidFill>
            <a:srgbClr val="EAF0FB"/>
          </a:solidFill>
          <a:ln w="9525">
            <a:solidFill>
              <a:srgbClr val="C9DBF6"/>
            </a:solidFill>
            <a:prstDash val="solid"/>
          </a:ln>
        </p:spPr>
      </p:sp>
      <p:sp>
        <p:nvSpPr>
          <p:cNvPr id="7" name="Text 5"/>
          <p:cNvSpPr/>
          <p:nvPr/>
        </p:nvSpPr>
        <p:spPr>
          <a:xfrm>
            <a:off x="1796430" y="2326928"/>
            <a:ext cx="576263" cy="195263"/>
          </a:xfrm>
          <a:prstGeom prst="rect">
            <a:avLst/>
          </a:prstGeom>
          <a:noFill/>
          <a:ln/>
        </p:spPr>
        <p:txBody>
          <a:bodyPr wrap="square" lIns="25400" tIns="25400" rIns="25400" bIns="25400" rtlCol="0" anchor="t">
            <a:normAutofit/>
          </a:bodyPr>
          <a:lstStyle/>
          <a:p>
            <a:pPr algn="l" indent="0" marL="0">
              <a:buNone/>
            </a:pPr>
            <a:r>
              <a:rPr lang="en-US" sz="938" dirty="0">
                <a:solidFill>
                  <a:srgbClr val="21478F"/>
                </a:solidFill>
                <a:latin typeface="Courier New" pitchFamily="34" charset="0"/>
                <a:ea typeface="Courier New" pitchFamily="34" charset="-122"/>
                <a:cs typeface="Courier New" pitchFamily="34" charset="-120"/>
              </a:rPr>
              <a:t>EU DORA</a:t>
            </a:r>
            <a:endParaRPr lang="en-US" sz="938" dirty="0"/>
          </a:p>
        </p:txBody>
      </p:sp>
      <p:sp>
        <p:nvSpPr>
          <p:cNvPr id="8" name="Shape 6"/>
          <p:cNvSpPr/>
          <p:nvPr/>
        </p:nvSpPr>
        <p:spPr>
          <a:xfrm>
            <a:off x="2515567" y="2269778"/>
            <a:ext cx="1747838" cy="271463"/>
          </a:xfrm>
          <a:prstGeom prst="roundRect">
            <a:avLst>
              <a:gd name="adj" fmla="val 24561"/>
            </a:avLst>
          </a:prstGeom>
          <a:solidFill>
            <a:srgbClr val="EAF0FB"/>
          </a:solidFill>
          <a:ln w="9525">
            <a:solidFill>
              <a:srgbClr val="C9DBF6"/>
            </a:solidFill>
            <a:prstDash val="solid"/>
          </a:ln>
        </p:spPr>
      </p:sp>
      <p:sp>
        <p:nvSpPr>
          <p:cNvPr id="9" name="Text 7"/>
          <p:cNvSpPr/>
          <p:nvPr/>
        </p:nvSpPr>
        <p:spPr>
          <a:xfrm>
            <a:off x="2639392" y="2326928"/>
            <a:ext cx="1576388" cy="195263"/>
          </a:xfrm>
          <a:prstGeom prst="rect">
            <a:avLst/>
          </a:prstGeom>
          <a:noFill/>
          <a:ln/>
        </p:spPr>
        <p:txBody>
          <a:bodyPr wrap="square" lIns="25400" tIns="25400" rIns="25400" bIns="25400" rtlCol="0" anchor="t">
            <a:normAutofit/>
          </a:bodyPr>
          <a:lstStyle/>
          <a:p>
            <a:pPr algn="l" indent="0" marL="0">
              <a:buNone/>
            </a:pPr>
            <a:r>
              <a:rPr lang="en-US" sz="938" dirty="0">
                <a:solidFill>
                  <a:srgbClr val="21478F"/>
                </a:solidFill>
                <a:latin typeface="Courier New" pitchFamily="34" charset="0"/>
                <a:ea typeface="Courier New" pitchFamily="34" charset="-122"/>
                <a:cs typeface="Courier New" pitchFamily="34" charset="-120"/>
              </a:rPr>
              <a:t>NIST SP 800-34 · CP-9</a:t>
            </a:r>
            <a:endParaRPr lang="en-US" sz="938" dirty="0"/>
          </a:p>
        </p:txBody>
      </p:sp>
      <p:sp>
        <p:nvSpPr>
          <p:cNvPr id="10" name="Shape 8"/>
          <p:cNvSpPr/>
          <p:nvPr/>
        </p:nvSpPr>
        <p:spPr>
          <a:xfrm>
            <a:off x="4358655" y="2269778"/>
            <a:ext cx="1533525" cy="271463"/>
          </a:xfrm>
          <a:prstGeom prst="roundRect">
            <a:avLst>
              <a:gd name="adj" fmla="val 24561"/>
            </a:avLst>
          </a:prstGeom>
          <a:solidFill>
            <a:srgbClr val="EAF0FB"/>
          </a:solidFill>
          <a:ln w="9525">
            <a:solidFill>
              <a:srgbClr val="C9DBF6"/>
            </a:solidFill>
            <a:prstDash val="solid"/>
          </a:ln>
        </p:spPr>
      </p:sp>
      <p:sp>
        <p:nvSpPr>
          <p:cNvPr id="11" name="Text 9"/>
          <p:cNvSpPr/>
          <p:nvPr/>
        </p:nvSpPr>
        <p:spPr>
          <a:xfrm>
            <a:off x="4482480" y="2326928"/>
            <a:ext cx="1362075" cy="195263"/>
          </a:xfrm>
          <a:prstGeom prst="rect">
            <a:avLst/>
          </a:prstGeom>
          <a:noFill/>
          <a:ln/>
        </p:spPr>
        <p:txBody>
          <a:bodyPr wrap="square" lIns="25400" tIns="25400" rIns="25400" bIns="25400" rtlCol="0" anchor="t">
            <a:normAutofit/>
          </a:bodyPr>
          <a:lstStyle/>
          <a:p>
            <a:pPr algn="l" indent="0" marL="0">
              <a:buNone/>
            </a:pPr>
            <a:r>
              <a:rPr lang="en-US" sz="938" dirty="0">
                <a:solidFill>
                  <a:srgbClr val="21478F"/>
                </a:solidFill>
                <a:latin typeface="Courier New" pitchFamily="34" charset="0"/>
                <a:ea typeface="Courier New" pitchFamily="34" charset="-122"/>
                <a:cs typeface="Courier New" pitchFamily="34" charset="-120"/>
              </a:rPr>
              <a:t>NIST CSF · PR.IP-4</a:t>
            </a:r>
            <a:endParaRPr lang="en-US" sz="938" dirty="0"/>
          </a:p>
        </p:txBody>
      </p:sp>
      <p:sp>
        <p:nvSpPr>
          <p:cNvPr id="12" name="Shape 10"/>
          <p:cNvSpPr/>
          <p:nvPr/>
        </p:nvSpPr>
        <p:spPr>
          <a:xfrm>
            <a:off x="5987430" y="2269778"/>
            <a:ext cx="962025" cy="271463"/>
          </a:xfrm>
          <a:prstGeom prst="roundRect">
            <a:avLst>
              <a:gd name="adj" fmla="val 24561"/>
            </a:avLst>
          </a:prstGeom>
          <a:solidFill>
            <a:srgbClr val="EAF0FB"/>
          </a:solidFill>
          <a:ln w="9525">
            <a:solidFill>
              <a:srgbClr val="C9DBF6"/>
            </a:solidFill>
            <a:prstDash val="solid"/>
          </a:ln>
        </p:spPr>
      </p:sp>
      <p:sp>
        <p:nvSpPr>
          <p:cNvPr id="13" name="Text 11"/>
          <p:cNvSpPr/>
          <p:nvPr/>
        </p:nvSpPr>
        <p:spPr>
          <a:xfrm>
            <a:off x="6111255" y="2326928"/>
            <a:ext cx="790575" cy="195263"/>
          </a:xfrm>
          <a:prstGeom prst="rect">
            <a:avLst/>
          </a:prstGeom>
          <a:noFill/>
          <a:ln/>
        </p:spPr>
        <p:txBody>
          <a:bodyPr wrap="square" lIns="25400" tIns="25400" rIns="25400" bIns="25400" rtlCol="0" anchor="t">
            <a:normAutofit/>
          </a:bodyPr>
          <a:lstStyle/>
          <a:p>
            <a:pPr algn="l" indent="0" marL="0">
              <a:buNone/>
            </a:pPr>
            <a:r>
              <a:rPr lang="en-US" sz="938" dirty="0">
                <a:solidFill>
                  <a:srgbClr val="21478F"/>
                </a:solidFill>
                <a:latin typeface="Courier New" pitchFamily="34" charset="0"/>
                <a:ea typeface="Courier New" pitchFamily="34" charset="-122"/>
                <a:cs typeface="Courier New" pitchFamily="34" charset="-120"/>
              </a:rPr>
              <a:t>3-2-1 rule</a:t>
            </a:r>
            <a:endParaRPr lang="en-US" sz="938" dirty="0"/>
          </a:p>
        </p:txBody>
      </p:sp>
      <p:sp>
        <p:nvSpPr>
          <p:cNvPr id="14" name="Shape 12"/>
          <p:cNvSpPr/>
          <p:nvPr/>
        </p:nvSpPr>
        <p:spPr>
          <a:xfrm>
            <a:off x="762000" y="2788890"/>
            <a:ext cx="5448300" cy="7002810"/>
          </a:xfrm>
          <a:prstGeom prst="roundRect">
            <a:avLst>
              <a:gd name="adj" fmla="val 2448"/>
            </a:avLst>
          </a:prstGeom>
          <a:solidFill>
            <a:srgbClr val="FFFFFF"/>
          </a:solidFill>
          <a:ln/>
          <a:effectLst>
            <a:outerShdw sx="100000" sy="100000" kx="0" ky="0" algn="bl" rotWithShape="0" blurRad="19050" dist="9525" dir="5400000">
              <a:srgbClr val="141414">
                <a:alpha val="4000"/>
              </a:srgbClr>
            </a:outerShdw>
          </a:effectLst>
        </p:spPr>
      </p:sp>
      <p:sp>
        <p:nvSpPr>
          <p:cNvPr id="15" name="Shape 13"/>
          <p:cNvSpPr/>
          <p:nvPr/>
        </p:nvSpPr>
        <p:spPr>
          <a:xfrm>
            <a:off x="762000" y="9782175"/>
            <a:ext cx="5448300" cy="9525"/>
          </a:xfrm>
          <a:prstGeom prst="rect">
            <a:avLst/>
          </a:prstGeom>
          <a:solidFill>
            <a:srgbClr val="E7E6DF"/>
          </a:solidFill>
          <a:ln/>
        </p:spPr>
      </p:sp>
      <p:sp>
        <p:nvSpPr>
          <p:cNvPr id="16" name="Shape 14"/>
          <p:cNvSpPr/>
          <p:nvPr/>
        </p:nvSpPr>
        <p:spPr>
          <a:xfrm>
            <a:off x="762000" y="2788890"/>
            <a:ext cx="5448300" cy="28575"/>
          </a:xfrm>
          <a:prstGeom prst="rect">
            <a:avLst/>
          </a:prstGeom>
          <a:solidFill>
            <a:srgbClr val="2B5FC7"/>
          </a:solidFill>
          <a:ln/>
        </p:spPr>
      </p:sp>
      <p:sp>
        <p:nvSpPr>
          <p:cNvPr id="17" name="Shape 15"/>
          <p:cNvSpPr/>
          <p:nvPr/>
        </p:nvSpPr>
        <p:spPr>
          <a:xfrm>
            <a:off x="762000" y="2788890"/>
            <a:ext cx="9525" cy="7002810"/>
          </a:xfrm>
          <a:prstGeom prst="rect">
            <a:avLst/>
          </a:prstGeom>
          <a:solidFill>
            <a:srgbClr val="E7E6DF"/>
          </a:solidFill>
          <a:ln/>
        </p:spPr>
      </p:sp>
      <p:sp>
        <p:nvSpPr>
          <p:cNvPr id="18" name="Shape 16"/>
          <p:cNvSpPr/>
          <p:nvPr/>
        </p:nvSpPr>
        <p:spPr>
          <a:xfrm>
            <a:off x="6200775" y="2788890"/>
            <a:ext cx="9525" cy="7002810"/>
          </a:xfrm>
          <a:prstGeom prst="rect">
            <a:avLst/>
          </a:prstGeom>
          <a:solidFill>
            <a:srgbClr val="E7E6DF"/>
          </a:solidFill>
          <a:ln/>
        </p:spPr>
      </p:sp>
      <p:sp>
        <p:nvSpPr>
          <p:cNvPr id="19" name="Text 17"/>
          <p:cNvSpPr/>
          <p:nvPr/>
        </p:nvSpPr>
        <p:spPr>
          <a:xfrm>
            <a:off x="1000125" y="3046065"/>
            <a:ext cx="5469255" cy="190500"/>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9A9A93"/>
                </a:solidFill>
                <a:latin typeface="Courier New" pitchFamily="34" charset="0"/>
                <a:ea typeface="Courier New" pitchFamily="34" charset="-122"/>
                <a:cs typeface="Courier New" pitchFamily="34" charset="-120"/>
              </a:rPr>
              <a:t>FREQUENCY</a:t>
            </a:r>
            <a:endParaRPr lang="en-US" sz="900" dirty="0"/>
          </a:p>
        </p:txBody>
      </p:sp>
      <p:sp>
        <p:nvSpPr>
          <p:cNvPr id="20" name="Text 18"/>
          <p:cNvSpPr/>
          <p:nvPr/>
        </p:nvSpPr>
        <p:spPr>
          <a:xfrm>
            <a:off x="1000125" y="3236565"/>
            <a:ext cx="5469255"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18181B"/>
                </a:solidFill>
                <a:latin typeface="Arial" pitchFamily="34" charset="0"/>
                <a:ea typeface="Arial" pitchFamily="34" charset="-122"/>
                <a:cs typeface="Arial" pitchFamily="34" charset="-120"/>
              </a:rPr>
              <a:t>Cadence</a:t>
            </a:r>
            <a:endParaRPr lang="en-US" sz="1650" dirty="0"/>
          </a:p>
        </p:txBody>
      </p:sp>
      <p:sp>
        <p:nvSpPr>
          <p:cNvPr id="21" name="Shape 19"/>
          <p:cNvSpPr/>
          <p:nvPr/>
        </p:nvSpPr>
        <p:spPr>
          <a:xfrm>
            <a:off x="1000125" y="4169048"/>
            <a:ext cx="4972050" cy="9525"/>
          </a:xfrm>
          <a:prstGeom prst="rect">
            <a:avLst/>
          </a:prstGeom>
          <a:solidFill>
            <a:srgbClr val="F1F0EB"/>
          </a:solidFill>
          <a:ln/>
        </p:spPr>
      </p:sp>
      <p:sp>
        <p:nvSpPr>
          <p:cNvPr id="22" name="Text 20"/>
          <p:cNvSpPr/>
          <p:nvPr/>
        </p:nvSpPr>
        <p:spPr>
          <a:xfrm>
            <a:off x="1000125" y="3646140"/>
            <a:ext cx="1724940" cy="209550"/>
          </a:xfrm>
          <a:prstGeom prst="rect">
            <a:avLst/>
          </a:prstGeom>
          <a:noFill/>
          <a:ln/>
        </p:spPr>
        <p:txBody>
          <a:bodyPr wrap="square" lIns="25400" tIns="25400" rIns="25400" bIns="25400" rtlCol="0" anchor="t">
            <a:normAutofit/>
          </a:bodyPr>
          <a:lstStyle/>
          <a:p>
            <a:pPr algn="l" indent="0" marL="0">
              <a:buNone/>
            </a:pPr>
            <a:r>
              <a:rPr lang="en-US" sz="1238" b="1" dirty="0">
                <a:solidFill>
                  <a:srgbClr val="18181B"/>
                </a:solidFill>
                <a:latin typeface="Arial" pitchFamily="34" charset="0"/>
                <a:ea typeface="Arial" pitchFamily="34" charset="-122"/>
                <a:cs typeface="Arial" pitchFamily="34" charset="-120"/>
              </a:rPr>
              <a:t>etcd snapshot</a:t>
            </a:r>
            <a:endParaRPr lang="en-US" sz="1238" dirty="0"/>
          </a:p>
        </p:txBody>
      </p:sp>
      <p:sp>
        <p:nvSpPr>
          <p:cNvPr id="23" name="Text 21"/>
          <p:cNvSpPr/>
          <p:nvPr/>
        </p:nvSpPr>
        <p:spPr>
          <a:xfrm>
            <a:off x="1000125" y="3836640"/>
            <a:ext cx="1724940" cy="218108"/>
          </a:xfrm>
          <a:prstGeom prst="rect">
            <a:avLst/>
          </a:prstGeom>
          <a:noFill/>
          <a:ln/>
        </p:spPr>
        <p:txBody>
          <a:bodyPr wrap="square" lIns="25400" tIns="25400" rIns="25400" bIns="25400" rtlCol="0" anchor="t">
            <a:normAutofit/>
          </a:bodyPr>
          <a:lstStyle/>
          <a:p>
            <a:pPr algn="l" indent="0" marL="0">
              <a:lnSpc>
                <a:spcPct val="140000"/>
              </a:lnSpc>
              <a:buNone/>
            </a:pPr>
            <a:r>
              <a:rPr lang="en-US" sz="1013" dirty="0">
                <a:solidFill>
                  <a:srgbClr val="9A9A93"/>
                </a:solidFill>
                <a:latin typeface="Arial" pitchFamily="34" charset="0"/>
                <a:ea typeface="Arial" pitchFamily="34" charset="-122"/>
                <a:cs typeface="Arial" pitchFamily="34" charset="-120"/>
              </a:rPr>
              <a:t>Critical control-plane state.</a:t>
            </a:r>
            <a:endParaRPr lang="en-US" sz="1013" dirty="0"/>
          </a:p>
        </p:txBody>
      </p:sp>
      <p:sp>
        <p:nvSpPr>
          <p:cNvPr id="24" name="Text 22"/>
          <p:cNvSpPr/>
          <p:nvPr/>
        </p:nvSpPr>
        <p:spPr>
          <a:xfrm>
            <a:off x="5095280" y="3646140"/>
            <a:ext cx="876895" cy="238125"/>
          </a:xfrm>
          <a:prstGeom prst="rect">
            <a:avLst/>
          </a:prstGeom>
          <a:noFill/>
          <a:ln/>
        </p:spPr>
        <p:txBody>
          <a:bodyPr wrap="none" lIns="25400" tIns="25400" rIns="25400" bIns="25400" rtlCol="0" anchor="t">
            <a:normAutofit/>
          </a:bodyPr>
          <a:lstStyle/>
          <a:p>
            <a:pPr algn="r" indent="0" marL="0">
              <a:buNone/>
            </a:pPr>
            <a:r>
              <a:rPr lang="en-US" sz="1350" b="1" dirty="0">
                <a:solidFill>
                  <a:srgbClr val="21478F"/>
                </a:solidFill>
                <a:latin typeface="Arial" pitchFamily="34" charset="0"/>
                <a:ea typeface="Arial" pitchFamily="34" charset="-122"/>
                <a:cs typeface="Arial" pitchFamily="34" charset="-120"/>
              </a:rPr>
              <a:t>15–30 min</a:t>
            </a:r>
            <a:endParaRPr lang="en-US" sz="1350" dirty="0"/>
          </a:p>
        </p:txBody>
      </p:sp>
      <p:sp>
        <p:nvSpPr>
          <p:cNvPr id="25" name="Text 23"/>
          <p:cNvSpPr/>
          <p:nvPr/>
        </p:nvSpPr>
        <p:spPr>
          <a:xfrm>
            <a:off x="5095280" y="3846165"/>
            <a:ext cx="876895" cy="176212"/>
          </a:xfrm>
          <a:prstGeom prst="rect">
            <a:avLst/>
          </a:prstGeom>
          <a:noFill/>
          <a:ln/>
        </p:spPr>
        <p:txBody>
          <a:bodyPr wrap="square" lIns="25400" tIns="25400" rIns="25400" bIns="25400" rtlCol="0" anchor="t">
            <a:normAutofit/>
          </a:bodyPr>
          <a:lstStyle/>
          <a:p>
            <a:pPr algn="r" indent="0" marL="0">
              <a:buNone/>
            </a:pPr>
            <a:r>
              <a:rPr lang="en-US" sz="825" dirty="0">
                <a:solidFill>
                  <a:srgbClr val="9A9A93"/>
                </a:solidFill>
                <a:latin typeface="Courier New" pitchFamily="34" charset="0"/>
                <a:ea typeface="Courier New" pitchFamily="34" charset="-122"/>
                <a:cs typeface="Courier New" pitchFamily="34" charset="-120"/>
              </a:rPr>
              <a:t>tight RPO</a:t>
            </a:r>
            <a:endParaRPr lang="en-US" sz="825" dirty="0"/>
          </a:p>
        </p:txBody>
      </p:sp>
      <p:sp>
        <p:nvSpPr>
          <p:cNvPr id="26" name="Shape 24"/>
          <p:cNvSpPr/>
          <p:nvPr/>
        </p:nvSpPr>
        <p:spPr>
          <a:xfrm>
            <a:off x="1000125" y="6941121"/>
            <a:ext cx="4972050" cy="9525"/>
          </a:xfrm>
          <a:prstGeom prst="rect">
            <a:avLst/>
          </a:prstGeom>
          <a:solidFill>
            <a:srgbClr val="F1F0EB"/>
          </a:solidFill>
          <a:ln/>
        </p:spPr>
      </p:sp>
      <p:sp>
        <p:nvSpPr>
          <p:cNvPr id="27" name="Text 25"/>
          <p:cNvSpPr/>
          <p:nvPr/>
        </p:nvSpPr>
        <p:spPr>
          <a:xfrm>
            <a:off x="1000125" y="6418213"/>
            <a:ext cx="2071680" cy="209550"/>
          </a:xfrm>
          <a:prstGeom prst="rect">
            <a:avLst/>
          </a:prstGeom>
          <a:noFill/>
          <a:ln/>
        </p:spPr>
        <p:txBody>
          <a:bodyPr wrap="square" lIns="25400" tIns="25400" rIns="25400" bIns="25400" rtlCol="0" anchor="t">
            <a:normAutofit/>
          </a:bodyPr>
          <a:lstStyle/>
          <a:p>
            <a:pPr algn="l" indent="0" marL="0">
              <a:buNone/>
            </a:pPr>
            <a:r>
              <a:rPr lang="en-US" sz="1238" b="1" dirty="0">
                <a:solidFill>
                  <a:srgbClr val="18181B"/>
                </a:solidFill>
                <a:latin typeface="Arial" pitchFamily="34" charset="0"/>
                <a:ea typeface="Arial" pitchFamily="34" charset="-122"/>
                <a:cs typeface="Arial" pitchFamily="34" charset="-120"/>
              </a:rPr>
              <a:t>Namespace &amp; app data</a:t>
            </a:r>
            <a:endParaRPr lang="en-US" sz="1238" dirty="0"/>
          </a:p>
        </p:txBody>
      </p:sp>
      <p:sp>
        <p:nvSpPr>
          <p:cNvPr id="28" name="Text 26"/>
          <p:cNvSpPr/>
          <p:nvPr/>
        </p:nvSpPr>
        <p:spPr>
          <a:xfrm>
            <a:off x="1000125" y="6608713"/>
            <a:ext cx="2071680" cy="218108"/>
          </a:xfrm>
          <a:prstGeom prst="rect">
            <a:avLst/>
          </a:prstGeom>
          <a:noFill/>
          <a:ln/>
        </p:spPr>
        <p:txBody>
          <a:bodyPr wrap="square" lIns="25400" tIns="25400" rIns="25400" bIns="25400" rtlCol="0" anchor="t">
            <a:normAutofit/>
          </a:bodyPr>
          <a:lstStyle/>
          <a:p>
            <a:pPr algn="l" indent="0" marL="0">
              <a:lnSpc>
                <a:spcPct val="140000"/>
              </a:lnSpc>
              <a:buNone/>
            </a:pPr>
            <a:r>
              <a:rPr lang="en-US" sz="1013" dirty="0">
                <a:solidFill>
                  <a:srgbClr val="9A9A93"/>
                </a:solidFill>
                <a:latin typeface="Arial" pitchFamily="34" charset="0"/>
                <a:ea typeface="Arial" pitchFamily="34" charset="-122"/>
                <a:cs typeface="Arial" pitchFamily="34" charset="-120"/>
              </a:rPr>
              <a:t>Persistent volumes &amp; workloads.</a:t>
            </a:r>
            <a:endParaRPr lang="en-US" sz="1013" dirty="0"/>
          </a:p>
        </p:txBody>
      </p:sp>
      <p:sp>
        <p:nvSpPr>
          <p:cNvPr id="29" name="Text 27"/>
          <p:cNvSpPr/>
          <p:nvPr/>
        </p:nvSpPr>
        <p:spPr>
          <a:xfrm>
            <a:off x="4980980" y="6418213"/>
            <a:ext cx="991195" cy="238125"/>
          </a:xfrm>
          <a:prstGeom prst="rect">
            <a:avLst/>
          </a:prstGeom>
          <a:noFill/>
          <a:ln/>
        </p:spPr>
        <p:txBody>
          <a:bodyPr wrap="none" lIns="25400" tIns="25400" rIns="25400" bIns="25400" rtlCol="0" anchor="t">
            <a:normAutofit/>
          </a:bodyPr>
          <a:lstStyle/>
          <a:p>
            <a:pPr algn="r" indent="0" marL="0">
              <a:buNone/>
            </a:pPr>
            <a:r>
              <a:rPr lang="en-US" sz="1350" b="1" dirty="0">
                <a:solidFill>
                  <a:srgbClr val="21478F"/>
                </a:solidFill>
                <a:latin typeface="Arial" pitchFamily="34" charset="0"/>
                <a:ea typeface="Arial" pitchFamily="34" charset="-122"/>
                <a:cs typeface="Arial" pitchFamily="34" charset="-120"/>
              </a:rPr>
              <a:t>hourly–daily</a:t>
            </a:r>
            <a:endParaRPr lang="en-US" sz="1350" dirty="0"/>
          </a:p>
        </p:txBody>
      </p:sp>
      <p:sp>
        <p:nvSpPr>
          <p:cNvPr id="30" name="Text 28"/>
          <p:cNvSpPr/>
          <p:nvPr/>
        </p:nvSpPr>
        <p:spPr>
          <a:xfrm>
            <a:off x="4980980" y="6618238"/>
            <a:ext cx="991195" cy="176212"/>
          </a:xfrm>
          <a:prstGeom prst="rect">
            <a:avLst/>
          </a:prstGeom>
          <a:noFill/>
          <a:ln/>
        </p:spPr>
        <p:txBody>
          <a:bodyPr wrap="square" lIns="25400" tIns="25400" rIns="25400" bIns="25400" rtlCol="0" anchor="t">
            <a:normAutofit/>
          </a:bodyPr>
          <a:lstStyle/>
          <a:p>
            <a:pPr algn="r" indent="0" marL="0">
              <a:buNone/>
            </a:pPr>
            <a:r>
              <a:rPr lang="en-US" sz="825" dirty="0">
                <a:solidFill>
                  <a:srgbClr val="9A9A93"/>
                </a:solidFill>
                <a:latin typeface="Courier New" pitchFamily="34" charset="0"/>
                <a:ea typeface="Courier New" pitchFamily="34" charset="-122"/>
                <a:cs typeface="Courier New" pitchFamily="34" charset="-120"/>
              </a:rPr>
              <a:t>by criticality</a:t>
            </a:r>
            <a:endParaRPr lang="en-US" sz="825" dirty="0"/>
          </a:p>
        </p:txBody>
      </p:sp>
      <p:sp>
        <p:nvSpPr>
          <p:cNvPr id="31" name="Text 29"/>
          <p:cNvSpPr/>
          <p:nvPr/>
        </p:nvSpPr>
        <p:spPr>
          <a:xfrm>
            <a:off x="1000125" y="9171236"/>
            <a:ext cx="5121212" cy="420439"/>
          </a:xfrm>
          <a:prstGeom prst="rect">
            <a:avLst/>
          </a:prstGeom>
          <a:noFill/>
          <a:ln/>
        </p:spPr>
        <p:txBody>
          <a:bodyPr wrap="square" lIns="25400" tIns="25400" rIns="25400" bIns="25400" rtlCol="0" anchor="t">
            <a:normAutofit/>
          </a:bodyPr>
          <a:lstStyle/>
          <a:p>
            <a:pPr algn="l" indent="0" marL="0">
              <a:lnSpc>
                <a:spcPct val="145000"/>
              </a:lnSpc>
              <a:buNone/>
            </a:pPr>
            <a:r>
              <a:rPr lang="en-US" sz="1013" dirty="0">
                <a:solidFill>
                  <a:srgbClr val="71717A"/>
                </a:solidFill>
                <a:latin typeface="Arial" pitchFamily="34" charset="0"/>
                <a:ea typeface="Arial" pitchFamily="34" charset="-122"/>
                <a:cs typeface="Arial" pitchFamily="34" charset="-120"/>
              </a:rPr>
              <a:t>DORA &amp; NIST set frequency from the </a:t>
            </a:r>
            <a:pPr algn="l" indent="0" marL="0">
              <a:lnSpc>
                <a:spcPct val="145000"/>
              </a:lnSpc>
              <a:buNone/>
            </a:pPr>
            <a:r>
              <a:rPr lang="en-US" sz="1013" b="1" dirty="0">
                <a:solidFill>
                  <a:srgbClr val="27303B"/>
                </a:solidFill>
                <a:latin typeface="Arial" pitchFamily="34" charset="0"/>
                <a:ea typeface="Arial" pitchFamily="34" charset="-122"/>
                <a:cs typeface="Arial" pitchFamily="34" charset="-120"/>
              </a:rPr>
              <a:t>RPO and business criticality </a:t>
            </a:r>
            <a:pPr algn="l" indent="0" marL="0">
              <a:lnSpc>
                <a:spcPct val="145000"/>
              </a:lnSpc>
              <a:buNone/>
            </a:pPr>
            <a:r>
              <a:rPr lang="en-US" sz="1013" dirty="0">
                <a:solidFill>
                  <a:srgbClr val="71717A"/>
                </a:solidFill>
                <a:latin typeface="Arial" pitchFamily="34" charset="0"/>
                <a:ea typeface="Arial" pitchFamily="34" charset="-122"/>
                <a:cs typeface="Arial" pitchFamily="34" charset="-120"/>
              </a:rPr>
              <a:t>of each tier — not a fixed interval.</a:t>
            </a:r>
            <a:endParaRPr lang="en-US" sz="1013" dirty="0"/>
          </a:p>
        </p:txBody>
      </p:sp>
      <p:sp>
        <p:nvSpPr>
          <p:cNvPr id="32" name="Shape 30"/>
          <p:cNvSpPr/>
          <p:nvPr/>
        </p:nvSpPr>
        <p:spPr>
          <a:xfrm>
            <a:off x="6419850" y="2788890"/>
            <a:ext cx="5448300" cy="7002810"/>
          </a:xfrm>
          <a:prstGeom prst="roundRect">
            <a:avLst>
              <a:gd name="adj" fmla="val 2448"/>
            </a:avLst>
          </a:prstGeom>
          <a:solidFill>
            <a:srgbClr val="FFFFFF"/>
          </a:solidFill>
          <a:ln/>
          <a:effectLst>
            <a:outerShdw sx="100000" sy="100000" kx="0" ky="0" algn="bl" rotWithShape="0" blurRad="19050" dist="9525" dir="5400000">
              <a:srgbClr val="141414">
                <a:alpha val="4000"/>
              </a:srgbClr>
            </a:outerShdw>
          </a:effectLst>
        </p:spPr>
      </p:sp>
      <p:sp>
        <p:nvSpPr>
          <p:cNvPr id="33" name="Shape 31"/>
          <p:cNvSpPr/>
          <p:nvPr/>
        </p:nvSpPr>
        <p:spPr>
          <a:xfrm>
            <a:off x="6419850" y="9782175"/>
            <a:ext cx="5448300" cy="9525"/>
          </a:xfrm>
          <a:prstGeom prst="rect">
            <a:avLst/>
          </a:prstGeom>
          <a:solidFill>
            <a:srgbClr val="E7E6DF"/>
          </a:solidFill>
          <a:ln/>
        </p:spPr>
      </p:sp>
      <p:sp>
        <p:nvSpPr>
          <p:cNvPr id="34" name="Shape 32"/>
          <p:cNvSpPr/>
          <p:nvPr/>
        </p:nvSpPr>
        <p:spPr>
          <a:xfrm>
            <a:off x="6419850" y="2788890"/>
            <a:ext cx="5448300" cy="28575"/>
          </a:xfrm>
          <a:prstGeom prst="rect">
            <a:avLst/>
          </a:prstGeom>
          <a:solidFill>
            <a:srgbClr val="1F8A5B"/>
          </a:solidFill>
          <a:ln/>
        </p:spPr>
      </p:sp>
      <p:sp>
        <p:nvSpPr>
          <p:cNvPr id="35" name="Shape 33"/>
          <p:cNvSpPr/>
          <p:nvPr/>
        </p:nvSpPr>
        <p:spPr>
          <a:xfrm>
            <a:off x="6419850" y="2788890"/>
            <a:ext cx="9525" cy="7002810"/>
          </a:xfrm>
          <a:prstGeom prst="rect">
            <a:avLst/>
          </a:prstGeom>
          <a:solidFill>
            <a:srgbClr val="E7E6DF"/>
          </a:solidFill>
          <a:ln/>
        </p:spPr>
      </p:sp>
      <p:sp>
        <p:nvSpPr>
          <p:cNvPr id="36" name="Shape 34"/>
          <p:cNvSpPr/>
          <p:nvPr/>
        </p:nvSpPr>
        <p:spPr>
          <a:xfrm>
            <a:off x="11858625" y="2788890"/>
            <a:ext cx="9525" cy="7002810"/>
          </a:xfrm>
          <a:prstGeom prst="rect">
            <a:avLst/>
          </a:prstGeom>
          <a:solidFill>
            <a:srgbClr val="E7E6DF"/>
          </a:solidFill>
          <a:ln/>
        </p:spPr>
      </p:sp>
      <p:sp>
        <p:nvSpPr>
          <p:cNvPr id="37" name="Text 35"/>
          <p:cNvSpPr/>
          <p:nvPr/>
        </p:nvSpPr>
        <p:spPr>
          <a:xfrm>
            <a:off x="6657975" y="3046065"/>
            <a:ext cx="5469255" cy="190500"/>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9A9A93"/>
                </a:solidFill>
                <a:latin typeface="Courier New" pitchFamily="34" charset="0"/>
                <a:ea typeface="Courier New" pitchFamily="34" charset="-122"/>
                <a:cs typeface="Courier New" pitchFamily="34" charset="-120"/>
              </a:rPr>
              <a:t>REQUIRED RETENTION</a:t>
            </a:r>
            <a:endParaRPr lang="en-US" sz="900" dirty="0"/>
          </a:p>
        </p:txBody>
      </p:sp>
      <p:sp>
        <p:nvSpPr>
          <p:cNvPr id="38" name="Text 36"/>
          <p:cNvSpPr/>
          <p:nvPr/>
        </p:nvSpPr>
        <p:spPr>
          <a:xfrm>
            <a:off x="6657975" y="3236565"/>
            <a:ext cx="5469255"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18181B"/>
                </a:solidFill>
                <a:latin typeface="Arial" pitchFamily="34" charset="0"/>
                <a:ea typeface="Arial" pitchFamily="34" charset="-122"/>
                <a:cs typeface="Arial" pitchFamily="34" charset="-120"/>
              </a:rPr>
              <a:t>Operational tiers</a:t>
            </a:r>
            <a:endParaRPr lang="en-US" sz="1650" dirty="0"/>
          </a:p>
        </p:txBody>
      </p:sp>
      <p:sp>
        <p:nvSpPr>
          <p:cNvPr id="39" name="Shape 37"/>
          <p:cNvSpPr/>
          <p:nvPr/>
        </p:nvSpPr>
        <p:spPr>
          <a:xfrm>
            <a:off x="6657975" y="3979515"/>
            <a:ext cx="4972050" cy="9525"/>
          </a:xfrm>
          <a:prstGeom prst="rect">
            <a:avLst/>
          </a:prstGeom>
          <a:solidFill>
            <a:srgbClr val="F1F0EB"/>
          </a:solidFill>
          <a:ln/>
        </p:spPr>
      </p:sp>
      <p:sp>
        <p:nvSpPr>
          <p:cNvPr id="40" name="Text 38"/>
          <p:cNvSpPr/>
          <p:nvPr/>
        </p:nvSpPr>
        <p:spPr>
          <a:xfrm>
            <a:off x="6657975" y="3660428"/>
            <a:ext cx="440382" cy="209550"/>
          </a:xfrm>
          <a:prstGeom prst="rect">
            <a:avLst/>
          </a:prstGeom>
          <a:noFill/>
          <a:ln/>
        </p:spPr>
        <p:txBody>
          <a:bodyPr wrap="square" lIns="25400" tIns="25400" rIns="25400" bIns="25400" rtlCol="0" anchor="t">
            <a:normAutofit/>
          </a:bodyPr>
          <a:lstStyle/>
          <a:p>
            <a:pPr algn="l" indent="0" marL="0">
              <a:buNone/>
            </a:pPr>
            <a:r>
              <a:rPr lang="en-US" sz="1238" b="1" dirty="0">
                <a:solidFill>
                  <a:srgbClr val="18181B"/>
                </a:solidFill>
                <a:latin typeface="Arial" pitchFamily="34" charset="0"/>
                <a:ea typeface="Arial" pitchFamily="34" charset="-122"/>
                <a:cs typeface="Arial" pitchFamily="34" charset="-120"/>
              </a:rPr>
              <a:t>Daily</a:t>
            </a:r>
            <a:endParaRPr lang="en-US" sz="1238" dirty="0"/>
          </a:p>
        </p:txBody>
      </p:sp>
      <p:sp>
        <p:nvSpPr>
          <p:cNvPr id="41" name="Text 39"/>
          <p:cNvSpPr/>
          <p:nvPr/>
        </p:nvSpPr>
        <p:spPr>
          <a:xfrm>
            <a:off x="11029504" y="3646140"/>
            <a:ext cx="676721"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15724A"/>
                </a:solidFill>
                <a:latin typeface="Arial" pitchFamily="34" charset="0"/>
                <a:ea typeface="Arial" pitchFamily="34" charset="-122"/>
                <a:cs typeface="Arial" pitchFamily="34" charset="-120"/>
              </a:rPr>
              <a:t>30 days</a:t>
            </a:r>
            <a:endParaRPr lang="en-US" sz="1350" dirty="0"/>
          </a:p>
        </p:txBody>
      </p:sp>
      <p:sp>
        <p:nvSpPr>
          <p:cNvPr id="42" name="Shape 40"/>
          <p:cNvSpPr/>
          <p:nvPr/>
        </p:nvSpPr>
        <p:spPr>
          <a:xfrm>
            <a:off x="6657975" y="5883325"/>
            <a:ext cx="4972050" cy="9525"/>
          </a:xfrm>
          <a:prstGeom prst="rect">
            <a:avLst/>
          </a:prstGeom>
          <a:solidFill>
            <a:srgbClr val="F1F0EB"/>
          </a:solidFill>
          <a:ln/>
        </p:spPr>
      </p:sp>
      <p:sp>
        <p:nvSpPr>
          <p:cNvPr id="43" name="Text 41"/>
          <p:cNvSpPr/>
          <p:nvPr/>
        </p:nvSpPr>
        <p:spPr>
          <a:xfrm>
            <a:off x="6657975" y="5564237"/>
            <a:ext cx="602754" cy="209550"/>
          </a:xfrm>
          <a:prstGeom prst="rect">
            <a:avLst/>
          </a:prstGeom>
          <a:noFill/>
          <a:ln/>
        </p:spPr>
        <p:txBody>
          <a:bodyPr wrap="square" lIns="25400" tIns="25400" rIns="25400" bIns="25400" rtlCol="0" anchor="t">
            <a:normAutofit/>
          </a:bodyPr>
          <a:lstStyle/>
          <a:p>
            <a:pPr algn="l" indent="0" marL="0">
              <a:buNone/>
            </a:pPr>
            <a:r>
              <a:rPr lang="en-US" sz="1238" b="1" dirty="0">
                <a:solidFill>
                  <a:srgbClr val="18181B"/>
                </a:solidFill>
                <a:latin typeface="Arial" pitchFamily="34" charset="0"/>
                <a:ea typeface="Arial" pitchFamily="34" charset="-122"/>
                <a:cs typeface="Arial" pitchFamily="34" charset="-120"/>
              </a:rPr>
              <a:t>Weekly</a:t>
            </a:r>
            <a:endParaRPr lang="en-US" sz="1238" dirty="0"/>
          </a:p>
        </p:txBody>
      </p:sp>
      <p:sp>
        <p:nvSpPr>
          <p:cNvPr id="44" name="Text 42"/>
          <p:cNvSpPr/>
          <p:nvPr/>
        </p:nvSpPr>
        <p:spPr>
          <a:xfrm>
            <a:off x="10905679" y="5549950"/>
            <a:ext cx="800546"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15724A"/>
                </a:solidFill>
                <a:latin typeface="Arial" pitchFamily="34" charset="0"/>
                <a:ea typeface="Arial" pitchFamily="34" charset="-122"/>
                <a:cs typeface="Arial" pitchFamily="34" charset="-120"/>
              </a:rPr>
              <a:t>12 weeks</a:t>
            </a:r>
            <a:endParaRPr lang="en-US" sz="1350" dirty="0"/>
          </a:p>
        </p:txBody>
      </p:sp>
      <p:sp>
        <p:nvSpPr>
          <p:cNvPr id="45" name="Shape 43"/>
          <p:cNvSpPr/>
          <p:nvPr/>
        </p:nvSpPr>
        <p:spPr>
          <a:xfrm>
            <a:off x="6657975" y="7787208"/>
            <a:ext cx="4972050" cy="9525"/>
          </a:xfrm>
          <a:prstGeom prst="rect">
            <a:avLst/>
          </a:prstGeom>
          <a:solidFill>
            <a:srgbClr val="F1F0EB"/>
          </a:solidFill>
          <a:ln/>
        </p:spPr>
      </p:sp>
      <p:sp>
        <p:nvSpPr>
          <p:cNvPr id="46" name="Text 44"/>
          <p:cNvSpPr/>
          <p:nvPr/>
        </p:nvSpPr>
        <p:spPr>
          <a:xfrm>
            <a:off x="6657975" y="7468121"/>
            <a:ext cx="658490" cy="209550"/>
          </a:xfrm>
          <a:prstGeom prst="rect">
            <a:avLst/>
          </a:prstGeom>
          <a:noFill/>
          <a:ln/>
        </p:spPr>
        <p:txBody>
          <a:bodyPr wrap="square" lIns="25400" tIns="25400" rIns="25400" bIns="25400" rtlCol="0" anchor="t">
            <a:normAutofit/>
          </a:bodyPr>
          <a:lstStyle/>
          <a:p>
            <a:pPr algn="l" indent="0" marL="0">
              <a:buNone/>
            </a:pPr>
            <a:r>
              <a:rPr lang="en-US" sz="1238" b="1" dirty="0">
                <a:solidFill>
                  <a:srgbClr val="18181B"/>
                </a:solidFill>
                <a:latin typeface="Arial" pitchFamily="34" charset="0"/>
                <a:ea typeface="Arial" pitchFamily="34" charset="-122"/>
                <a:cs typeface="Arial" pitchFamily="34" charset="-120"/>
              </a:rPr>
              <a:t>Monthly</a:t>
            </a:r>
            <a:endParaRPr lang="en-US" sz="1238" dirty="0"/>
          </a:p>
        </p:txBody>
      </p:sp>
      <p:sp>
        <p:nvSpPr>
          <p:cNvPr id="47" name="Text 45"/>
          <p:cNvSpPr/>
          <p:nvPr/>
        </p:nvSpPr>
        <p:spPr>
          <a:xfrm>
            <a:off x="10829404" y="7453833"/>
            <a:ext cx="876821"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15724A"/>
                </a:solidFill>
                <a:latin typeface="Arial" pitchFamily="34" charset="0"/>
                <a:ea typeface="Arial" pitchFamily="34" charset="-122"/>
                <a:cs typeface="Arial" pitchFamily="34" charset="-120"/>
              </a:rPr>
              <a:t>12 months</a:t>
            </a:r>
            <a:endParaRPr lang="en-US" sz="1350" dirty="0"/>
          </a:p>
        </p:txBody>
      </p:sp>
      <p:sp>
        <p:nvSpPr>
          <p:cNvPr id="48" name="Text 46"/>
          <p:cNvSpPr/>
          <p:nvPr/>
        </p:nvSpPr>
        <p:spPr>
          <a:xfrm>
            <a:off x="6657975" y="9357643"/>
            <a:ext cx="5121212" cy="234032"/>
          </a:xfrm>
          <a:prstGeom prst="rect">
            <a:avLst/>
          </a:prstGeom>
          <a:noFill/>
          <a:ln/>
        </p:spPr>
        <p:txBody>
          <a:bodyPr wrap="square" lIns="25400" tIns="25400" rIns="25400" bIns="25400" rtlCol="0" anchor="t">
            <a:normAutofit/>
          </a:bodyPr>
          <a:lstStyle/>
          <a:p>
            <a:pPr algn="l" indent="0" marL="0">
              <a:lnSpc>
                <a:spcPct val="145000"/>
              </a:lnSpc>
              <a:buNone/>
            </a:pPr>
            <a:r>
              <a:rPr lang="en-US" sz="1013" dirty="0">
                <a:solidFill>
                  <a:srgbClr val="71717A"/>
                </a:solidFill>
                <a:latin typeface="Arial" pitchFamily="34" charset="0"/>
                <a:ea typeface="Arial" pitchFamily="34" charset="-122"/>
                <a:cs typeface="Arial" pitchFamily="34" charset="-120"/>
              </a:rPr>
              <a:t>Covers day-to-day recovery and the regular </a:t>
            </a:r>
            <a:pPr algn="l" indent="0" marL="0">
              <a:lnSpc>
                <a:spcPct val="145000"/>
              </a:lnSpc>
              <a:buNone/>
            </a:pPr>
            <a:r>
              <a:rPr lang="en-US" sz="1013" b="1" dirty="0">
                <a:solidFill>
                  <a:srgbClr val="27303B"/>
                </a:solidFill>
                <a:latin typeface="Arial" pitchFamily="34" charset="0"/>
                <a:ea typeface="Arial" pitchFamily="34" charset="-122"/>
                <a:cs typeface="Arial" pitchFamily="34" charset="-120"/>
              </a:rPr>
              <a:t>restore testing </a:t>
            </a:r>
            <a:pPr algn="l" indent="0" marL="0">
              <a:lnSpc>
                <a:spcPct val="145000"/>
              </a:lnSpc>
              <a:buNone/>
            </a:pPr>
            <a:r>
              <a:rPr lang="en-US" sz="1013" dirty="0">
                <a:solidFill>
                  <a:srgbClr val="71717A"/>
                </a:solidFill>
                <a:latin typeface="Arial" pitchFamily="34" charset="0"/>
                <a:ea typeface="Arial" pitchFamily="34" charset="-122"/>
                <a:cs typeface="Arial" pitchFamily="34" charset="-120"/>
              </a:rPr>
              <a:t>DORA requires.</a:t>
            </a:r>
            <a:endParaRPr lang="en-US" sz="1013" dirty="0"/>
          </a:p>
        </p:txBody>
      </p:sp>
      <p:sp>
        <p:nvSpPr>
          <p:cNvPr id="49" name="Shape 47"/>
          <p:cNvSpPr/>
          <p:nvPr/>
        </p:nvSpPr>
        <p:spPr>
          <a:xfrm>
            <a:off x="12077700" y="2788890"/>
            <a:ext cx="5448300" cy="7002810"/>
          </a:xfrm>
          <a:prstGeom prst="roundRect">
            <a:avLst>
              <a:gd name="adj" fmla="val 2448"/>
            </a:avLst>
          </a:prstGeom>
          <a:solidFill>
            <a:srgbClr val="102A52"/>
          </a:solidFill>
          <a:ln w="9525">
            <a:solidFill>
              <a:srgbClr val="102A52"/>
            </a:solidFill>
            <a:prstDash val="solid"/>
          </a:ln>
          <a:effectLst>
            <a:outerShdw sx="100000" sy="100000" kx="0" ky="0" algn="bl" rotWithShape="0" blurRad="171450" dist="57150" dir="5400000">
              <a:srgbClr val="102A52">
                <a:alpha val="18000"/>
              </a:srgbClr>
            </a:outerShdw>
          </a:effectLst>
        </p:spPr>
      </p:sp>
      <p:sp>
        <p:nvSpPr>
          <p:cNvPr id="50" name="Text 48"/>
          <p:cNvSpPr/>
          <p:nvPr/>
        </p:nvSpPr>
        <p:spPr>
          <a:xfrm>
            <a:off x="12315825" y="3036540"/>
            <a:ext cx="1006673" cy="190500"/>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7E9AC9"/>
                </a:solidFill>
                <a:latin typeface="Courier New" pitchFamily="34" charset="0"/>
                <a:ea typeface="Courier New" pitchFamily="34" charset="-122"/>
                <a:cs typeface="Courier New" pitchFamily="34" charset="-120"/>
              </a:rPr>
              <a:t>IF REQUIRED</a:t>
            </a:r>
            <a:endParaRPr lang="en-US" sz="900" dirty="0"/>
          </a:p>
        </p:txBody>
      </p:sp>
      <p:sp>
        <p:nvSpPr>
          <p:cNvPr id="51" name="Shape 49"/>
          <p:cNvSpPr/>
          <p:nvPr/>
        </p:nvSpPr>
        <p:spPr>
          <a:xfrm>
            <a:off x="13332023" y="3027015"/>
            <a:ext cx="613470" cy="171450"/>
          </a:xfrm>
          <a:prstGeom prst="roundRect">
            <a:avLst>
              <a:gd name="adj" fmla="val 27778"/>
            </a:avLst>
          </a:prstGeom>
          <a:solidFill>
            <a:srgbClr val="9FC0FF"/>
          </a:solidFill>
          <a:ln/>
        </p:spPr>
      </p:sp>
      <p:sp>
        <p:nvSpPr>
          <p:cNvPr id="52" name="Text 50"/>
          <p:cNvSpPr/>
          <p:nvPr/>
        </p:nvSpPr>
        <p:spPr>
          <a:xfrm>
            <a:off x="13398698" y="3046065"/>
            <a:ext cx="556320" cy="171450"/>
          </a:xfrm>
          <a:prstGeom prst="rect">
            <a:avLst/>
          </a:prstGeom>
          <a:noFill/>
          <a:ln/>
        </p:spPr>
        <p:txBody>
          <a:bodyPr wrap="square" lIns="25400" tIns="25400" rIns="25400" bIns="25400" rtlCol="0" anchor="t">
            <a:normAutofit/>
          </a:bodyPr>
          <a:lstStyle/>
          <a:p>
            <a:pPr algn="l" indent="0" marL="0">
              <a:buNone/>
            </a:pPr>
            <a:r>
              <a:rPr lang="en-US" sz="788" dirty="0">
                <a:solidFill>
                  <a:srgbClr val="0F2747"/>
                </a:solidFill>
                <a:latin typeface="Courier New" pitchFamily="34" charset="0"/>
                <a:ea typeface="Courier New" pitchFamily="34" charset="-122"/>
                <a:cs typeface="Courier New" pitchFamily="34" charset="-120"/>
              </a:rPr>
              <a:t>OPTIONAL</a:t>
            </a:r>
            <a:endParaRPr lang="en-US" sz="788" dirty="0"/>
          </a:p>
        </p:txBody>
      </p:sp>
      <p:sp>
        <p:nvSpPr>
          <p:cNvPr id="53" name="Text 51"/>
          <p:cNvSpPr/>
          <p:nvPr/>
        </p:nvSpPr>
        <p:spPr>
          <a:xfrm>
            <a:off x="12315825" y="3236565"/>
            <a:ext cx="5469255"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Arial" pitchFamily="34" charset="0"/>
                <a:ea typeface="Arial" pitchFamily="34" charset="-122"/>
                <a:cs typeface="Arial" pitchFamily="34" charset="-120"/>
              </a:rPr>
              <a:t>Immutable long-term</a:t>
            </a:r>
            <a:endParaRPr lang="en-US" sz="1650" dirty="0"/>
          </a:p>
        </p:txBody>
      </p:sp>
      <p:sp>
        <p:nvSpPr>
          <p:cNvPr id="54" name="Shape 52"/>
          <p:cNvSpPr/>
          <p:nvPr/>
        </p:nvSpPr>
        <p:spPr>
          <a:xfrm>
            <a:off x="12315825" y="3979515"/>
            <a:ext cx="4972050" cy="9525"/>
          </a:xfrm>
          <a:prstGeom prst="rect">
            <a:avLst/>
          </a:prstGeom>
          <a:solidFill>
            <a:srgbClr val="FFFFFF">
              <a:alpha val="12000"/>
            </a:srgbClr>
          </a:solidFill>
          <a:ln/>
        </p:spPr>
      </p:sp>
      <p:sp>
        <p:nvSpPr>
          <p:cNvPr id="55" name="Text 53"/>
          <p:cNvSpPr/>
          <p:nvPr/>
        </p:nvSpPr>
        <p:spPr>
          <a:xfrm>
            <a:off x="12315825" y="3660428"/>
            <a:ext cx="1620411" cy="209550"/>
          </a:xfrm>
          <a:prstGeom prst="rect">
            <a:avLst/>
          </a:prstGeom>
          <a:noFill/>
          <a:ln/>
        </p:spPr>
        <p:txBody>
          <a:bodyPr wrap="square" lIns="25400" tIns="25400" rIns="25400" bIns="25400" rtlCol="0" anchor="t">
            <a:normAutofit/>
          </a:bodyPr>
          <a:lstStyle/>
          <a:p>
            <a:pPr algn="l" indent="0" marL="0">
              <a:buNone/>
            </a:pPr>
            <a:r>
              <a:rPr lang="en-US" sz="1238" b="1" dirty="0">
                <a:solidFill>
                  <a:srgbClr val="FFFFFF"/>
                </a:solidFill>
                <a:latin typeface="Arial" pitchFamily="34" charset="0"/>
                <a:ea typeface="Arial" pitchFamily="34" charset="-122"/>
                <a:cs typeface="Arial" pitchFamily="34" charset="-120"/>
              </a:rPr>
              <a:t>Regulatory retention</a:t>
            </a:r>
            <a:endParaRPr lang="en-US" sz="1238" dirty="0"/>
          </a:p>
        </p:txBody>
      </p:sp>
      <p:sp>
        <p:nvSpPr>
          <p:cNvPr id="56" name="Text 54"/>
          <p:cNvSpPr/>
          <p:nvPr/>
        </p:nvSpPr>
        <p:spPr>
          <a:xfrm>
            <a:off x="16487329" y="3646140"/>
            <a:ext cx="876746" cy="238125"/>
          </a:xfrm>
          <a:prstGeom prst="rect">
            <a:avLst/>
          </a:prstGeom>
          <a:noFill/>
          <a:ln/>
        </p:spPr>
        <p:txBody>
          <a:bodyPr wrap="none" lIns="25400" tIns="25400" rIns="25400" bIns="25400" rtlCol="0" anchor="t">
            <a:normAutofit/>
          </a:bodyPr>
          <a:lstStyle/>
          <a:p>
            <a:pPr algn="l" indent="0" marL="0">
              <a:buNone/>
            </a:pPr>
            <a:r>
              <a:rPr lang="en-US" sz="1350" b="1" dirty="0">
                <a:solidFill>
                  <a:srgbClr val="9FC0FF"/>
                </a:solidFill>
                <a:latin typeface="Arial" pitchFamily="34" charset="0"/>
                <a:ea typeface="Arial" pitchFamily="34" charset="-122"/>
                <a:cs typeface="Arial" pitchFamily="34" charset="-120"/>
              </a:rPr>
              <a:t>up to 7 yrs</a:t>
            </a:r>
            <a:endParaRPr lang="en-US" sz="1350" dirty="0"/>
          </a:p>
        </p:txBody>
      </p:sp>
      <p:sp>
        <p:nvSpPr>
          <p:cNvPr id="57" name="Shape 55"/>
          <p:cNvSpPr/>
          <p:nvPr/>
        </p:nvSpPr>
        <p:spPr>
          <a:xfrm>
            <a:off x="12315825" y="5878562"/>
            <a:ext cx="4972050" cy="9525"/>
          </a:xfrm>
          <a:prstGeom prst="rect">
            <a:avLst/>
          </a:prstGeom>
          <a:solidFill>
            <a:srgbClr val="FFFFFF">
              <a:alpha val="12000"/>
            </a:srgbClr>
          </a:solidFill>
          <a:ln/>
        </p:spPr>
      </p:sp>
      <p:sp>
        <p:nvSpPr>
          <p:cNvPr id="58" name="Text 56"/>
          <p:cNvSpPr/>
          <p:nvPr/>
        </p:nvSpPr>
        <p:spPr>
          <a:xfrm>
            <a:off x="12315825" y="5564237"/>
            <a:ext cx="178147" cy="214313"/>
          </a:xfrm>
          <a:prstGeom prst="rect">
            <a:avLst/>
          </a:prstGeom>
          <a:noFill/>
          <a:ln/>
        </p:spPr>
        <p:txBody>
          <a:bodyPr wrap="square" lIns="25400" tIns="25400" rIns="25400" bIns="25400" rtlCol="0" anchor="t">
            <a:normAutofit/>
          </a:bodyPr>
          <a:lstStyle/>
          <a:p>
            <a:pPr algn="l" indent="0" marL="0">
              <a:buNone/>
            </a:pPr>
            <a:r>
              <a:rPr lang="en-US" sz="1050" dirty="0">
                <a:solidFill>
                  <a:srgbClr val="9FC0FF"/>
                </a:solidFill>
                <a:latin typeface="Arial" pitchFamily="34" charset="0"/>
                <a:ea typeface="Arial" pitchFamily="34" charset="-122"/>
                <a:cs typeface="Arial" pitchFamily="34" charset="-120"/>
              </a:rPr>
              <a:t>✓</a:t>
            </a:r>
            <a:endParaRPr lang="en-US" sz="1050" dirty="0"/>
          </a:p>
        </p:txBody>
      </p:sp>
      <p:sp>
        <p:nvSpPr>
          <p:cNvPr id="59" name="Text 57"/>
          <p:cNvSpPr/>
          <p:nvPr/>
        </p:nvSpPr>
        <p:spPr>
          <a:xfrm>
            <a:off x="12513022" y="5559475"/>
            <a:ext cx="2331571" cy="223838"/>
          </a:xfrm>
          <a:prstGeom prst="rect">
            <a:avLst/>
          </a:prstGeom>
          <a:noFill/>
          <a:ln/>
        </p:spPr>
        <p:txBody>
          <a:bodyPr wrap="square" lIns="25400" tIns="25400" rIns="25400" bIns="25400" rtlCol="0" anchor="t">
            <a:normAutofit/>
          </a:bodyPr>
          <a:lstStyle/>
          <a:p>
            <a:pPr algn="l" indent="0" marL="0">
              <a:buNone/>
            </a:pPr>
            <a:r>
              <a:rPr lang="en-US" sz="1125" dirty="0">
                <a:solidFill>
                  <a:srgbClr val="D7E2F2"/>
                </a:solidFill>
                <a:latin typeface="Arial" pitchFamily="34" charset="0"/>
                <a:ea typeface="Arial" pitchFamily="34" charset="-122"/>
                <a:cs typeface="Arial" pitchFamily="34" charset="-120"/>
              </a:rPr>
              <a:t>WORM-locked &amp; air-gapped copy</a:t>
            </a:r>
            <a:endParaRPr lang="en-US" sz="1125" dirty="0"/>
          </a:p>
        </p:txBody>
      </p:sp>
      <p:sp>
        <p:nvSpPr>
          <p:cNvPr id="60" name="Shape 58"/>
          <p:cNvSpPr/>
          <p:nvPr/>
        </p:nvSpPr>
        <p:spPr>
          <a:xfrm>
            <a:off x="12315825" y="7777683"/>
            <a:ext cx="4972050" cy="9525"/>
          </a:xfrm>
          <a:prstGeom prst="rect">
            <a:avLst/>
          </a:prstGeom>
          <a:solidFill>
            <a:srgbClr val="FFFFFF">
              <a:alpha val="12000"/>
            </a:srgbClr>
          </a:solidFill>
          <a:ln/>
        </p:spPr>
      </p:sp>
      <p:sp>
        <p:nvSpPr>
          <p:cNvPr id="61" name="Text 59"/>
          <p:cNvSpPr/>
          <p:nvPr/>
        </p:nvSpPr>
        <p:spPr>
          <a:xfrm>
            <a:off x="12315825" y="7463358"/>
            <a:ext cx="178147" cy="214313"/>
          </a:xfrm>
          <a:prstGeom prst="rect">
            <a:avLst/>
          </a:prstGeom>
          <a:noFill/>
          <a:ln/>
        </p:spPr>
        <p:txBody>
          <a:bodyPr wrap="square" lIns="25400" tIns="25400" rIns="25400" bIns="25400" rtlCol="0" anchor="t">
            <a:normAutofit/>
          </a:bodyPr>
          <a:lstStyle/>
          <a:p>
            <a:pPr algn="l" indent="0" marL="0">
              <a:buNone/>
            </a:pPr>
            <a:r>
              <a:rPr lang="en-US" sz="1050" dirty="0">
                <a:solidFill>
                  <a:srgbClr val="9FC0FF"/>
                </a:solidFill>
                <a:latin typeface="Arial" pitchFamily="34" charset="0"/>
                <a:ea typeface="Arial" pitchFamily="34" charset="-122"/>
                <a:cs typeface="Arial" pitchFamily="34" charset="-120"/>
              </a:rPr>
              <a:t>✓</a:t>
            </a:r>
            <a:endParaRPr lang="en-US" sz="1050" dirty="0"/>
          </a:p>
        </p:txBody>
      </p:sp>
      <p:sp>
        <p:nvSpPr>
          <p:cNvPr id="62" name="Text 60"/>
          <p:cNvSpPr/>
          <p:nvPr/>
        </p:nvSpPr>
        <p:spPr>
          <a:xfrm>
            <a:off x="12513022" y="7458596"/>
            <a:ext cx="2637219" cy="223838"/>
          </a:xfrm>
          <a:prstGeom prst="rect">
            <a:avLst/>
          </a:prstGeom>
          <a:noFill/>
          <a:ln/>
        </p:spPr>
        <p:txBody>
          <a:bodyPr wrap="square" lIns="25400" tIns="25400" rIns="25400" bIns="25400" rtlCol="0" anchor="t">
            <a:normAutofit/>
          </a:bodyPr>
          <a:lstStyle/>
          <a:p>
            <a:pPr algn="l" indent="0" marL="0">
              <a:buNone/>
            </a:pPr>
            <a:r>
              <a:rPr lang="en-US" sz="1125" dirty="0">
                <a:solidFill>
                  <a:srgbClr val="D7E2F2"/>
                </a:solidFill>
                <a:latin typeface="Arial" pitchFamily="34" charset="0"/>
                <a:ea typeface="Arial" pitchFamily="34" charset="-122"/>
                <a:cs typeface="Arial" pitchFamily="34" charset="-120"/>
              </a:rPr>
              <a:t>Ransomware-proof &amp; tamper-evident</a:t>
            </a:r>
            <a:endParaRPr lang="en-US" sz="1125" dirty="0"/>
          </a:p>
        </p:txBody>
      </p:sp>
      <p:sp>
        <p:nvSpPr>
          <p:cNvPr id="63" name="Text 61"/>
          <p:cNvSpPr/>
          <p:nvPr/>
        </p:nvSpPr>
        <p:spPr>
          <a:xfrm>
            <a:off x="12315825" y="9357643"/>
            <a:ext cx="5121212" cy="234032"/>
          </a:xfrm>
          <a:prstGeom prst="rect">
            <a:avLst/>
          </a:prstGeom>
          <a:noFill/>
          <a:ln/>
        </p:spPr>
        <p:txBody>
          <a:bodyPr wrap="square" lIns="25400" tIns="25400" rIns="25400" bIns="25400" rtlCol="0" anchor="t">
            <a:normAutofit/>
          </a:bodyPr>
          <a:lstStyle/>
          <a:p>
            <a:pPr algn="l" indent="0" marL="0">
              <a:lnSpc>
                <a:spcPct val="145000"/>
              </a:lnSpc>
              <a:buNone/>
            </a:pPr>
            <a:r>
              <a:rPr lang="en-US" sz="1013" dirty="0">
                <a:solidFill>
                  <a:srgbClr val="B9C8E0"/>
                </a:solidFill>
                <a:latin typeface="Arial" pitchFamily="34" charset="0"/>
                <a:ea typeface="Arial" pitchFamily="34" charset="-122"/>
                <a:cs typeface="Arial" pitchFamily="34" charset="-120"/>
              </a:rPr>
              <a:t>For </a:t>
            </a:r>
            <a:pPr algn="l" indent="0" marL="0">
              <a:lnSpc>
                <a:spcPct val="145000"/>
              </a:lnSpc>
              <a:buNone/>
            </a:pPr>
            <a:r>
              <a:rPr lang="en-US" sz="1013" b="1" dirty="0">
                <a:solidFill>
                  <a:srgbClr val="FFFFFF"/>
                </a:solidFill>
                <a:latin typeface="Arial" pitchFamily="34" charset="0"/>
                <a:ea typeface="Arial" pitchFamily="34" charset="-122"/>
                <a:cs typeface="Arial" pitchFamily="34" charset="-120"/>
              </a:rPr>
              <a:t>DORA financial-sector </a:t>
            </a:r>
            <a:pPr algn="l" indent="0" marL="0">
              <a:lnSpc>
                <a:spcPct val="145000"/>
              </a:lnSpc>
              <a:buNone/>
            </a:pPr>
            <a:r>
              <a:rPr lang="en-US" sz="1013" dirty="0">
                <a:solidFill>
                  <a:srgbClr val="B9C8E0"/>
                </a:solidFill>
                <a:latin typeface="Arial" pitchFamily="34" charset="0"/>
                <a:ea typeface="Arial" pitchFamily="34" charset="-122"/>
                <a:cs typeface="Arial" pitchFamily="34" charset="-120"/>
              </a:rPr>
              <a:t>mandates and long-term audit evidence.</a:t>
            </a:r>
            <a:endParaRPr lang="en-US" sz="101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762000" y="571500"/>
            <a:ext cx="11106150" cy="223838"/>
          </a:xfrm>
          <a:prstGeom prst="rect">
            <a:avLst/>
          </a:prstGeom>
          <a:noFill/>
          <a:ln/>
        </p:spPr>
        <p:txBody>
          <a:bodyPr wrap="square" lIns="25400" tIns="25400" rIns="25400" bIns="25400" rtlCol="0" anchor="t">
            <a:normAutofit/>
          </a:bodyPr>
          <a:lstStyle/>
          <a:p>
            <a:pPr algn="l" indent="0" marL="0">
              <a:buNone/>
            </a:pPr>
            <a:r>
              <a:rPr lang="en-US" sz="1125" spc="247" kern="0" dirty="0">
                <a:solidFill>
                  <a:srgbClr val="2B5FC7"/>
                </a:solidFill>
                <a:latin typeface="Courier New" pitchFamily="34" charset="0"/>
                <a:ea typeface="Courier New" pitchFamily="34" charset="-122"/>
                <a:cs typeface="Courier New" pitchFamily="34" charset="-120"/>
              </a:rPr>
              <a:t>03 — OBSERVABILITY</a:t>
            </a:r>
            <a:endParaRPr lang="en-US" sz="1125" dirty="0"/>
          </a:p>
        </p:txBody>
      </p:sp>
      <p:sp>
        <p:nvSpPr>
          <p:cNvPr id="3" name="Text 1"/>
          <p:cNvSpPr/>
          <p:nvPr/>
        </p:nvSpPr>
        <p:spPr>
          <a:xfrm>
            <a:off x="762000" y="890588"/>
            <a:ext cx="11106150" cy="498128"/>
          </a:xfrm>
          <a:prstGeom prst="rect">
            <a:avLst/>
          </a:prstGeom>
          <a:noFill/>
          <a:ln/>
        </p:spPr>
        <p:txBody>
          <a:bodyPr wrap="square" lIns="25400" tIns="25400" rIns="25400" bIns="25400" rtlCol="0" anchor="t">
            <a:normAutofit/>
          </a:bodyPr>
          <a:lstStyle/>
          <a:p>
            <a:pPr algn="l" indent="0" marL="0">
              <a:lnSpc>
                <a:spcPct val="105000"/>
              </a:lnSpc>
              <a:buNone/>
            </a:pPr>
            <a:r>
              <a:rPr lang="en-US" sz="3450" b="1" spc="-69" kern="0" dirty="0">
                <a:solidFill>
                  <a:srgbClr val="18181B"/>
                </a:solidFill>
                <a:latin typeface="Arial" pitchFamily="34" charset="0"/>
                <a:ea typeface="Arial" pitchFamily="34" charset="-122"/>
                <a:cs typeface="Arial" pitchFamily="34" charset="-120"/>
              </a:rPr>
              <a:t>Supervising NetBackup jobs in Grafana</a:t>
            </a:r>
            <a:endParaRPr lang="en-US" sz="3450" dirty="0"/>
          </a:p>
        </p:txBody>
      </p:sp>
      <p:sp>
        <p:nvSpPr>
          <p:cNvPr id="4" name="Text 2"/>
          <p:cNvSpPr/>
          <p:nvPr/>
        </p:nvSpPr>
        <p:spPr>
          <a:xfrm>
            <a:off x="762000" y="1483965"/>
            <a:ext cx="10399395" cy="595313"/>
          </a:xfrm>
          <a:prstGeom prst="rect">
            <a:avLst/>
          </a:prstGeom>
          <a:noFill/>
          <a:ln/>
        </p:spPr>
        <p:txBody>
          <a:bodyPr wrap="square" lIns="25400" tIns="25400" rIns="25400" bIns="25400" rtlCol="0" anchor="t">
            <a:normAutofit/>
          </a:bodyPr>
          <a:lstStyle/>
          <a:p>
            <a:pPr algn="l" indent="0" marL="0">
              <a:lnSpc>
                <a:spcPct val="150000"/>
              </a:lnSpc>
              <a:buNone/>
            </a:pPr>
            <a:r>
              <a:rPr lang="en-US" sz="1463" dirty="0">
                <a:solidFill>
                  <a:srgbClr val="52525B"/>
                </a:solidFill>
                <a:latin typeface="Arial" pitchFamily="34" charset="0"/>
                <a:ea typeface="Arial" pitchFamily="34" charset="-122"/>
                <a:cs typeface="Arial" pitchFamily="34" charset="-120"/>
              </a:rPr>
              <a:t>A collector polls the NetBackup REST API, turns every Kubernetes backup job into metrics, and Grafana surfaces failures — alerting before they become recovery gaps.</a:t>
            </a:r>
            <a:endParaRPr lang="en-US" sz="1463" dirty="0"/>
          </a:p>
        </p:txBody>
      </p:sp>
      <p:sp>
        <p:nvSpPr>
          <p:cNvPr id="5" name="Text 3"/>
          <p:cNvSpPr/>
          <p:nvPr/>
        </p:nvSpPr>
        <p:spPr>
          <a:xfrm>
            <a:off x="762000" y="2365028"/>
            <a:ext cx="10850434" cy="20002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9A9A93"/>
                </a:solidFill>
                <a:latin typeface="Courier New" pitchFamily="34" charset="0"/>
                <a:ea typeface="Courier New" pitchFamily="34" charset="-122"/>
                <a:cs typeface="Courier New" pitchFamily="34" charset="-120"/>
              </a:rPr>
              <a:t>FUNCTIONAL ARCHITECTURE</a:t>
            </a:r>
            <a:endParaRPr lang="en-US" sz="975" dirty="0"/>
          </a:p>
        </p:txBody>
      </p:sp>
      <p:sp>
        <p:nvSpPr>
          <p:cNvPr id="6" name="Shape 4"/>
          <p:cNvSpPr/>
          <p:nvPr/>
        </p:nvSpPr>
        <p:spPr>
          <a:xfrm>
            <a:off x="762000" y="2660303"/>
            <a:ext cx="1885950" cy="6307485"/>
          </a:xfrm>
          <a:prstGeom prst="roundRect">
            <a:avLst>
              <a:gd name="adj" fmla="val 7071"/>
            </a:avLst>
          </a:prstGeom>
          <a:solidFill>
            <a:srgbClr val="102A52"/>
          </a:solidFill>
          <a:ln/>
          <a:effectLst>
            <a:outerShdw sx="100000" sy="100000" kx="0" ky="0" algn="bl" rotWithShape="0" blurRad="171450" dist="57150" dir="5400000">
              <a:srgbClr val="102A52">
                <a:alpha val="18000"/>
              </a:srgbClr>
            </a:outerShdw>
          </a:effectLst>
        </p:spPr>
      </p:sp>
      <p:sp>
        <p:nvSpPr>
          <p:cNvPr id="7" name="Text 5"/>
          <p:cNvSpPr/>
          <p:nvPr/>
        </p:nvSpPr>
        <p:spPr>
          <a:xfrm>
            <a:off x="952500" y="2869853"/>
            <a:ext cx="1655445" cy="176212"/>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7E9AC9"/>
                </a:solidFill>
                <a:latin typeface="Courier New" pitchFamily="34" charset="0"/>
                <a:ea typeface="Courier New" pitchFamily="34" charset="-122"/>
                <a:cs typeface="Courier New" pitchFamily="34" charset="-120"/>
              </a:rPr>
              <a:t>NETBACKUP DOMAIN</a:t>
            </a:r>
            <a:endParaRPr lang="en-US" sz="825" dirty="0"/>
          </a:p>
        </p:txBody>
      </p:sp>
      <p:sp>
        <p:nvSpPr>
          <p:cNvPr id="8" name="Text 6"/>
          <p:cNvSpPr/>
          <p:nvPr/>
        </p:nvSpPr>
        <p:spPr>
          <a:xfrm>
            <a:off x="952500" y="3084165"/>
            <a:ext cx="1655445" cy="233362"/>
          </a:xfrm>
          <a:prstGeom prst="rect">
            <a:avLst/>
          </a:prstGeom>
          <a:noFill/>
          <a:ln/>
        </p:spPr>
        <p:txBody>
          <a:bodyPr wrap="square" lIns="25400" tIns="25400" rIns="25400" bIns="25400" rtlCol="0" anchor="t">
            <a:normAutofit/>
          </a:bodyPr>
          <a:lstStyle/>
          <a:p>
            <a:pPr algn="l" indent="0" marL="0">
              <a:buNone/>
            </a:pPr>
            <a:r>
              <a:rPr lang="en-US" sz="1425" b="1" dirty="0">
                <a:solidFill>
                  <a:srgbClr val="FFFFFF"/>
                </a:solidFill>
                <a:latin typeface="Arial" pitchFamily="34" charset="0"/>
                <a:ea typeface="Arial" pitchFamily="34" charset="-122"/>
                <a:cs typeface="Arial" pitchFamily="34" charset="-120"/>
              </a:rPr>
              <a:t>Primary Server</a:t>
            </a:r>
            <a:endParaRPr lang="en-US" sz="1425" dirty="0"/>
          </a:p>
        </p:txBody>
      </p:sp>
      <p:sp>
        <p:nvSpPr>
          <p:cNvPr id="9" name="Text 7"/>
          <p:cNvSpPr/>
          <p:nvPr/>
        </p:nvSpPr>
        <p:spPr>
          <a:xfrm>
            <a:off x="952500" y="3336578"/>
            <a:ext cx="1581150" cy="597322"/>
          </a:xfrm>
          <a:prstGeom prst="rect">
            <a:avLst/>
          </a:prstGeom>
          <a:noFill/>
          <a:ln/>
        </p:spPr>
        <p:txBody>
          <a:bodyPr wrap="square" lIns="25400" tIns="25400" rIns="25400" bIns="25400" rtlCol="0" anchor="t">
            <a:normAutofit/>
          </a:bodyPr>
          <a:lstStyle/>
          <a:p>
            <a:pPr algn="l" indent="0" marL="0">
              <a:lnSpc>
                <a:spcPct val="145000"/>
              </a:lnSpc>
              <a:buNone/>
            </a:pPr>
            <a:r>
              <a:rPr lang="en-US" sz="1013" dirty="0">
                <a:solidFill>
                  <a:srgbClr val="B9C8E0"/>
                </a:solidFill>
                <a:latin typeface="Arial" pitchFamily="34" charset="0"/>
                <a:ea typeface="Arial" pitchFamily="34" charset="-122"/>
                <a:cs typeface="Arial" pitchFamily="34" charset="-120"/>
              </a:rPr>
              <a:t>Runs the Kubernetes backup policies &amp; jobs; exposes job state.</a:t>
            </a:r>
            <a:endParaRPr lang="en-US" sz="1013" dirty="0"/>
          </a:p>
        </p:txBody>
      </p:sp>
      <p:sp>
        <p:nvSpPr>
          <p:cNvPr id="10" name="Shape 8"/>
          <p:cNvSpPr/>
          <p:nvPr/>
        </p:nvSpPr>
        <p:spPr>
          <a:xfrm>
            <a:off x="952500" y="8305800"/>
            <a:ext cx="1504950" cy="247650"/>
          </a:xfrm>
          <a:prstGeom prst="roundRect">
            <a:avLst>
              <a:gd name="adj" fmla="val 23077"/>
            </a:avLst>
          </a:prstGeom>
          <a:solidFill>
            <a:srgbClr val="FFFFFF">
              <a:alpha val="10000"/>
            </a:srgbClr>
          </a:solidFill>
          <a:ln/>
        </p:spPr>
      </p:sp>
      <p:sp>
        <p:nvSpPr>
          <p:cNvPr id="11" name="Text 9"/>
          <p:cNvSpPr/>
          <p:nvPr/>
        </p:nvSpPr>
        <p:spPr>
          <a:xfrm>
            <a:off x="1009650" y="8353425"/>
            <a:ext cx="1390650" cy="190500"/>
          </a:xfrm>
          <a:prstGeom prst="rect">
            <a:avLst/>
          </a:prstGeom>
          <a:noFill/>
          <a:ln/>
        </p:spPr>
        <p:txBody>
          <a:bodyPr wrap="square" lIns="25400" tIns="25400" rIns="25400" bIns="25400" rtlCol="0" anchor="t">
            <a:normAutofit/>
          </a:bodyPr>
          <a:lstStyle/>
          <a:p>
            <a:pPr algn="ctr" indent="0" marL="0">
              <a:buNone/>
            </a:pPr>
            <a:r>
              <a:rPr lang="en-US" sz="900" dirty="0">
                <a:solidFill>
                  <a:srgbClr val="9FC0FF"/>
                </a:solidFill>
                <a:latin typeface="Courier New" pitchFamily="34" charset="0"/>
                <a:ea typeface="Courier New" pitchFamily="34" charset="-122"/>
                <a:cs typeface="Courier New" pitchFamily="34" charset="-120"/>
              </a:rPr>
              <a:t>REST API · :1556</a:t>
            </a:r>
            <a:endParaRPr lang="en-US" sz="900" dirty="0"/>
          </a:p>
        </p:txBody>
      </p:sp>
      <p:sp>
        <p:nvSpPr>
          <p:cNvPr id="12" name="Text 10"/>
          <p:cNvSpPr/>
          <p:nvPr/>
        </p:nvSpPr>
        <p:spPr>
          <a:xfrm>
            <a:off x="877253" y="8620125"/>
            <a:ext cx="1655445" cy="176212"/>
          </a:xfrm>
          <a:prstGeom prst="rect">
            <a:avLst/>
          </a:prstGeom>
          <a:noFill/>
          <a:ln/>
        </p:spPr>
        <p:txBody>
          <a:bodyPr wrap="square" lIns="25400" tIns="25400" rIns="25400" bIns="25400" rtlCol="0" anchor="t">
            <a:normAutofit/>
          </a:bodyPr>
          <a:lstStyle/>
          <a:p>
            <a:pPr algn="ctr" indent="0" marL="0">
              <a:buNone/>
            </a:pPr>
            <a:r>
              <a:rPr lang="en-US" sz="825" dirty="0">
                <a:solidFill>
                  <a:srgbClr val="7E9AC9"/>
                </a:solidFill>
                <a:latin typeface="Courier New" pitchFamily="34" charset="0"/>
                <a:ea typeface="Courier New" pitchFamily="34" charset="-122"/>
                <a:cs typeface="Courier New" pitchFamily="34" charset="-120"/>
              </a:rPr>
              <a:t>scraped every 60s</a:t>
            </a:r>
            <a:endParaRPr lang="en-US" sz="825" dirty="0"/>
          </a:p>
        </p:txBody>
      </p:sp>
      <p:sp>
        <p:nvSpPr>
          <p:cNvPr id="13" name="Text 11"/>
          <p:cNvSpPr/>
          <p:nvPr/>
        </p:nvSpPr>
        <p:spPr>
          <a:xfrm>
            <a:off x="2664098" y="5618783"/>
            <a:ext cx="767730" cy="176212"/>
          </a:xfrm>
          <a:prstGeom prst="rect">
            <a:avLst/>
          </a:prstGeom>
          <a:noFill/>
          <a:ln/>
        </p:spPr>
        <p:txBody>
          <a:bodyPr wrap="square" lIns="25400" tIns="25400" rIns="25400" bIns="25400" rtlCol="0" anchor="t">
            <a:normAutofit/>
          </a:bodyPr>
          <a:lstStyle/>
          <a:p>
            <a:pPr algn="l" indent="0" marL="0">
              <a:buNone/>
            </a:pPr>
            <a:r>
              <a:rPr lang="en-US" sz="825" dirty="0">
                <a:solidFill>
                  <a:srgbClr val="9A9A93"/>
                </a:solidFill>
                <a:latin typeface="Courier New" pitchFamily="34" charset="0"/>
                <a:ea typeface="Courier New" pitchFamily="34" charset="-122"/>
                <a:cs typeface="Courier New" pitchFamily="34" charset="-120"/>
              </a:rPr>
              <a:t>HTTPS · JWT</a:t>
            </a:r>
            <a:endParaRPr lang="en-US" sz="825" dirty="0"/>
          </a:p>
        </p:txBody>
      </p:sp>
      <p:sp>
        <p:nvSpPr>
          <p:cNvPr id="14" name="Shape 12"/>
          <p:cNvSpPr/>
          <p:nvPr/>
        </p:nvSpPr>
        <p:spPr>
          <a:xfrm>
            <a:off x="2647950" y="5804520"/>
            <a:ext cx="723900" cy="19050"/>
          </a:xfrm>
          <a:prstGeom prst="rect">
            <a:avLst/>
          </a:prstGeom>
          <a:solidFill>
            <a:srgbClr val="B9C2BE"/>
          </a:solidFill>
          <a:ln/>
        </p:spPr>
      </p:sp>
      <p:sp>
        <p:nvSpPr>
          <p:cNvPr id="15" name="Shape 13"/>
          <p:cNvSpPr/>
          <p:nvPr/>
        </p:nvSpPr>
        <p:spPr>
          <a:xfrm>
            <a:off x="3295650" y="5766420"/>
            <a:ext cx="85725" cy="95250"/>
          </a:xfrm>
          <a:prstGeom prst="rect">
            <a:avLst/>
          </a:prstGeom>
          <a:solidFill>
            <a:srgbClr val="B9C2BE"/>
          </a:solidFill>
          <a:ln/>
        </p:spPr>
      </p:sp>
      <p:sp>
        <p:nvSpPr>
          <p:cNvPr id="16" name="Text 14"/>
          <p:cNvSpPr/>
          <p:nvPr/>
        </p:nvSpPr>
        <p:spPr>
          <a:xfrm>
            <a:off x="2726978" y="5871195"/>
            <a:ext cx="642045" cy="176212"/>
          </a:xfrm>
          <a:prstGeom prst="rect">
            <a:avLst/>
          </a:prstGeom>
          <a:noFill/>
          <a:ln/>
        </p:spPr>
        <p:txBody>
          <a:bodyPr wrap="square" lIns="25400" tIns="25400" rIns="25400" bIns="25400" rtlCol="0" anchor="t">
            <a:normAutofit/>
          </a:bodyPr>
          <a:lstStyle/>
          <a:p>
            <a:pPr algn="l" indent="0" marL="0">
              <a:buNone/>
            </a:pPr>
            <a:r>
              <a:rPr lang="en-US" sz="825" dirty="0">
                <a:solidFill>
                  <a:srgbClr val="9A9A93"/>
                </a:solidFill>
                <a:latin typeface="Courier New" pitchFamily="34" charset="0"/>
                <a:ea typeface="Courier New" pitchFamily="34" charset="-122"/>
                <a:cs typeface="Courier New" pitchFamily="34" charset="-120"/>
              </a:rPr>
              <a:t>poll jobs</a:t>
            </a:r>
            <a:endParaRPr lang="en-US" sz="825" dirty="0"/>
          </a:p>
        </p:txBody>
      </p:sp>
      <p:sp>
        <p:nvSpPr>
          <p:cNvPr id="17" name="Shape 15"/>
          <p:cNvSpPr/>
          <p:nvPr/>
        </p:nvSpPr>
        <p:spPr>
          <a:xfrm>
            <a:off x="3371850" y="2660303"/>
            <a:ext cx="7254180" cy="6307485"/>
          </a:xfrm>
          <a:prstGeom prst="roundRect">
            <a:avLst>
              <a:gd name="adj" fmla="val 2416"/>
            </a:avLst>
          </a:prstGeom>
          <a:solidFill>
            <a:srgbClr val="2B5FC7">
              <a:alpha val="3000"/>
            </a:srgbClr>
          </a:solidFill>
          <a:ln w="14288">
            <a:solidFill>
              <a:srgbClr val="B7C4D6"/>
            </a:solidFill>
            <a:prstDash val="dash"/>
          </a:ln>
        </p:spPr>
      </p:sp>
      <p:sp>
        <p:nvSpPr>
          <p:cNvPr id="18" name="Text 16"/>
          <p:cNvSpPr/>
          <p:nvPr/>
        </p:nvSpPr>
        <p:spPr>
          <a:xfrm>
            <a:off x="3538538" y="2826990"/>
            <a:ext cx="7612886" cy="176212"/>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5B6B86"/>
                </a:solidFill>
                <a:latin typeface="Courier New" pitchFamily="34" charset="0"/>
                <a:ea typeface="Courier New" pitchFamily="34" charset="-122"/>
                <a:cs typeface="Courier New" pitchFamily="34" charset="-120"/>
              </a:rPr>
              <a:t>KUBERNETES · observability namespace</a:t>
            </a:r>
            <a:endParaRPr lang="en-US" sz="825" dirty="0"/>
          </a:p>
        </p:txBody>
      </p:sp>
      <p:sp>
        <p:nvSpPr>
          <p:cNvPr id="19" name="Shape 17"/>
          <p:cNvSpPr/>
          <p:nvPr/>
        </p:nvSpPr>
        <p:spPr>
          <a:xfrm>
            <a:off x="3538538" y="5045497"/>
            <a:ext cx="2116410" cy="617934"/>
          </a:xfrm>
          <a:prstGeom prst="roundRect">
            <a:avLst>
              <a:gd name="adj" fmla="val 16956"/>
            </a:avLst>
          </a:prstGeom>
          <a:solidFill>
            <a:srgbClr val="FFFFFF"/>
          </a:solidFill>
          <a:ln w="9525">
            <a:solidFill>
              <a:srgbClr val="E1E0D8"/>
            </a:solidFill>
            <a:prstDash val="solid"/>
          </a:ln>
        </p:spPr>
      </p:sp>
      <p:sp>
        <p:nvSpPr>
          <p:cNvPr id="20" name="Text 18"/>
          <p:cNvSpPr/>
          <p:nvPr/>
        </p:nvSpPr>
        <p:spPr>
          <a:xfrm>
            <a:off x="3579402" y="5178847"/>
            <a:ext cx="2034681" cy="200025"/>
          </a:xfrm>
          <a:prstGeom prst="rect">
            <a:avLst/>
          </a:prstGeom>
          <a:noFill/>
          <a:ln/>
        </p:spPr>
        <p:txBody>
          <a:bodyPr wrap="square" lIns="25400" tIns="25400" rIns="25400" bIns="25400" rtlCol="0" anchor="t">
            <a:normAutofit/>
          </a:bodyPr>
          <a:lstStyle/>
          <a:p>
            <a:pPr algn="ctr" indent="0" marL="0">
              <a:buNone/>
            </a:pPr>
            <a:r>
              <a:rPr lang="en-US" sz="1163" b="1" dirty="0">
                <a:solidFill>
                  <a:srgbClr val="18181B"/>
                </a:solidFill>
                <a:latin typeface="Arial" pitchFamily="34" charset="0"/>
                <a:ea typeface="Arial" pitchFamily="34" charset="-122"/>
                <a:cs typeface="Arial" pitchFamily="34" charset="-120"/>
              </a:rPr>
              <a:t>Job Collector</a:t>
            </a:r>
            <a:endParaRPr lang="en-US" sz="1163" dirty="0"/>
          </a:p>
        </p:txBody>
      </p:sp>
      <p:sp>
        <p:nvSpPr>
          <p:cNvPr id="21" name="Text 19"/>
          <p:cNvSpPr/>
          <p:nvPr/>
        </p:nvSpPr>
        <p:spPr>
          <a:xfrm>
            <a:off x="3579402" y="5369347"/>
            <a:ext cx="2034681" cy="198834"/>
          </a:xfrm>
          <a:prstGeom prst="rect">
            <a:avLst/>
          </a:prstGeom>
          <a:noFill/>
          <a:ln/>
        </p:spPr>
        <p:txBody>
          <a:bodyPr wrap="square" lIns="25400" tIns="25400" rIns="25400" bIns="25400" rtlCol="0" anchor="t">
            <a:normAutofit/>
          </a:bodyPr>
          <a:lstStyle/>
          <a:p>
            <a:pPr algn="ctr" indent="0" marL="0">
              <a:lnSpc>
                <a:spcPct val="135000"/>
              </a:lnSpc>
              <a:buNone/>
            </a:pPr>
            <a:r>
              <a:rPr lang="en-US" sz="938" dirty="0">
                <a:solidFill>
                  <a:srgbClr val="71717A"/>
                </a:solidFill>
                <a:latin typeface="Arial" pitchFamily="34" charset="0"/>
                <a:ea typeface="Arial" pitchFamily="34" charset="-122"/>
                <a:cs typeface="Arial" pitchFamily="34" charset="-120"/>
              </a:rPr>
              <a:t>scrapes jobs · metrics + file list</a:t>
            </a:r>
            <a:endParaRPr lang="en-US" sz="938" dirty="0"/>
          </a:p>
        </p:txBody>
      </p:sp>
      <p:sp>
        <p:nvSpPr>
          <p:cNvPr id="22" name="Shape 20"/>
          <p:cNvSpPr/>
          <p:nvPr/>
        </p:nvSpPr>
        <p:spPr>
          <a:xfrm>
            <a:off x="5721623" y="5344939"/>
            <a:ext cx="152400" cy="19050"/>
          </a:xfrm>
          <a:prstGeom prst="rect">
            <a:avLst/>
          </a:prstGeom>
          <a:solidFill>
            <a:srgbClr val="C9C8C0"/>
          </a:solidFill>
          <a:ln/>
        </p:spPr>
      </p:sp>
      <p:sp>
        <p:nvSpPr>
          <p:cNvPr id="23" name="Shape 21"/>
          <p:cNvSpPr/>
          <p:nvPr/>
        </p:nvSpPr>
        <p:spPr>
          <a:xfrm>
            <a:off x="5807348" y="5306839"/>
            <a:ext cx="76200" cy="95250"/>
          </a:xfrm>
          <a:prstGeom prst="rect">
            <a:avLst/>
          </a:prstGeom>
          <a:solidFill>
            <a:srgbClr val="C9C8C0"/>
          </a:solidFill>
          <a:ln/>
        </p:spPr>
      </p:sp>
      <p:sp>
        <p:nvSpPr>
          <p:cNvPr id="24" name="Shape 22"/>
          <p:cNvSpPr/>
          <p:nvPr/>
        </p:nvSpPr>
        <p:spPr>
          <a:xfrm>
            <a:off x="5940698" y="5045497"/>
            <a:ext cx="2116485" cy="617934"/>
          </a:xfrm>
          <a:prstGeom prst="roundRect">
            <a:avLst>
              <a:gd name="adj" fmla="val 16956"/>
            </a:avLst>
          </a:prstGeom>
          <a:solidFill>
            <a:srgbClr val="FFFFFF"/>
          </a:solidFill>
          <a:ln w="9525">
            <a:solidFill>
              <a:srgbClr val="E1E0D8"/>
            </a:solidFill>
            <a:prstDash val="solid"/>
          </a:ln>
        </p:spPr>
      </p:sp>
      <p:sp>
        <p:nvSpPr>
          <p:cNvPr id="25" name="Text 23"/>
          <p:cNvSpPr/>
          <p:nvPr/>
        </p:nvSpPr>
        <p:spPr>
          <a:xfrm>
            <a:off x="5981559" y="5178847"/>
            <a:ext cx="2034763" cy="200025"/>
          </a:xfrm>
          <a:prstGeom prst="rect">
            <a:avLst/>
          </a:prstGeom>
          <a:noFill/>
          <a:ln/>
        </p:spPr>
        <p:txBody>
          <a:bodyPr wrap="square" lIns="25400" tIns="25400" rIns="25400" bIns="25400" rtlCol="0" anchor="t">
            <a:normAutofit/>
          </a:bodyPr>
          <a:lstStyle/>
          <a:p>
            <a:pPr algn="ctr" indent="0" marL="0">
              <a:buNone/>
            </a:pPr>
            <a:r>
              <a:rPr lang="en-US" sz="1163" b="1" dirty="0">
                <a:solidFill>
                  <a:srgbClr val="18181B"/>
                </a:solidFill>
                <a:latin typeface="Arial" pitchFamily="34" charset="0"/>
                <a:ea typeface="Arial" pitchFamily="34" charset="-122"/>
                <a:cs typeface="Arial" pitchFamily="34" charset="-120"/>
              </a:rPr>
              <a:t>Prometheus</a:t>
            </a:r>
            <a:endParaRPr lang="en-US" sz="1163" dirty="0"/>
          </a:p>
        </p:txBody>
      </p:sp>
      <p:sp>
        <p:nvSpPr>
          <p:cNvPr id="26" name="Text 24"/>
          <p:cNvSpPr/>
          <p:nvPr/>
        </p:nvSpPr>
        <p:spPr>
          <a:xfrm>
            <a:off x="5981559" y="5369347"/>
            <a:ext cx="2034763" cy="198834"/>
          </a:xfrm>
          <a:prstGeom prst="rect">
            <a:avLst/>
          </a:prstGeom>
          <a:noFill/>
          <a:ln/>
        </p:spPr>
        <p:txBody>
          <a:bodyPr wrap="square" lIns="25400" tIns="25400" rIns="25400" bIns="25400" rtlCol="0" anchor="t">
            <a:normAutofit/>
          </a:bodyPr>
          <a:lstStyle/>
          <a:p>
            <a:pPr algn="ctr" indent="0" marL="0">
              <a:lnSpc>
                <a:spcPct val="135000"/>
              </a:lnSpc>
              <a:buNone/>
            </a:pPr>
            <a:r>
              <a:rPr lang="en-US" sz="938" dirty="0">
                <a:solidFill>
                  <a:srgbClr val="71717A"/>
                </a:solidFill>
                <a:latin typeface="Arial" pitchFamily="34" charset="0"/>
                <a:ea typeface="Arial" pitchFamily="34" charset="-122"/>
                <a:cs typeface="Arial" pitchFamily="34" charset="-120"/>
              </a:rPr>
              <a:t>stores TSDB · alert rules</a:t>
            </a:r>
            <a:endParaRPr lang="en-US" sz="938" dirty="0"/>
          </a:p>
        </p:txBody>
      </p:sp>
      <p:sp>
        <p:nvSpPr>
          <p:cNvPr id="27" name="Shape 25"/>
          <p:cNvSpPr/>
          <p:nvPr/>
        </p:nvSpPr>
        <p:spPr>
          <a:xfrm>
            <a:off x="8123858" y="5344939"/>
            <a:ext cx="152400" cy="19050"/>
          </a:xfrm>
          <a:prstGeom prst="rect">
            <a:avLst/>
          </a:prstGeom>
          <a:solidFill>
            <a:srgbClr val="C9C8C0"/>
          </a:solidFill>
          <a:ln/>
        </p:spPr>
      </p:sp>
      <p:sp>
        <p:nvSpPr>
          <p:cNvPr id="28" name="Shape 26"/>
          <p:cNvSpPr/>
          <p:nvPr/>
        </p:nvSpPr>
        <p:spPr>
          <a:xfrm>
            <a:off x="8209583" y="5306839"/>
            <a:ext cx="76200" cy="95250"/>
          </a:xfrm>
          <a:prstGeom prst="rect">
            <a:avLst/>
          </a:prstGeom>
          <a:solidFill>
            <a:srgbClr val="C9C8C0"/>
          </a:solidFill>
          <a:ln/>
        </p:spPr>
      </p:sp>
      <p:sp>
        <p:nvSpPr>
          <p:cNvPr id="29" name="Shape 27"/>
          <p:cNvSpPr/>
          <p:nvPr/>
        </p:nvSpPr>
        <p:spPr>
          <a:xfrm>
            <a:off x="8342933" y="5045497"/>
            <a:ext cx="2116410" cy="617934"/>
          </a:xfrm>
          <a:prstGeom prst="roundRect">
            <a:avLst>
              <a:gd name="adj" fmla="val 16956"/>
            </a:avLst>
          </a:prstGeom>
          <a:solidFill>
            <a:srgbClr val="EAF0FB"/>
          </a:solidFill>
          <a:ln w="9525">
            <a:solidFill>
              <a:srgbClr val="C9DBF6"/>
            </a:solidFill>
            <a:prstDash val="solid"/>
          </a:ln>
        </p:spPr>
      </p:sp>
      <p:sp>
        <p:nvSpPr>
          <p:cNvPr id="30" name="Text 28"/>
          <p:cNvSpPr/>
          <p:nvPr/>
        </p:nvSpPr>
        <p:spPr>
          <a:xfrm>
            <a:off x="8383797" y="5178847"/>
            <a:ext cx="2034681" cy="200025"/>
          </a:xfrm>
          <a:prstGeom prst="rect">
            <a:avLst/>
          </a:prstGeom>
          <a:noFill/>
          <a:ln/>
        </p:spPr>
        <p:txBody>
          <a:bodyPr wrap="square" lIns="25400" tIns="25400" rIns="25400" bIns="25400" rtlCol="0" anchor="t">
            <a:normAutofit/>
          </a:bodyPr>
          <a:lstStyle/>
          <a:p>
            <a:pPr algn="ctr" indent="0" marL="0">
              <a:buNone/>
            </a:pPr>
            <a:r>
              <a:rPr lang="en-US" sz="1163" b="1" dirty="0">
                <a:solidFill>
                  <a:srgbClr val="21478F"/>
                </a:solidFill>
                <a:latin typeface="Arial" pitchFamily="34" charset="0"/>
                <a:ea typeface="Arial" pitchFamily="34" charset="-122"/>
                <a:cs typeface="Arial" pitchFamily="34" charset="-120"/>
              </a:rPr>
              <a:t>Grafana</a:t>
            </a:r>
            <a:endParaRPr lang="en-US" sz="1163" dirty="0"/>
          </a:p>
        </p:txBody>
      </p:sp>
      <p:sp>
        <p:nvSpPr>
          <p:cNvPr id="31" name="Text 29"/>
          <p:cNvSpPr/>
          <p:nvPr/>
        </p:nvSpPr>
        <p:spPr>
          <a:xfrm>
            <a:off x="8383797" y="5369347"/>
            <a:ext cx="2034681" cy="198834"/>
          </a:xfrm>
          <a:prstGeom prst="rect">
            <a:avLst/>
          </a:prstGeom>
          <a:noFill/>
          <a:ln/>
        </p:spPr>
        <p:txBody>
          <a:bodyPr wrap="square" lIns="25400" tIns="25400" rIns="25400" bIns="25400" rtlCol="0" anchor="t">
            <a:normAutofit/>
          </a:bodyPr>
          <a:lstStyle/>
          <a:p>
            <a:pPr algn="ctr" indent="0" marL="0">
              <a:lnSpc>
                <a:spcPct val="135000"/>
              </a:lnSpc>
              <a:buNone/>
            </a:pPr>
            <a:r>
              <a:rPr lang="en-US" sz="938" dirty="0">
                <a:solidFill>
                  <a:srgbClr val="4D6FA8"/>
                </a:solidFill>
                <a:latin typeface="Arial" pitchFamily="34" charset="0"/>
                <a:ea typeface="Arial" pitchFamily="34" charset="-122"/>
                <a:cs typeface="Arial" pitchFamily="34" charset="-120"/>
              </a:rPr>
              <a:t>dashboards</a:t>
            </a:r>
            <a:endParaRPr lang="en-US" sz="938" dirty="0"/>
          </a:p>
        </p:txBody>
      </p:sp>
      <p:sp>
        <p:nvSpPr>
          <p:cNvPr id="32" name="Shape 30"/>
          <p:cNvSpPr/>
          <p:nvPr/>
        </p:nvSpPr>
        <p:spPr>
          <a:xfrm>
            <a:off x="3538538" y="7762875"/>
            <a:ext cx="6920805" cy="9525"/>
          </a:xfrm>
          <a:prstGeom prst="rect">
            <a:avLst/>
          </a:prstGeom>
          <a:solidFill>
            <a:srgbClr val="DCE2EC"/>
          </a:solidFill>
          <a:ln/>
        </p:spPr>
      </p:sp>
      <p:sp>
        <p:nvSpPr>
          <p:cNvPr id="33" name="Text 31"/>
          <p:cNvSpPr/>
          <p:nvPr/>
        </p:nvSpPr>
        <p:spPr>
          <a:xfrm>
            <a:off x="3538538" y="7986713"/>
            <a:ext cx="642045" cy="176212"/>
          </a:xfrm>
          <a:prstGeom prst="rect">
            <a:avLst/>
          </a:prstGeom>
          <a:noFill/>
          <a:ln/>
        </p:spPr>
        <p:txBody>
          <a:bodyPr wrap="none" lIns="25400" tIns="25400" rIns="25400" bIns="25400" rtlCol="0" anchor="t">
            <a:normAutofit/>
          </a:bodyPr>
          <a:lstStyle/>
          <a:p>
            <a:pPr algn="l" indent="0" marL="0">
              <a:buNone/>
            </a:pPr>
            <a:r>
              <a:rPr lang="en-US" sz="825" dirty="0">
                <a:solidFill>
                  <a:srgbClr val="9A9A93"/>
                </a:solidFill>
                <a:latin typeface="Courier New" pitchFamily="34" charset="0"/>
                <a:ea typeface="Courier New" pitchFamily="34" charset="-122"/>
                <a:cs typeface="Courier New" pitchFamily="34" charset="-120"/>
              </a:rPr>
              <a:t>file list</a:t>
            </a:r>
            <a:endParaRPr lang="en-US" sz="825" dirty="0"/>
          </a:p>
        </p:txBody>
      </p:sp>
      <p:sp>
        <p:nvSpPr>
          <p:cNvPr id="34" name="Shape 32"/>
          <p:cNvSpPr/>
          <p:nvPr/>
        </p:nvSpPr>
        <p:spPr>
          <a:xfrm>
            <a:off x="4218682" y="8046244"/>
            <a:ext cx="209550" cy="19050"/>
          </a:xfrm>
          <a:prstGeom prst="rect">
            <a:avLst/>
          </a:prstGeom>
          <a:solidFill>
            <a:srgbClr val="C9C8C0"/>
          </a:solidFill>
          <a:ln/>
        </p:spPr>
      </p:sp>
      <p:sp>
        <p:nvSpPr>
          <p:cNvPr id="35" name="Shape 33"/>
          <p:cNvSpPr/>
          <p:nvPr/>
        </p:nvSpPr>
        <p:spPr>
          <a:xfrm>
            <a:off x="4361557" y="8008144"/>
            <a:ext cx="76200" cy="95250"/>
          </a:xfrm>
          <a:prstGeom prst="rect">
            <a:avLst/>
          </a:prstGeom>
          <a:solidFill>
            <a:srgbClr val="C9C8C0"/>
          </a:solidFill>
          <a:ln/>
        </p:spPr>
      </p:sp>
      <p:sp>
        <p:nvSpPr>
          <p:cNvPr id="36" name="Shape 34"/>
          <p:cNvSpPr/>
          <p:nvPr/>
        </p:nvSpPr>
        <p:spPr>
          <a:xfrm>
            <a:off x="4542532" y="7896225"/>
            <a:ext cx="1103486" cy="319088"/>
          </a:xfrm>
          <a:prstGeom prst="roundRect">
            <a:avLst>
              <a:gd name="adj" fmla="val 26866"/>
            </a:avLst>
          </a:prstGeom>
          <a:solidFill>
            <a:srgbClr val="ECEEF8"/>
          </a:solidFill>
          <a:ln w="9525">
            <a:solidFill>
              <a:srgbClr val="D4D9F0"/>
            </a:solidFill>
            <a:prstDash val="solid"/>
          </a:ln>
        </p:spPr>
      </p:sp>
      <p:sp>
        <p:nvSpPr>
          <p:cNvPr id="37" name="Text 35"/>
          <p:cNvSpPr/>
          <p:nvPr/>
        </p:nvSpPr>
        <p:spPr>
          <a:xfrm>
            <a:off x="4675882" y="7981950"/>
            <a:ext cx="912986" cy="185737"/>
          </a:xfrm>
          <a:prstGeom prst="rect">
            <a:avLst/>
          </a:prstGeom>
          <a:noFill/>
          <a:ln/>
        </p:spPr>
        <p:txBody>
          <a:bodyPr wrap="square" lIns="25400" tIns="25400" rIns="25400" bIns="25400" rtlCol="0" anchor="t">
            <a:normAutofit/>
          </a:bodyPr>
          <a:lstStyle/>
          <a:p>
            <a:pPr algn="l" indent="0" marL="0">
              <a:buNone/>
            </a:pPr>
            <a:r>
              <a:rPr lang="en-US" sz="1050" b="1" dirty="0">
                <a:solidFill>
                  <a:srgbClr val="3A479A"/>
                </a:solidFill>
                <a:latin typeface="Arial" pitchFamily="34" charset="0"/>
                <a:ea typeface="Arial" pitchFamily="34" charset="-122"/>
                <a:cs typeface="Arial" pitchFamily="34" charset="-120"/>
              </a:rPr>
              <a:t>Elasticsearch</a:t>
            </a:r>
            <a:endParaRPr lang="en-US" sz="1050" dirty="0"/>
          </a:p>
        </p:txBody>
      </p:sp>
      <p:sp>
        <p:nvSpPr>
          <p:cNvPr id="38" name="Shape 36"/>
          <p:cNvSpPr/>
          <p:nvPr/>
        </p:nvSpPr>
        <p:spPr>
          <a:xfrm>
            <a:off x="5760318" y="8046244"/>
            <a:ext cx="209550" cy="19050"/>
          </a:xfrm>
          <a:prstGeom prst="rect">
            <a:avLst/>
          </a:prstGeom>
          <a:solidFill>
            <a:srgbClr val="C9C8C0"/>
          </a:solidFill>
          <a:ln/>
        </p:spPr>
      </p:sp>
      <p:sp>
        <p:nvSpPr>
          <p:cNvPr id="39" name="Shape 37"/>
          <p:cNvSpPr/>
          <p:nvPr/>
        </p:nvSpPr>
        <p:spPr>
          <a:xfrm>
            <a:off x="5903193" y="8008144"/>
            <a:ext cx="76200" cy="95250"/>
          </a:xfrm>
          <a:prstGeom prst="rect">
            <a:avLst/>
          </a:prstGeom>
          <a:solidFill>
            <a:srgbClr val="C9C8C0"/>
          </a:solidFill>
          <a:ln/>
        </p:spPr>
      </p:sp>
      <p:sp>
        <p:nvSpPr>
          <p:cNvPr id="40" name="Shape 38"/>
          <p:cNvSpPr/>
          <p:nvPr/>
        </p:nvSpPr>
        <p:spPr>
          <a:xfrm>
            <a:off x="6084168" y="7905750"/>
            <a:ext cx="679103" cy="300038"/>
          </a:xfrm>
          <a:prstGeom prst="roundRect">
            <a:avLst>
              <a:gd name="adj" fmla="val 28571"/>
            </a:avLst>
          </a:prstGeom>
          <a:solidFill>
            <a:srgbClr val="102A52"/>
          </a:solidFill>
          <a:ln/>
        </p:spPr>
      </p:sp>
      <p:sp>
        <p:nvSpPr>
          <p:cNvPr id="41" name="Text 39"/>
          <p:cNvSpPr/>
          <p:nvPr/>
        </p:nvSpPr>
        <p:spPr>
          <a:xfrm>
            <a:off x="6207993" y="7981950"/>
            <a:ext cx="507653" cy="185738"/>
          </a:xfrm>
          <a:prstGeom prst="rect">
            <a:avLst/>
          </a:prstGeom>
          <a:noFill/>
          <a:ln/>
        </p:spPr>
        <p:txBody>
          <a:bodyPr wrap="square" lIns="25400" tIns="25400" rIns="25400" bIns="25400" rtlCol="0" anchor="t">
            <a:normAutofit/>
          </a:bodyPr>
          <a:lstStyle/>
          <a:p>
            <a:pPr algn="l" indent="0" marL="0">
              <a:buNone/>
            </a:pPr>
            <a:r>
              <a:rPr lang="en-US" sz="1050" b="1" dirty="0">
                <a:solidFill>
                  <a:srgbClr val="FFFFFF"/>
                </a:solidFill>
                <a:latin typeface="Arial" pitchFamily="34" charset="0"/>
                <a:ea typeface="Arial" pitchFamily="34" charset="-122"/>
                <a:cs typeface="Arial" pitchFamily="34" charset="-120"/>
              </a:rPr>
              <a:t>Kibana</a:t>
            </a:r>
            <a:endParaRPr lang="en-US" sz="1050" dirty="0"/>
          </a:p>
        </p:txBody>
      </p:sp>
      <p:sp>
        <p:nvSpPr>
          <p:cNvPr id="42" name="Text 40"/>
          <p:cNvSpPr/>
          <p:nvPr/>
        </p:nvSpPr>
        <p:spPr>
          <a:xfrm>
            <a:off x="6877571" y="7979569"/>
            <a:ext cx="1104900" cy="190500"/>
          </a:xfrm>
          <a:prstGeom prst="rect">
            <a:avLst/>
          </a:prstGeom>
          <a:noFill/>
          <a:ln/>
        </p:spPr>
        <p:txBody>
          <a:bodyPr wrap="none" lIns="25400" tIns="25400" rIns="25400" bIns="25400" rtlCol="0" anchor="t">
            <a:normAutofit/>
          </a:bodyPr>
          <a:lstStyle/>
          <a:p>
            <a:pPr algn="l" indent="0" marL="0">
              <a:buNone/>
            </a:pPr>
            <a:r>
              <a:rPr lang="en-US" sz="900" dirty="0">
                <a:solidFill>
                  <a:srgbClr val="5B6B86"/>
                </a:solidFill>
                <a:latin typeface="Courier New" pitchFamily="34" charset="0"/>
                <a:ea typeface="Courier New" pitchFamily="34" charset="-122"/>
                <a:cs typeface="Courier New" pitchFamily="34" charset="-120"/>
              </a:rPr>
              <a:t>backed-up files</a:t>
            </a:r>
            <a:endParaRPr lang="en-US" sz="900" dirty="0"/>
          </a:p>
        </p:txBody>
      </p:sp>
      <p:sp>
        <p:nvSpPr>
          <p:cNvPr id="43" name="Shape 41"/>
          <p:cNvSpPr/>
          <p:nvPr/>
        </p:nvSpPr>
        <p:spPr>
          <a:xfrm>
            <a:off x="3538538" y="8348663"/>
            <a:ext cx="6920805" cy="9525"/>
          </a:xfrm>
          <a:prstGeom prst="rect">
            <a:avLst/>
          </a:prstGeom>
          <a:solidFill>
            <a:srgbClr val="DCE2EC"/>
          </a:solidFill>
          <a:ln/>
        </p:spPr>
      </p:sp>
      <p:sp>
        <p:nvSpPr>
          <p:cNvPr id="44" name="Text 42"/>
          <p:cNvSpPr/>
          <p:nvPr/>
        </p:nvSpPr>
        <p:spPr>
          <a:xfrm>
            <a:off x="3538538" y="8572500"/>
            <a:ext cx="893490" cy="176212"/>
          </a:xfrm>
          <a:prstGeom prst="rect">
            <a:avLst/>
          </a:prstGeom>
          <a:noFill/>
          <a:ln/>
        </p:spPr>
        <p:txBody>
          <a:bodyPr wrap="none" lIns="25400" tIns="25400" rIns="25400" bIns="25400" rtlCol="0" anchor="t">
            <a:normAutofit/>
          </a:bodyPr>
          <a:lstStyle/>
          <a:p>
            <a:pPr algn="l" indent="0" marL="0">
              <a:buNone/>
            </a:pPr>
            <a:r>
              <a:rPr lang="en-US" sz="825" dirty="0">
                <a:solidFill>
                  <a:srgbClr val="9A9A93"/>
                </a:solidFill>
                <a:latin typeface="Courier New" pitchFamily="34" charset="0"/>
                <a:ea typeface="Courier New" pitchFamily="34" charset="-122"/>
                <a:cs typeface="Courier New" pitchFamily="34" charset="-120"/>
              </a:rPr>
              <a:t>on rule fired</a:t>
            </a:r>
            <a:endParaRPr lang="en-US" sz="825" dirty="0"/>
          </a:p>
        </p:txBody>
      </p:sp>
      <p:sp>
        <p:nvSpPr>
          <p:cNvPr id="45" name="Shape 43"/>
          <p:cNvSpPr/>
          <p:nvPr/>
        </p:nvSpPr>
        <p:spPr>
          <a:xfrm>
            <a:off x="4470127" y="8632031"/>
            <a:ext cx="209550" cy="19050"/>
          </a:xfrm>
          <a:prstGeom prst="rect">
            <a:avLst/>
          </a:prstGeom>
          <a:solidFill>
            <a:srgbClr val="C9C8C0"/>
          </a:solidFill>
          <a:ln/>
        </p:spPr>
      </p:sp>
      <p:sp>
        <p:nvSpPr>
          <p:cNvPr id="46" name="Shape 44"/>
          <p:cNvSpPr/>
          <p:nvPr/>
        </p:nvSpPr>
        <p:spPr>
          <a:xfrm>
            <a:off x="4613002" y="8593931"/>
            <a:ext cx="76200" cy="95250"/>
          </a:xfrm>
          <a:prstGeom prst="rect">
            <a:avLst/>
          </a:prstGeom>
          <a:solidFill>
            <a:srgbClr val="C9C8C0"/>
          </a:solidFill>
          <a:ln/>
        </p:spPr>
      </p:sp>
      <p:sp>
        <p:nvSpPr>
          <p:cNvPr id="47" name="Shape 45"/>
          <p:cNvSpPr/>
          <p:nvPr/>
        </p:nvSpPr>
        <p:spPr>
          <a:xfrm>
            <a:off x="4793977" y="8482013"/>
            <a:ext cx="1102742" cy="319088"/>
          </a:xfrm>
          <a:prstGeom prst="roundRect">
            <a:avLst>
              <a:gd name="adj" fmla="val 26866"/>
            </a:avLst>
          </a:prstGeom>
          <a:solidFill>
            <a:srgbClr val="FFFFFF"/>
          </a:solidFill>
          <a:ln w="9525">
            <a:solidFill>
              <a:srgbClr val="E1E0D8"/>
            </a:solidFill>
            <a:prstDash val="solid"/>
          </a:ln>
        </p:spPr>
      </p:sp>
      <p:sp>
        <p:nvSpPr>
          <p:cNvPr id="48" name="Text 46"/>
          <p:cNvSpPr/>
          <p:nvPr/>
        </p:nvSpPr>
        <p:spPr>
          <a:xfrm>
            <a:off x="4927327" y="8567738"/>
            <a:ext cx="912242" cy="185737"/>
          </a:xfrm>
          <a:prstGeom prst="rect">
            <a:avLst/>
          </a:prstGeom>
          <a:noFill/>
          <a:ln/>
        </p:spPr>
        <p:txBody>
          <a:bodyPr wrap="square" lIns="25400" tIns="25400" rIns="25400" bIns="25400" rtlCol="0" anchor="t">
            <a:normAutofit/>
          </a:bodyPr>
          <a:lstStyle/>
          <a:p>
            <a:pPr algn="l" indent="0" marL="0">
              <a:buNone/>
            </a:pPr>
            <a:r>
              <a:rPr lang="en-US" sz="1050" b="1" dirty="0">
                <a:solidFill>
                  <a:srgbClr val="18181B"/>
                </a:solidFill>
                <a:latin typeface="Arial" pitchFamily="34" charset="0"/>
                <a:ea typeface="Arial" pitchFamily="34" charset="-122"/>
                <a:cs typeface="Arial" pitchFamily="34" charset="-120"/>
              </a:rPr>
              <a:t>Alertmanager</a:t>
            </a:r>
            <a:endParaRPr lang="en-US" sz="1050" dirty="0"/>
          </a:p>
        </p:txBody>
      </p:sp>
      <p:sp>
        <p:nvSpPr>
          <p:cNvPr id="49" name="Shape 47"/>
          <p:cNvSpPr/>
          <p:nvPr/>
        </p:nvSpPr>
        <p:spPr>
          <a:xfrm>
            <a:off x="6011019" y="8632031"/>
            <a:ext cx="209550" cy="19050"/>
          </a:xfrm>
          <a:prstGeom prst="rect">
            <a:avLst/>
          </a:prstGeom>
          <a:solidFill>
            <a:srgbClr val="C9C8C0"/>
          </a:solidFill>
          <a:ln/>
        </p:spPr>
      </p:sp>
      <p:sp>
        <p:nvSpPr>
          <p:cNvPr id="50" name="Shape 48"/>
          <p:cNvSpPr/>
          <p:nvPr/>
        </p:nvSpPr>
        <p:spPr>
          <a:xfrm>
            <a:off x="6153894" y="8593931"/>
            <a:ext cx="76200" cy="95250"/>
          </a:xfrm>
          <a:prstGeom prst="rect">
            <a:avLst/>
          </a:prstGeom>
          <a:solidFill>
            <a:srgbClr val="C9C8C0"/>
          </a:solidFill>
          <a:ln/>
        </p:spPr>
      </p:sp>
      <p:sp>
        <p:nvSpPr>
          <p:cNvPr id="51" name="Shape 49"/>
          <p:cNvSpPr/>
          <p:nvPr/>
        </p:nvSpPr>
        <p:spPr>
          <a:xfrm>
            <a:off x="6334869" y="8486775"/>
            <a:ext cx="1462088" cy="309563"/>
          </a:xfrm>
          <a:prstGeom prst="roundRect">
            <a:avLst>
              <a:gd name="adj" fmla="val 24615"/>
            </a:avLst>
          </a:prstGeom>
          <a:solidFill>
            <a:srgbClr val="FBEBE9"/>
          </a:solidFill>
          <a:ln w="9525">
            <a:solidFill>
              <a:srgbClr val="F2D2CD"/>
            </a:solidFill>
            <a:prstDash val="solid"/>
          </a:ln>
        </p:spPr>
      </p:sp>
      <p:sp>
        <p:nvSpPr>
          <p:cNvPr id="52" name="Text 50"/>
          <p:cNvSpPr/>
          <p:nvPr/>
        </p:nvSpPr>
        <p:spPr>
          <a:xfrm>
            <a:off x="6458694" y="8562975"/>
            <a:ext cx="1290638" cy="195263"/>
          </a:xfrm>
          <a:prstGeom prst="rect">
            <a:avLst/>
          </a:prstGeom>
          <a:noFill/>
          <a:ln/>
        </p:spPr>
        <p:txBody>
          <a:bodyPr wrap="square" lIns="25400" tIns="25400" rIns="25400" bIns="25400" rtlCol="0" anchor="t">
            <a:normAutofit/>
          </a:bodyPr>
          <a:lstStyle/>
          <a:p>
            <a:pPr algn="l" indent="0" marL="0">
              <a:buNone/>
            </a:pPr>
            <a:r>
              <a:rPr lang="en-US" sz="938" dirty="0">
                <a:solidFill>
                  <a:srgbClr val="A5281B"/>
                </a:solidFill>
                <a:latin typeface="Courier New" pitchFamily="34" charset="0"/>
                <a:ea typeface="Courier New" pitchFamily="34" charset="-122"/>
                <a:cs typeface="Courier New" pitchFamily="34" charset="-120"/>
              </a:rPr>
              <a:t>Slack · PagerDuty</a:t>
            </a:r>
            <a:endParaRPr lang="en-US" sz="938" dirty="0"/>
          </a:p>
        </p:txBody>
      </p:sp>
      <p:sp>
        <p:nvSpPr>
          <p:cNvPr id="53" name="Text 51"/>
          <p:cNvSpPr/>
          <p:nvPr/>
        </p:nvSpPr>
        <p:spPr>
          <a:xfrm>
            <a:off x="10949880" y="2365028"/>
            <a:ext cx="7233731" cy="20002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9A9A93"/>
                </a:solidFill>
                <a:latin typeface="Courier New" pitchFamily="34" charset="0"/>
                <a:ea typeface="Courier New" pitchFamily="34" charset="-122"/>
                <a:cs typeface="Courier New" pitchFamily="34" charset="-120"/>
              </a:rPr>
              <a:t>NETBACKUP REST API FUNCTIONS USED</a:t>
            </a:r>
            <a:endParaRPr lang="en-US" sz="975" dirty="0"/>
          </a:p>
        </p:txBody>
      </p:sp>
      <p:sp>
        <p:nvSpPr>
          <p:cNvPr id="54" name="Shape 52"/>
          <p:cNvSpPr/>
          <p:nvPr/>
        </p:nvSpPr>
        <p:spPr>
          <a:xfrm>
            <a:off x="10949880" y="2660303"/>
            <a:ext cx="6576120" cy="6307485"/>
          </a:xfrm>
          <a:prstGeom prst="roundRect">
            <a:avLst>
              <a:gd name="adj" fmla="val 2114"/>
            </a:avLst>
          </a:prstGeom>
          <a:solidFill>
            <a:srgbClr val="FFFFFF"/>
          </a:solidFill>
          <a:ln w="9525">
            <a:solidFill>
              <a:srgbClr val="E7E6DF"/>
            </a:solidFill>
            <a:prstDash val="solid"/>
          </a:ln>
          <a:effectLst>
            <a:outerShdw sx="100000" sy="100000" kx="0" ky="0" algn="bl" rotWithShape="0" blurRad="19050" dist="9525" dir="5400000">
              <a:srgbClr val="141414">
                <a:alpha val="4000"/>
              </a:srgbClr>
            </a:outerShdw>
          </a:effectLst>
        </p:spPr>
      </p:sp>
      <p:sp>
        <p:nvSpPr>
          <p:cNvPr id="55" name="Shape 53"/>
          <p:cNvSpPr/>
          <p:nvPr/>
        </p:nvSpPr>
        <p:spPr>
          <a:xfrm>
            <a:off x="11035605" y="3965600"/>
            <a:ext cx="6404670" cy="9525"/>
          </a:xfrm>
          <a:prstGeom prst="rect">
            <a:avLst/>
          </a:prstGeom>
          <a:solidFill>
            <a:srgbClr val="F1F0EB"/>
          </a:solidFill>
          <a:ln/>
        </p:spPr>
      </p:sp>
      <p:sp>
        <p:nvSpPr>
          <p:cNvPr id="56" name="Shape 54"/>
          <p:cNvSpPr/>
          <p:nvPr/>
        </p:nvSpPr>
        <p:spPr>
          <a:xfrm>
            <a:off x="11168955" y="2888903"/>
            <a:ext cx="422970" cy="214313"/>
          </a:xfrm>
          <a:prstGeom prst="roundRect">
            <a:avLst>
              <a:gd name="adj" fmla="val 26667"/>
            </a:avLst>
          </a:prstGeom>
          <a:solidFill>
            <a:srgbClr val="FAF1DC"/>
          </a:solidFill>
          <a:ln w="9525">
            <a:solidFill>
              <a:srgbClr val="ECDDB6"/>
            </a:solidFill>
            <a:prstDash val="solid"/>
          </a:ln>
        </p:spPr>
      </p:sp>
      <p:sp>
        <p:nvSpPr>
          <p:cNvPr id="57" name="Text 55"/>
          <p:cNvSpPr/>
          <p:nvPr/>
        </p:nvSpPr>
        <p:spPr>
          <a:xfrm>
            <a:off x="11254680" y="2927003"/>
            <a:ext cx="327720" cy="176213"/>
          </a:xfrm>
          <a:prstGeom prst="rect">
            <a:avLst/>
          </a:prstGeom>
          <a:noFill/>
          <a:ln/>
        </p:spPr>
        <p:txBody>
          <a:bodyPr wrap="square" lIns="25400" tIns="25400" rIns="25400" bIns="25400" rtlCol="0" anchor="t">
            <a:normAutofit/>
          </a:bodyPr>
          <a:lstStyle/>
          <a:p>
            <a:pPr algn="l" indent="0" marL="0">
              <a:buNone/>
            </a:pPr>
            <a:r>
              <a:rPr lang="en-US" sz="825" dirty="0">
                <a:solidFill>
                  <a:srgbClr val="B5882B"/>
                </a:solidFill>
                <a:latin typeface="Courier New" pitchFamily="34" charset="0"/>
                <a:ea typeface="Courier New" pitchFamily="34" charset="-122"/>
                <a:cs typeface="Courier New" pitchFamily="34" charset="-120"/>
              </a:rPr>
              <a:t>POST</a:t>
            </a:r>
            <a:endParaRPr lang="en-US" sz="825" dirty="0"/>
          </a:p>
        </p:txBody>
      </p:sp>
      <p:sp>
        <p:nvSpPr>
          <p:cNvPr id="58" name="Text 56"/>
          <p:cNvSpPr/>
          <p:nvPr/>
        </p:nvSpPr>
        <p:spPr>
          <a:xfrm>
            <a:off x="11706225" y="2869853"/>
            <a:ext cx="2482431" cy="214313"/>
          </a:xfrm>
          <a:prstGeom prst="rect">
            <a:avLst/>
          </a:prstGeom>
          <a:noFill/>
          <a:ln/>
        </p:spPr>
        <p:txBody>
          <a:bodyPr wrap="square" lIns="25400" tIns="25400" rIns="25400" bIns="25400" rtlCol="0" anchor="t">
            <a:normAutofit/>
          </a:bodyPr>
          <a:lstStyle/>
          <a:p>
            <a:pPr algn="l" indent="0" marL="0">
              <a:buNone/>
            </a:pPr>
            <a:r>
              <a:rPr lang="en-US" sz="1050" dirty="0">
                <a:solidFill>
                  <a:srgbClr val="27303B"/>
                </a:solidFill>
                <a:latin typeface="Courier New" pitchFamily="34" charset="0"/>
                <a:ea typeface="Courier New" pitchFamily="34" charset="-122"/>
                <a:cs typeface="Courier New" pitchFamily="34" charset="-120"/>
              </a:rPr>
              <a:t>/netbackup/login</a:t>
            </a:r>
            <a:endParaRPr lang="en-US" sz="1050" dirty="0"/>
          </a:p>
        </p:txBody>
      </p:sp>
      <p:sp>
        <p:nvSpPr>
          <p:cNvPr id="59" name="Text 57"/>
          <p:cNvSpPr/>
          <p:nvPr/>
        </p:nvSpPr>
        <p:spPr>
          <a:xfrm>
            <a:off x="11706225" y="3065115"/>
            <a:ext cx="2482431" cy="211410"/>
          </a:xfrm>
          <a:prstGeom prst="rect">
            <a:avLst/>
          </a:prstGeom>
          <a:noFill/>
          <a:ln/>
        </p:spPr>
        <p:txBody>
          <a:bodyPr wrap="square" lIns="25400" tIns="25400" rIns="25400" bIns="25400" rtlCol="0" anchor="t">
            <a:normAutofit/>
          </a:bodyPr>
          <a:lstStyle/>
          <a:p>
            <a:pPr algn="l" indent="0" marL="0">
              <a:lnSpc>
                <a:spcPct val="140000"/>
              </a:lnSpc>
              <a:buNone/>
            </a:pPr>
            <a:r>
              <a:rPr lang="en-US" sz="975" dirty="0">
                <a:solidFill>
                  <a:srgbClr val="71717A"/>
                </a:solidFill>
                <a:latin typeface="Arial" pitchFamily="34" charset="0"/>
                <a:ea typeface="Arial" pitchFamily="34" charset="-122"/>
                <a:cs typeface="Arial" pitchFamily="34" charset="-120"/>
              </a:rPr>
              <a:t>Authenticate &amp; obtain JWT bearer token.</a:t>
            </a:r>
            <a:endParaRPr lang="en-US" sz="975" dirty="0"/>
          </a:p>
        </p:txBody>
      </p:sp>
      <p:sp>
        <p:nvSpPr>
          <p:cNvPr id="60" name="Shape 58"/>
          <p:cNvSpPr/>
          <p:nvPr/>
        </p:nvSpPr>
        <p:spPr>
          <a:xfrm>
            <a:off x="11035605" y="5194771"/>
            <a:ext cx="6404670" cy="9525"/>
          </a:xfrm>
          <a:prstGeom prst="rect">
            <a:avLst/>
          </a:prstGeom>
          <a:solidFill>
            <a:srgbClr val="F1F0EB"/>
          </a:solidFill>
          <a:ln/>
        </p:spPr>
      </p:sp>
      <p:sp>
        <p:nvSpPr>
          <p:cNvPr id="61" name="Shape 59"/>
          <p:cNvSpPr/>
          <p:nvPr/>
        </p:nvSpPr>
        <p:spPr>
          <a:xfrm>
            <a:off x="11168955" y="4118000"/>
            <a:ext cx="360090" cy="214313"/>
          </a:xfrm>
          <a:prstGeom prst="roundRect">
            <a:avLst>
              <a:gd name="adj" fmla="val 26667"/>
            </a:avLst>
          </a:prstGeom>
          <a:solidFill>
            <a:srgbClr val="EAF0FB"/>
          </a:solidFill>
          <a:ln w="9525">
            <a:solidFill>
              <a:srgbClr val="C9DBF6"/>
            </a:solidFill>
            <a:prstDash val="solid"/>
          </a:ln>
        </p:spPr>
      </p:sp>
      <p:sp>
        <p:nvSpPr>
          <p:cNvPr id="62" name="Text 60"/>
          <p:cNvSpPr/>
          <p:nvPr/>
        </p:nvSpPr>
        <p:spPr>
          <a:xfrm>
            <a:off x="11254680" y="4156100"/>
            <a:ext cx="264840" cy="176213"/>
          </a:xfrm>
          <a:prstGeom prst="rect">
            <a:avLst/>
          </a:prstGeom>
          <a:noFill/>
          <a:ln/>
        </p:spPr>
        <p:txBody>
          <a:bodyPr wrap="square" lIns="25400" tIns="25400" rIns="25400" bIns="25400" rtlCol="0" anchor="t">
            <a:normAutofit/>
          </a:bodyPr>
          <a:lstStyle/>
          <a:p>
            <a:pPr algn="l" indent="0" marL="0">
              <a:buNone/>
            </a:pPr>
            <a:r>
              <a:rPr lang="en-US" sz="825" dirty="0">
                <a:solidFill>
                  <a:srgbClr val="2B5FC7"/>
                </a:solidFill>
                <a:latin typeface="Courier New" pitchFamily="34" charset="0"/>
                <a:ea typeface="Courier New" pitchFamily="34" charset="-122"/>
                <a:cs typeface="Courier New" pitchFamily="34" charset="-120"/>
              </a:rPr>
              <a:t>GET</a:t>
            </a:r>
            <a:endParaRPr lang="en-US" sz="825" dirty="0"/>
          </a:p>
        </p:txBody>
      </p:sp>
      <p:sp>
        <p:nvSpPr>
          <p:cNvPr id="63" name="Text 61"/>
          <p:cNvSpPr/>
          <p:nvPr/>
        </p:nvSpPr>
        <p:spPr>
          <a:xfrm>
            <a:off x="11643345" y="4098950"/>
            <a:ext cx="2450507" cy="214313"/>
          </a:xfrm>
          <a:prstGeom prst="rect">
            <a:avLst/>
          </a:prstGeom>
          <a:noFill/>
          <a:ln/>
        </p:spPr>
        <p:txBody>
          <a:bodyPr wrap="square" lIns="25400" tIns="25400" rIns="25400" bIns="25400" rtlCol="0" anchor="t">
            <a:normAutofit/>
          </a:bodyPr>
          <a:lstStyle/>
          <a:p>
            <a:pPr algn="l" indent="0" marL="0">
              <a:buNone/>
            </a:pPr>
            <a:r>
              <a:rPr lang="en-US" sz="1050" dirty="0">
                <a:solidFill>
                  <a:srgbClr val="27303B"/>
                </a:solidFill>
                <a:latin typeface="Courier New" pitchFamily="34" charset="0"/>
                <a:ea typeface="Courier New" pitchFamily="34" charset="-122"/>
                <a:cs typeface="Courier New" pitchFamily="34" charset="-120"/>
              </a:rPr>
              <a:t>/admin/jobs</a:t>
            </a:r>
            <a:endParaRPr lang="en-US" sz="1050" dirty="0"/>
          </a:p>
        </p:txBody>
      </p:sp>
      <p:sp>
        <p:nvSpPr>
          <p:cNvPr id="64" name="Text 62"/>
          <p:cNvSpPr/>
          <p:nvPr/>
        </p:nvSpPr>
        <p:spPr>
          <a:xfrm>
            <a:off x="11643345" y="4294212"/>
            <a:ext cx="2450507" cy="211410"/>
          </a:xfrm>
          <a:prstGeom prst="rect">
            <a:avLst/>
          </a:prstGeom>
          <a:noFill/>
          <a:ln/>
        </p:spPr>
        <p:txBody>
          <a:bodyPr wrap="square" lIns="25400" tIns="25400" rIns="25400" bIns="25400" rtlCol="0" anchor="t">
            <a:normAutofit/>
          </a:bodyPr>
          <a:lstStyle/>
          <a:p>
            <a:pPr algn="l" indent="0" marL="0">
              <a:lnSpc>
                <a:spcPct val="140000"/>
              </a:lnSpc>
              <a:buNone/>
            </a:pPr>
            <a:r>
              <a:rPr lang="en-US" sz="975" dirty="0">
                <a:solidFill>
                  <a:srgbClr val="71717A"/>
                </a:solidFill>
                <a:latin typeface="Arial" pitchFamily="34" charset="0"/>
                <a:ea typeface="Arial" pitchFamily="34" charset="-122"/>
                <a:cs typeface="Arial" pitchFamily="34" charset="-120"/>
              </a:rPr>
              <a:t>List jobs, filtered to K8s backup policies.</a:t>
            </a:r>
            <a:endParaRPr lang="en-US" sz="975" dirty="0"/>
          </a:p>
        </p:txBody>
      </p:sp>
      <p:sp>
        <p:nvSpPr>
          <p:cNvPr id="65" name="Shape 63"/>
          <p:cNvSpPr/>
          <p:nvPr/>
        </p:nvSpPr>
        <p:spPr>
          <a:xfrm>
            <a:off x="11035605" y="6423868"/>
            <a:ext cx="6404670" cy="9525"/>
          </a:xfrm>
          <a:prstGeom prst="rect">
            <a:avLst/>
          </a:prstGeom>
          <a:solidFill>
            <a:srgbClr val="F1F0EB"/>
          </a:solidFill>
          <a:ln/>
        </p:spPr>
      </p:sp>
      <p:sp>
        <p:nvSpPr>
          <p:cNvPr id="66" name="Shape 64"/>
          <p:cNvSpPr/>
          <p:nvPr/>
        </p:nvSpPr>
        <p:spPr>
          <a:xfrm>
            <a:off x="11168955" y="5347171"/>
            <a:ext cx="360090" cy="214313"/>
          </a:xfrm>
          <a:prstGeom prst="roundRect">
            <a:avLst>
              <a:gd name="adj" fmla="val 26667"/>
            </a:avLst>
          </a:prstGeom>
          <a:solidFill>
            <a:srgbClr val="EAF0FB"/>
          </a:solidFill>
          <a:ln w="9525">
            <a:solidFill>
              <a:srgbClr val="C9DBF6"/>
            </a:solidFill>
            <a:prstDash val="solid"/>
          </a:ln>
        </p:spPr>
      </p:sp>
      <p:sp>
        <p:nvSpPr>
          <p:cNvPr id="67" name="Text 65"/>
          <p:cNvSpPr/>
          <p:nvPr/>
        </p:nvSpPr>
        <p:spPr>
          <a:xfrm>
            <a:off x="11254680" y="5385271"/>
            <a:ext cx="264840" cy="176213"/>
          </a:xfrm>
          <a:prstGeom prst="rect">
            <a:avLst/>
          </a:prstGeom>
          <a:noFill/>
          <a:ln/>
        </p:spPr>
        <p:txBody>
          <a:bodyPr wrap="square" lIns="25400" tIns="25400" rIns="25400" bIns="25400" rtlCol="0" anchor="t">
            <a:normAutofit/>
          </a:bodyPr>
          <a:lstStyle/>
          <a:p>
            <a:pPr algn="l" indent="0" marL="0">
              <a:buNone/>
            </a:pPr>
            <a:r>
              <a:rPr lang="en-US" sz="825" dirty="0">
                <a:solidFill>
                  <a:srgbClr val="2B5FC7"/>
                </a:solidFill>
                <a:latin typeface="Courier New" pitchFamily="34" charset="0"/>
                <a:ea typeface="Courier New" pitchFamily="34" charset="-122"/>
                <a:cs typeface="Courier New" pitchFamily="34" charset="-120"/>
              </a:rPr>
              <a:t>GET</a:t>
            </a:r>
            <a:endParaRPr lang="en-US" sz="825" dirty="0"/>
          </a:p>
        </p:txBody>
      </p:sp>
      <p:sp>
        <p:nvSpPr>
          <p:cNvPr id="68" name="Text 66"/>
          <p:cNvSpPr/>
          <p:nvPr/>
        </p:nvSpPr>
        <p:spPr>
          <a:xfrm>
            <a:off x="11643345" y="5328121"/>
            <a:ext cx="2124068" cy="214313"/>
          </a:xfrm>
          <a:prstGeom prst="rect">
            <a:avLst/>
          </a:prstGeom>
          <a:noFill/>
          <a:ln/>
        </p:spPr>
        <p:txBody>
          <a:bodyPr wrap="square" lIns="25400" tIns="25400" rIns="25400" bIns="25400" rtlCol="0" anchor="t">
            <a:normAutofit/>
          </a:bodyPr>
          <a:lstStyle/>
          <a:p>
            <a:pPr algn="l" indent="0" marL="0">
              <a:buNone/>
            </a:pPr>
            <a:r>
              <a:rPr lang="en-US" sz="1050" dirty="0">
                <a:solidFill>
                  <a:srgbClr val="27303B"/>
                </a:solidFill>
                <a:latin typeface="Courier New" pitchFamily="34" charset="0"/>
                <a:ea typeface="Courier New" pitchFamily="34" charset="-122"/>
                <a:cs typeface="Courier New" pitchFamily="34" charset="-120"/>
              </a:rPr>
              <a:t>/admin/jobs/{jobId}</a:t>
            </a:r>
            <a:endParaRPr lang="en-US" sz="1050" dirty="0"/>
          </a:p>
        </p:txBody>
      </p:sp>
      <p:sp>
        <p:nvSpPr>
          <p:cNvPr id="69" name="Text 67"/>
          <p:cNvSpPr/>
          <p:nvPr/>
        </p:nvSpPr>
        <p:spPr>
          <a:xfrm>
            <a:off x="11643345" y="5523384"/>
            <a:ext cx="2124068" cy="211410"/>
          </a:xfrm>
          <a:prstGeom prst="rect">
            <a:avLst/>
          </a:prstGeom>
          <a:noFill/>
          <a:ln/>
        </p:spPr>
        <p:txBody>
          <a:bodyPr wrap="square" lIns="25400" tIns="25400" rIns="25400" bIns="25400" rtlCol="0" anchor="t">
            <a:normAutofit/>
          </a:bodyPr>
          <a:lstStyle/>
          <a:p>
            <a:pPr algn="l" indent="0" marL="0">
              <a:lnSpc>
                <a:spcPct val="140000"/>
              </a:lnSpc>
              <a:buNone/>
            </a:pPr>
            <a:r>
              <a:rPr lang="en-US" sz="975" dirty="0">
                <a:solidFill>
                  <a:srgbClr val="71717A"/>
                </a:solidFill>
                <a:latin typeface="Arial" pitchFamily="34" charset="0"/>
                <a:ea typeface="Arial" pitchFamily="34" charset="-122"/>
                <a:cs typeface="Arial" pitchFamily="34" charset="-120"/>
              </a:rPr>
              <a:t>Status, exit code, duration &amp; bytes.</a:t>
            </a:r>
            <a:endParaRPr lang="en-US" sz="975" dirty="0"/>
          </a:p>
        </p:txBody>
      </p:sp>
      <p:sp>
        <p:nvSpPr>
          <p:cNvPr id="70" name="Shape 68"/>
          <p:cNvSpPr/>
          <p:nvPr/>
        </p:nvSpPr>
        <p:spPr>
          <a:xfrm>
            <a:off x="11035605" y="7652965"/>
            <a:ext cx="6404670" cy="9525"/>
          </a:xfrm>
          <a:prstGeom prst="rect">
            <a:avLst/>
          </a:prstGeom>
          <a:solidFill>
            <a:srgbClr val="F1F0EB"/>
          </a:solidFill>
          <a:ln/>
        </p:spPr>
      </p:sp>
      <p:sp>
        <p:nvSpPr>
          <p:cNvPr id="71" name="Shape 69"/>
          <p:cNvSpPr/>
          <p:nvPr/>
        </p:nvSpPr>
        <p:spPr>
          <a:xfrm>
            <a:off x="11168955" y="6576268"/>
            <a:ext cx="360090" cy="214313"/>
          </a:xfrm>
          <a:prstGeom prst="roundRect">
            <a:avLst>
              <a:gd name="adj" fmla="val 26667"/>
            </a:avLst>
          </a:prstGeom>
          <a:solidFill>
            <a:srgbClr val="EAF0FB"/>
          </a:solidFill>
          <a:ln w="9525">
            <a:solidFill>
              <a:srgbClr val="C9DBF6"/>
            </a:solidFill>
            <a:prstDash val="solid"/>
          </a:ln>
        </p:spPr>
      </p:sp>
      <p:sp>
        <p:nvSpPr>
          <p:cNvPr id="72" name="Text 70"/>
          <p:cNvSpPr/>
          <p:nvPr/>
        </p:nvSpPr>
        <p:spPr>
          <a:xfrm>
            <a:off x="11254680" y="6614368"/>
            <a:ext cx="264840" cy="176213"/>
          </a:xfrm>
          <a:prstGeom prst="rect">
            <a:avLst/>
          </a:prstGeom>
          <a:noFill/>
          <a:ln/>
        </p:spPr>
        <p:txBody>
          <a:bodyPr wrap="square" lIns="25400" tIns="25400" rIns="25400" bIns="25400" rtlCol="0" anchor="t">
            <a:normAutofit/>
          </a:bodyPr>
          <a:lstStyle/>
          <a:p>
            <a:pPr algn="l" indent="0" marL="0">
              <a:buNone/>
            </a:pPr>
            <a:r>
              <a:rPr lang="en-US" sz="825" dirty="0">
                <a:solidFill>
                  <a:srgbClr val="2B5FC7"/>
                </a:solidFill>
                <a:latin typeface="Courier New" pitchFamily="34" charset="0"/>
                <a:ea typeface="Courier New" pitchFamily="34" charset="-122"/>
                <a:cs typeface="Courier New" pitchFamily="34" charset="-120"/>
              </a:rPr>
              <a:t>GET</a:t>
            </a:r>
            <a:endParaRPr lang="en-US" sz="825" dirty="0"/>
          </a:p>
        </p:txBody>
      </p:sp>
      <p:sp>
        <p:nvSpPr>
          <p:cNvPr id="73" name="Text 71"/>
          <p:cNvSpPr/>
          <p:nvPr/>
        </p:nvSpPr>
        <p:spPr>
          <a:xfrm>
            <a:off x="11643345" y="6557218"/>
            <a:ext cx="2464341" cy="214313"/>
          </a:xfrm>
          <a:prstGeom prst="rect">
            <a:avLst/>
          </a:prstGeom>
          <a:noFill/>
          <a:ln/>
        </p:spPr>
        <p:txBody>
          <a:bodyPr wrap="square" lIns="25400" tIns="25400" rIns="25400" bIns="25400" rtlCol="0" anchor="t">
            <a:normAutofit/>
          </a:bodyPr>
          <a:lstStyle/>
          <a:p>
            <a:pPr algn="l" indent="0" marL="0">
              <a:buNone/>
            </a:pPr>
            <a:r>
              <a:rPr lang="en-US" sz="1050" dirty="0">
                <a:solidFill>
                  <a:srgbClr val="27303B"/>
                </a:solidFill>
                <a:latin typeface="Courier New" pitchFamily="34" charset="0"/>
                <a:ea typeface="Courier New" pitchFamily="34" charset="-122"/>
                <a:cs typeface="Courier New" pitchFamily="34" charset="-120"/>
              </a:rPr>
              <a:t>/admin/jobs/{jobId}/try-logs</a:t>
            </a:r>
            <a:endParaRPr lang="en-US" sz="1050" dirty="0"/>
          </a:p>
        </p:txBody>
      </p:sp>
      <p:sp>
        <p:nvSpPr>
          <p:cNvPr id="74" name="Text 72"/>
          <p:cNvSpPr/>
          <p:nvPr/>
        </p:nvSpPr>
        <p:spPr>
          <a:xfrm>
            <a:off x="11643345" y="6752481"/>
            <a:ext cx="2464341" cy="211410"/>
          </a:xfrm>
          <a:prstGeom prst="rect">
            <a:avLst/>
          </a:prstGeom>
          <a:noFill/>
          <a:ln/>
        </p:spPr>
        <p:txBody>
          <a:bodyPr wrap="square" lIns="25400" tIns="25400" rIns="25400" bIns="25400" rtlCol="0" anchor="t">
            <a:normAutofit/>
          </a:bodyPr>
          <a:lstStyle/>
          <a:p>
            <a:pPr algn="l" indent="0" marL="0">
              <a:lnSpc>
                <a:spcPct val="140000"/>
              </a:lnSpc>
              <a:buNone/>
            </a:pPr>
            <a:r>
              <a:rPr lang="en-US" sz="975" dirty="0">
                <a:solidFill>
                  <a:srgbClr val="71717A"/>
                </a:solidFill>
                <a:latin typeface="Arial" pitchFamily="34" charset="0"/>
                <a:ea typeface="Arial" pitchFamily="34" charset="-122"/>
                <a:cs typeface="Arial" pitchFamily="34" charset="-120"/>
              </a:rPr>
              <a:t>Error text surfaced on failed jobs.</a:t>
            </a:r>
            <a:endParaRPr lang="en-US" sz="975" dirty="0"/>
          </a:p>
        </p:txBody>
      </p:sp>
      <p:sp>
        <p:nvSpPr>
          <p:cNvPr id="75" name="Shape 73"/>
          <p:cNvSpPr/>
          <p:nvPr/>
        </p:nvSpPr>
        <p:spPr>
          <a:xfrm>
            <a:off x="11168955" y="7805365"/>
            <a:ext cx="360090" cy="214313"/>
          </a:xfrm>
          <a:prstGeom prst="roundRect">
            <a:avLst>
              <a:gd name="adj" fmla="val 26667"/>
            </a:avLst>
          </a:prstGeom>
          <a:solidFill>
            <a:srgbClr val="EAF0FB"/>
          </a:solidFill>
          <a:ln w="9525">
            <a:solidFill>
              <a:srgbClr val="C9DBF6"/>
            </a:solidFill>
            <a:prstDash val="solid"/>
          </a:ln>
        </p:spPr>
      </p:sp>
      <p:sp>
        <p:nvSpPr>
          <p:cNvPr id="76" name="Text 74"/>
          <p:cNvSpPr/>
          <p:nvPr/>
        </p:nvSpPr>
        <p:spPr>
          <a:xfrm>
            <a:off x="11254680" y="7843465"/>
            <a:ext cx="264840" cy="176213"/>
          </a:xfrm>
          <a:prstGeom prst="rect">
            <a:avLst/>
          </a:prstGeom>
          <a:noFill/>
          <a:ln/>
        </p:spPr>
        <p:txBody>
          <a:bodyPr wrap="square" lIns="25400" tIns="25400" rIns="25400" bIns="25400" rtlCol="0" anchor="t">
            <a:normAutofit/>
          </a:bodyPr>
          <a:lstStyle/>
          <a:p>
            <a:pPr algn="l" indent="0" marL="0">
              <a:buNone/>
            </a:pPr>
            <a:r>
              <a:rPr lang="en-US" sz="825" dirty="0">
                <a:solidFill>
                  <a:srgbClr val="2B5FC7"/>
                </a:solidFill>
                <a:latin typeface="Courier New" pitchFamily="34" charset="0"/>
                <a:ea typeface="Courier New" pitchFamily="34" charset="-122"/>
                <a:cs typeface="Courier New" pitchFamily="34" charset="-120"/>
              </a:rPr>
              <a:t>GET</a:t>
            </a:r>
            <a:endParaRPr lang="en-US" sz="825" dirty="0"/>
          </a:p>
        </p:txBody>
      </p:sp>
      <p:sp>
        <p:nvSpPr>
          <p:cNvPr id="77" name="Text 75"/>
          <p:cNvSpPr/>
          <p:nvPr/>
        </p:nvSpPr>
        <p:spPr>
          <a:xfrm>
            <a:off x="11643345" y="7786315"/>
            <a:ext cx="2376346" cy="214313"/>
          </a:xfrm>
          <a:prstGeom prst="rect">
            <a:avLst/>
          </a:prstGeom>
          <a:noFill/>
          <a:ln/>
        </p:spPr>
        <p:txBody>
          <a:bodyPr wrap="square" lIns="25400" tIns="25400" rIns="25400" bIns="25400" rtlCol="0" anchor="t">
            <a:normAutofit/>
          </a:bodyPr>
          <a:lstStyle/>
          <a:p>
            <a:pPr algn="l" indent="0" marL="0">
              <a:buNone/>
            </a:pPr>
            <a:r>
              <a:rPr lang="en-US" sz="1050" dirty="0">
                <a:solidFill>
                  <a:srgbClr val="27303B"/>
                </a:solidFill>
                <a:latin typeface="Courier New" pitchFamily="34" charset="0"/>
                <a:ea typeface="Courier New" pitchFamily="34" charset="-122"/>
                <a:cs typeface="Courier New" pitchFamily="34" charset="-120"/>
              </a:rPr>
              <a:t>/asset-service · kubernetes</a:t>
            </a:r>
            <a:endParaRPr lang="en-US" sz="1050" dirty="0"/>
          </a:p>
        </p:txBody>
      </p:sp>
      <p:sp>
        <p:nvSpPr>
          <p:cNvPr id="78" name="Text 76"/>
          <p:cNvSpPr/>
          <p:nvPr/>
        </p:nvSpPr>
        <p:spPr>
          <a:xfrm>
            <a:off x="11643345" y="7981578"/>
            <a:ext cx="2376346" cy="211410"/>
          </a:xfrm>
          <a:prstGeom prst="rect">
            <a:avLst/>
          </a:prstGeom>
          <a:noFill/>
          <a:ln/>
        </p:spPr>
        <p:txBody>
          <a:bodyPr wrap="square" lIns="25400" tIns="25400" rIns="25400" bIns="25400" rtlCol="0" anchor="t">
            <a:normAutofit/>
          </a:bodyPr>
          <a:lstStyle/>
          <a:p>
            <a:pPr algn="l" indent="0" marL="0">
              <a:lnSpc>
                <a:spcPct val="140000"/>
              </a:lnSpc>
              <a:buNone/>
            </a:pPr>
            <a:r>
              <a:rPr lang="en-US" sz="975" dirty="0">
                <a:solidFill>
                  <a:srgbClr val="71717A"/>
                </a:solidFill>
                <a:latin typeface="Arial" pitchFamily="34" charset="0"/>
                <a:ea typeface="Arial" pitchFamily="34" charset="-122"/>
                <a:cs typeface="Arial" pitchFamily="34" charset="-120"/>
              </a:rPr>
              <a:t>Cluster / asset inventory for context.</a:t>
            </a:r>
            <a:endParaRPr lang="en-US" sz="975" dirty="0"/>
          </a:p>
        </p:txBody>
      </p:sp>
      <p:sp>
        <p:nvSpPr>
          <p:cNvPr id="79" name="Shape 77"/>
          <p:cNvSpPr/>
          <p:nvPr/>
        </p:nvSpPr>
        <p:spPr>
          <a:xfrm>
            <a:off x="762000" y="9215438"/>
            <a:ext cx="3663925" cy="576263"/>
          </a:xfrm>
          <a:prstGeom prst="roundRect">
            <a:avLst>
              <a:gd name="adj" fmla="val 19835"/>
            </a:avLst>
          </a:prstGeom>
          <a:solidFill>
            <a:srgbClr val="E7F4EC"/>
          </a:solidFill>
          <a:ln w="9525">
            <a:solidFill>
              <a:srgbClr val="CDE8D7"/>
            </a:solidFill>
            <a:prstDash val="solid"/>
          </a:ln>
        </p:spPr>
      </p:sp>
      <p:sp>
        <p:nvSpPr>
          <p:cNvPr id="80" name="Text 78"/>
          <p:cNvSpPr/>
          <p:nvPr/>
        </p:nvSpPr>
        <p:spPr>
          <a:xfrm>
            <a:off x="942975" y="9427369"/>
            <a:ext cx="1008906" cy="19050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1F8A5B"/>
                </a:solidFill>
                <a:latin typeface="Courier New" pitchFamily="34" charset="0"/>
                <a:ea typeface="Courier New" pitchFamily="34" charset="-122"/>
                <a:cs typeface="Courier New" pitchFamily="34" charset="-120"/>
              </a:rPr>
              <a:t>SUCCESS RATE</a:t>
            </a:r>
            <a:endParaRPr lang="en-US" sz="900" dirty="0"/>
          </a:p>
        </p:txBody>
      </p:sp>
      <p:sp>
        <p:nvSpPr>
          <p:cNvPr id="81" name="Text 79"/>
          <p:cNvSpPr/>
          <p:nvPr/>
        </p:nvSpPr>
        <p:spPr>
          <a:xfrm>
            <a:off x="3488680" y="9348788"/>
            <a:ext cx="83247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15724A"/>
                </a:solidFill>
                <a:latin typeface="Arial" pitchFamily="34" charset="0"/>
                <a:ea typeface="Arial" pitchFamily="34" charset="-122"/>
                <a:cs typeface="Arial" pitchFamily="34" charset="-120"/>
              </a:rPr>
              <a:t>98.6%</a:t>
            </a:r>
            <a:endParaRPr lang="en-US" sz="2100" dirty="0"/>
          </a:p>
        </p:txBody>
      </p:sp>
      <p:sp>
        <p:nvSpPr>
          <p:cNvPr id="82" name="Shape 80"/>
          <p:cNvSpPr/>
          <p:nvPr/>
        </p:nvSpPr>
        <p:spPr>
          <a:xfrm>
            <a:off x="4578325" y="9215438"/>
            <a:ext cx="3664000" cy="576263"/>
          </a:xfrm>
          <a:prstGeom prst="roundRect">
            <a:avLst>
              <a:gd name="adj" fmla="val 19835"/>
            </a:avLst>
          </a:prstGeom>
          <a:solidFill>
            <a:srgbClr val="FBEBE9"/>
          </a:solidFill>
          <a:ln w="9525">
            <a:solidFill>
              <a:srgbClr val="F2D2CD"/>
            </a:solidFill>
            <a:prstDash val="solid"/>
          </a:ln>
        </p:spPr>
      </p:sp>
      <p:sp>
        <p:nvSpPr>
          <p:cNvPr id="83" name="Text 81"/>
          <p:cNvSpPr/>
          <p:nvPr/>
        </p:nvSpPr>
        <p:spPr>
          <a:xfrm>
            <a:off x="4759300" y="9427369"/>
            <a:ext cx="1453508" cy="19050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C0392B"/>
                </a:solidFill>
                <a:latin typeface="Courier New" pitchFamily="34" charset="0"/>
                <a:ea typeface="Courier New" pitchFamily="34" charset="-122"/>
                <a:cs typeface="Courier New" pitchFamily="34" charset="-120"/>
              </a:rPr>
              <a:t>FAILED JOBS / 24h</a:t>
            </a:r>
            <a:endParaRPr lang="en-US" sz="900" dirty="0"/>
          </a:p>
        </p:txBody>
      </p:sp>
      <p:sp>
        <p:nvSpPr>
          <p:cNvPr id="84" name="Text 82"/>
          <p:cNvSpPr/>
          <p:nvPr/>
        </p:nvSpPr>
        <p:spPr>
          <a:xfrm>
            <a:off x="7912968" y="9348788"/>
            <a:ext cx="224582"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A5281B"/>
                </a:solidFill>
                <a:latin typeface="Arial" pitchFamily="34" charset="0"/>
                <a:ea typeface="Arial" pitchFamily="34" charset="-122"/>
                <a:cs typeface="Arial" pitchFamily="34" charset="-120"/>
              </a:rPr>
              <a:t>3</a:t>
            </a:r>
            <a:endParaRPr lang="en-US" sz="2100" dirty="0"/>
          </a:p>
        </p:txBody>
      </p:sp>
      <p:sp>
        <p:nvSpPr>
          <p:cNvPr id="85" name="Shape 83"/>
          <p:cNvSpPr/>
          <p:nvPr/>
        </p:nvSpPr>
        <p:spPr>
          <a:xfrm>
            <a:off x="8394725" y="9215438"/>
            <a:ext cx="3663925" cy="576263"/>
          </a:xfrm>
          <a:prstGeom prst="roundRect">
            <a:avLst>
              <a:gd name="adj" fmla="val 19835"/>
            </a:avLst>
          </a:prstGeom>
          <a:solidFill>
            <a:srgbClr val="F2F2EE"/>
          </a:solidFill>
          <a:ln w="9525">
            <a:solidFill>
              <a:srgbClr val="E3E2DB"/>
            </a:solidFill>
            <a:prstDash val="solid"/>
          </a:ln>
        </p:spPr>
      </p:sp>
      <p:sp>
        <p:nvSpPr>
          <p:cNvPr id="86" name="Text 84"/>
          <p:cNvSpPr/>
          <p:nvPr/>
        </p:nvSpPr>
        <p:spPr>
          <a:xfrm>
            <a:off x="8575700" y="9427369"/>
            <a:ext cx="1008906" cy="19050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71717A"/>
                </a:solidFill>
                <a:latin typeface="Courier New" pitchFamily="34" charset="0"/>
                <a:ea typeface="Courier New" pitchFamily="34" charset="-122"/>
                <a:cs typeface="Courier New" pitchFamily="34" charset="-120"/>
              </a:rPr>
              <a:t>JOBS TRACKED</a:t>
            </a:r>
            <a:endParaRPr lang="en-US" sz="900" dirty="0"/>
          </a:p>
        </p:txBody>
      </p:sp>
      <p:sp>
        <p:nvSpPr>
          <p:cNvPr id="87" name="Text 85"/>
          <p:cNvSpPr/>
          <p:nvPr/>
        </p:nvSpPr>
        <p:spPr>
          <a:xfrm>
            <a:off x="11432679" y="9348788"/>
            <a:ext cx="521196"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3F3F46"/>
                </a:solidFill>
                <a:latin typeface="Arial" pitchFamily="34" charset="0"/>
                <a:ea typeface="Arial" pitchFamily="34" charset="-122"/>
                <a:cs typeface="Arial" pitchFamily="34" charset="-120"/>
              </a:rPr>
              <a:t>412</a:t>
            </a:r>
            <a:endParaRPr lang="en-US" sz="2100" dirty="0"/>
          </a:p>
        </p:txBody>
      </p:sp>
      <p:sp>
        <p:nvSpPr>
          <p:cNvPr id="88" name="Shape 86"/>
          <p:cNvSpPr/>
          <p:nvPr/>
        </p:nvSpPr>
        <p:spPr>
          <a:xfrm>
            <a:off x="12211050" y="9215438"/>
            <a:ext cx="5314950" cy="576263"/>
          </a:xfrm>
          <a:prstGeom prst="roundRect">
            <a:avLst>
              <a:gd name="adj" fmla="val 19835"/>
            </a:avLst>
          </a:prstGeom>
          <a:solidFill>
            <a:srgbClr val="FFFFFF"/>
          </a:solidFill>
          <a:ln w="9525">
            <a:solidFill>
              <a:srgbClr val="E7E6DF"/>
            </a:solidFill>
            <a:prstDash val="solid"/>
          </a:ln>
        </p:spPr>
      </p:sp>
      <p:sp>
        <p:nvSpPr>
          <p:cNvPr id="89" name="Text 87"/>
          <p:cNvSpPr/>
          <p:nvPr/>
        </p:nvSpPr>
        <p:spPr>
          <a:xfrm>
            <a:off x="12392025" y="9427369"/>
            <a:ext cx="387102" cy="19050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9A9A93"/>
                </a:solidFill>
                <a:latin typeface="Courier New" pitchFamily="34" charset="0"/>
                <a:ea typeface="Courier New" pitchFamily="34" charset="-122"/>
                <a:cs typeface="Courier New" pitchFamily="34" charset="-120"/>
              </a:rPr>
              <a:t>MTTD</a:t>
            </a:r>
            <a:endParaRPr lang="en-US" sz="900" dirty="0"/>
          </a:p>
        </p:txBody>
      </p:sp>
      <p:sp>
        <p:nvSpPr>
          <p:cNvPr id="90" name="Text 88"/>
          <p:cNvSpPr/>
          <p:nvPr/>
        </p:nvSpPr>
        <p:spPr>
          <a:xfrm>
            <a:off x="12817227" y="9413528"/>
            <a:ext cx="4014929" cy="218108"/>
          </a:xfrm>
          <a:prstGeom prst="rect">
            <a:avLst/>
          </a:prstGeom>
          <a:noFill/>
          <a:ln/>
        </p:spPr>
        <p:txBody>
          <a:bodyPr wrap="square" lIns="25400" tIns="25400" rIns="25400" bIns="25400" rtlCol="0" anchor="t">
            <a:normAutofit/>
          </a:bodyPr>
          <a:lstStyle/>
          <a:p>
            <a:pPr algn="l" indent="0" marL="0">
              <a:lnSpc>
                <a:spcPct val="135000"/>
              </a:lnSpc>
              <a:buNone/>
            </a:pPr>
            <a:r>
              <a:rPr lang="en-US" sz="1050" dirty="0">
                <a:solidFill>
                  <a:srgbClr val="71717A"/>
                </a:solidFill>
                <a:latin typeface="Arial" pitchFamily="34" charset="0"/>
                <a:ea typeface="Arial" pitchFamily="34" charset="-122"/>
                <a:cs typeface="Arial" pitchFamily="34" charset="-120"/>
              </a:rPr>
              <a:t>Failed backups detected &amp; alerted within one scrape interval.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762000" y="571500"/>
            <a:ext cx="12363450" cy="223838"/>
          </a:xfrm>
          <a:prstGeom prst="rect">
            <a:avLst/>
          </a:prstGeom>
          <a:noFill/>
          <a:ln/>
        </p:spPr>
        <p:txBody>
          <a:bodyPr wrap="square" lIns="25400" tIns="25400" rIns="25400" bIns="25400" rtlCol="0" anchor="t">
            <a:normAutofit/>
          </a:bodyPr>
          <a:lstStyle/>
          <a:p>
            <a:pPr algn="l" indent="0" marL="0">
              <a:buNone/>
            </a:pPr>
            <a:r>
              <a:rPr lang="en-US" sz="1125" spc="247" kern="0" dirty="0">
                <a:solidFill>
                  <a:srgbClr val="2B5FC7"/>
                </a:solidFill>
                <a:latin typeface="Courier New" pitchFamily="34" charset="0"/>
                <a:ea typeface="Courier New" pitchFamily="34" charset="-122"/>
                <a:cs typeface="Courier New" pitchFamily="34" charset="-120"/>
              </a:rPr>
              <a:t>04 — BACKUP CATALOG</a:t>
            </a:r>
            <a:endParaRPr lang="en-US" sz="1125" dirty="0"/>
          </a:p>
        </p:txBody>
      </p:sp>
      <p:sp>
        <p:nvSpPr>
          <p:cNvPr id="3" name="Text 1"/>
          <p:cNvSpPr/>
          <p:nvPr/>
        </p:nvSpPr>
        <p:spPr>
          <a:xfrm>
            <a:off x="762000" y="890588"/>
            <a:ext cx="12363450" cy="498128"/>
          </a:xfrm>
          <a:prstGeom prst="rect">
            <a:avLst/>
          </a:prstGeom>
          <a:noFill/>
          <a:ln/>
        </p:spPr>
        <p:txBody>
          <a:bodyPr wrap="square" lIns="25400" tIns="25400" rIns="25400" bIns="25400" rtlCol="0" anchor="t">
            <a:normAutofit/>
          </a:bodyPr>
          <a:lstStyle/>
          <a:p>
            <a:pPr algn="l" indent="0" marL="0">
              <a:lnSpc>
                <a:spcPct val="105000"/>
              </a:lnSpc>
              <a:buNone/>
            </a:pPr>
            <a:r>
              <a:rPr lang="en-US" sz="3450" b="1" spc="-69" kern="0" dirty="0">
                <a:solidFill>
                  <a:srgbClr val="18181B"/>
                </a:solidFill>
                <a:latin typeface="Arial" pitchFamily="34" charset="0"/>
                <a:ea typeface="Arial" pitchFamily="34" charset="-122"/>
                <a:cs typeface="Arial" pitchFamily="34" charset="-120"/>
              </a:rPr>
              <a:t>The backed-up files catalog in Kibana</a:t>
            </a:r>
            <a:endParaRPr lang="en-US" sz="3450" dirty="0"/>
          </a:p>
        </p:txBody>
      </p:sp>
      <p:sp>
        <p:nvSpPr>
          <p:cNvPr id="4" name="Text 2"/>
          <p:cNvSpPr/>
          <p:nvPr/>
        </p:nvSpPr>
        <p:spPr>
          <a:xfrm>
            <a:off x="762000" y="1483965"/>
            <a:ext cx="10595610" cy="604837"/>
          </a:xfrm>
          <a:prstGeom prst="rect">
            <a:avLst/>
          </a:prstGeom>
          <a:noFill/>
          <a:ln/>
        </p:spPr>
        <p:txBody>
          <a:bodyPr wrap="square" lIns="25400" tIns="25400" rIns="25400" bIns="25400" rtlCol="0" anchor="t">
            <a:normAutofit/>
          </a:bodyPr>
          <a:lstStyle/>
          <a:p>
            <a:pPr algn="l" indent="0" marL="0">
              <a:lnSpc>
                <a:spcPct val="150000"/>
              </a:lnSpc>
              <a:buNone/>
            </a:pPr>
            <a:r>
              <a:rPr lang="en-US" sz="1463" dirty="0">
                <a:solidFill>
                  <a:srgbClr val="52525B"/>
                </a:solidFill>
                <a:latin typeface="Arial" pitchFamily="34" charset="0"/>
                <a:ea typeface="Arial" pitchFamily="34" charset="-122"/>
                <a:cs typeface="Arial" pitchFamily="34" charset="-120"/>
              </a:rPr>
              <a:t>Each job's file list is shipped to Elasticsearch and browsed in Kibana — full visibility of </a:t>
            </a:r>
            <a:pPr algn="l" indent="0" marL="0">
              <a:lnSpc>
                <a:spcPct val="150000"/>
              </a:lnSpc>
              <a:buNone/>
            </a:pPr>
            <a:r>
              <a:rPr lang="en-US" sz="1463" i="1" dirty="0">
                <a:solidFill>
                  <a:srgbClr val="52525B"/>
                </a:solidFill>
                <a:latin typeface="Arial" pitchFamily="34" charset="0"/>
                <a:ea typeface="Arial" pitchFamily="34" charset="-122"/>
                <a:cs typeface="Arial" pitchFamily="34" charset="-120"/>
              </a:rPr>
              <a:t>what </a:t>
            </a:r>
            <a:pPr algn="l" indent="0" marL="0">
              <a:lnSpc>
                <a:spcPct val="150000"/>
              </a:lnSpc>
              <a:buNone/>
            </a:pPr>
            <a:r>
              <a:rPr lang="en-US" sz="1463" dirty="0">
                <a:solidFill>
                  <a:srgbClr val="52525B"/>
                </a:solidFill>
                <a:latin typeface="Arial" pitchFamily="34" charset="0"/>
                <a:ea typeface="Arial" pitchFamily="34" charset="-122"/>
                <a:cs typeface="Arial" pitchFamily="34" charset="-120"/>
              </a:rPr>
              <a:t>was protected, alongside the Grafana </a:t>
            </a:r>
            <a:pPr algn="l" indent="0" marL="0">
              <a:lnSpc>
                <a:spcPct val="150000"/>
              </a:lnSpc>
              <a:buNone/>
            </a:pPr>
            <a:r>
              <a:rPr lang="en-US" sz="1463" i="1" dirty="0">
                <a:solidFill>
                  <a:srgbClr val="52525B"/>
                </a:solidFill>
                <a:latin typeface="Arial" pitchFamily="34" charset="0"/>
                <a:ea typeface="Arial" pitchFamily="34" charset="-122"/>
                <a:cs typeface="Arial" pitchFamily="34" charset="-120"/>
              </a:rPr>
              <a:t>job-status </a:t>
            </a:r>
            <a:pPr algn="l" indent="0" marL="0">
              <a:lnSpc>
                <a:spcPct val="150000"/>
              </a:lnSpc>
              <a:buNone/>
            </a:pPr>
            <a:r>
              <a:rPr lang="en-US" sz="1463" dirty="0">
                <a:solidFill>
                  <a:srgbClr val="52525B"/>
                </a:solidFill>
                <a:latin typeface="Arial" pitchFamily="34" charset="0"/>
                <a:ea typeface="Arial" pitchFamily="34" charset="-122"/>
                <a:cs typeface="Arial" pitchFamily="34" charset="-120"/>
              </a:rPr>
              <a:t>metrics.</a:t>
            </a:r>
            <a:endParaRPr lang="en-US" sz="1463" dirty="0"/>
          </a:p>
        </p:txBody>
      </p:sp>
      <p:sp>
        <p:nvSpPr>
          <p:cNvPr id="5" name="Shape 3"/>
          <p:cNvSpPr/>
          <p:nvPr/>
        </p:nvSpPr>
        <p:spPr>
          <a:xfrm>
            <a:off x="762000" y="2279303"/>
            <a:ext cx="1808038" cy="500063"/>
          </a:xfrm>
          <a:prstGeom prst="roundRect">
            <a:avLst>
              <a:gd name="adj" fmla="val 20952"/>
            </a:avLst>
          </a:prstGeom>
          <a:solidFill>
            <a:srgbClr val="FFFFFF"/>
          </a:solidFill>
          <a:ln w="9525">
            <a:solidFill>
              <a:srgbClr val="E7E6DF"/>
            </a:solidFill>
            <a:prstDash val="solid"/>
          </a:ln>
        </p:spPr>
      </p:sp>
      <p:sp>
        <p:nvSpPr>
          <p:cNvPr id="6" name="Text 4"/>
          <p:cNvSpPr/>
          <p:nvPr/>
        </p:nvSpPr>
        <p:spPr>
          <a:xfrm>
            <a:off x="923925" y="2384078"/>
            <a:ext cx="1632607" cy="190500"/>
          </a:xfrm>
          <a:prstGeom prst="rect">
            <a:avLst/>
          </a:prstGeom>
          <a:noFill/>
          <a:ln/>
        </p:spPr>
        <p:txBody>
          <a:bodyPr wrap="square" lIns="25400" tIns="25400" rIns="25400" bIns="25400" rtlCol="0" anchor="t">
            <a:normAutofit/>
          </a:bodyPr>
          <a:lstStyle/>
          <a:p>
            <a:pPr algn="l" indent="0" marL="0">
              <a:buNone/>
            </a:pPr>
            <a:r>
              <a:rPr lang="en-US" sz="1125" b="1" dirty="0">
                <a:solidFill>
                  <a:srgbClr val="18181B"/>
                </a:solidFill>
                <a:latin typeface="Arial" pitchFamily="34" charset="0"/>
                <a:ea typeface="Arial" pitchFamily="34" charset="-122"/>
                <a:cs typeface="Arial" pitchFamily="34" charset="-120"/>
              </a:rPr>
              <a:t>NetBackup job catalog</a:t>
            </a:r>
            <a:endParaRPr lang="en-US" sz="1125" dirty="0"/>
          </a:p>
        </p:txBody>
      </p:sp>
      <p:sp>
        <p:nvSpPr>
          <p:cNvPr id="7" name="Text 5"/>
          <p:cNvSpPr/>
          <p:nvPr/>
        </p:nvSpPr>
        <p:spPr>
          <a:xfrm>
            <a:off x="923925" y="2536478"/>
            <a:ext cx="1632607" cy="176212"/>
          </a:xfrm>
          <a:prstGeom prst="rect">
            <a:avLst/>
          </a:prstGeom>
          <a:noFill/>
          <a:ln/>
        </p:spPr>
        <p:txBody>
          <a:bodyPr wrap="square" lIns="25400" tIns="25400" rIns="25400" bIns="25400" rtlCol="0" anchor="t">
            <a:normAutofit/>
          </a:bodyPr>
          <a:lstStyle/>
          <a:p>
            <a:pPr algn="l" indent="0" marL="0">
              <a:buNone/>
            </a:pPr>
            <a:r>
              <a:rPr lang="en-US" sz="825" dirty="0">
                <a:solidFill>
                  <a:srgbClr val="9A9A93"/>
                </a:solidFill>
                <a:latin typeface="Courier New" pitchFamily="34" charset="0"/>
                <a:ea typeface="Courier New" pitchFamily="34" charset="-122"/>
                <a:cs typeface="Courier New" pitchFamily="34" charset="-120"/>
              </a:rPr>
              <a:t>file list per job</a:t>
            </a:r>
            <a:endParaRPr lang="en-US" sz="825" dirty="0"/>
          </a:p>
        </p:txBody>
      </p:sp>
      <p:sp>
        <p:nvSpPr>
          <p:cNvPr id="8" name="Text 6"/>
          <p:cNvSpPr/>
          <p:nvPr/>
        </p:nvSpPr>
        <p:spPr>
          <a:xfrm>
            <a:off x="2777654" y="2431703"/>
            <a:ext cx="327720" cy="176212"/>
          </a:xfrm>
          <a:prstGeom prst="rect">
            <a:avLst/>
          </a:prstGeom>
          <a:noFill/>
          <a:ln/>
        </p:spPr>
        <p:txBody>
          <a:bodyPr wrap="square" lIns="25400" tIns="25400" rIns="25400" bIns="25400" rtlCol="0" anchor="t">
            <a:normAutofit/>
          </a:bodyPr>
          <a:lstStyle/>
          <a:p>
            <a:pPr algn="l" indent="0" marL="0">
              <a:buNone/>
            </a:pPr>
            <a:r>
              <a:rPr lang="en-US" sz="825" dirty="0">
                <a:solidFill>
                  <a:srgbClr val="9A9A93"/>
                </a:solidFill>
                <a:latin typeface="Courier New" pitchFamily="34" charset="0"/>
                <a:ea typeface="Courier New" pitchFamily="34" charset="-122"/>
                <a:cs typeface="Courier New" pitchFamily="34" charset="-120"/>
              </a:rPr>
              <a:t>ship</a:t>
            </a:r>
            <a:endParaRPr lang="en-US" sz="825" dirty="0"/>
          </a:p>
        </p:txBody>
      </p:sp>
      <p:sp>
        <p:nvSpPr>
          <p:cNvPr id="9" name="Shape 7"/>
          <p:cNvSpPr/>
          <p:nvPr/>
        </p:nvSpPr>
        <p:spPr>
          <a:xfrm>
            <a:off x="2665288" y="2607915"/>
            <a:ext cx="476250" cy="19050"/>
          </a:xfrm>
          <a:prstGeom prst="rect">
            <a:avLst/>
          </a:prstGeom>
          <a:solidFill>
            <a:srgbClr val="C9C8C0"/>
          </a:solidFill>
          <a:ln/>
        </p:spPr>
      </p:sp>
      <p:sp>
        <p:nvSpPr>
          <p:cNvPr id="10" name="Shape 8"/>
          <p:cNvSpPr/>
          <p:nvPr/>
        </p:nvSpPr>
        <p:spPr>
          <a:xfrm>
            <a:off x="3065338" y="2569815"/>
            <a:ext cx="85725" cy="95250"/>
          </a:xfrm>
          <a:prstGeom prst="rect">
            <a:avLst/>
          </a:prstGeom>
          <a:solidFill>
            <a:srgbClr val="C9C8C0"/>
          </a:solidFill>
          <a:ln/>
        </p:spPr>
      </p:sp>
      <p:sp>
        <p:nvSpPr>
          <p:cNvPr id="11" name="Shape 9"/>
          <p:cNvSpPr/>
          <p:nvPr/>
        </p:nvSpPr>
        <p:spPr>
          <a:xfrm>
            <a:off x="3236788" y="2279303"/>
            <a:ext cx="1419895" cy="500063"/>
          </a:xfrm>
          <a:prstGeom prst="roundRect">
            <a:avLst>
              <a:gd name="adj" fmla="val 20952"/>
            </a:avLst>
          </a:prstGeom>
          <a:solidFill>
            <a:srgbClr val="FFFFFF"/>
          </a:solidFill>
          <a:ln w="9525">
            <a:solidFill>
              <a:srgbClr val="E7E6DF"/>
            </a:solidFill>
            <a:prstDash val="solid"/>
          </a:ln>
        </p:spPr>
      </p:sp>
      <p:sp>
        <p:nvSpPr>
          <p:cNvPr id="12" name="Text 10"/>
          <p:cNvSpPr/>
          <p:nvPr/>
        </p:nvSpPr>
        <p:spPr>
          <a:xfrm>
            <a:off x="3398713" y="2384078"/>
            <a:ext cx="1172245" cy="190500"/>
          </a:xfrm>
          <a:prstGeom prst="rect">
            <a:avLst/>
          </a:prstGeom>
          <a:noFill/>
          <a:ln/>
        </p:spPr>
        <p:txBody>
          <a:bodyPr wrap="square" lIns="25400" tIns="25400" rIns="25400" bIns="25400" rtlCol="0" anchor="t">
            <a:normAutofit/>
          </a:bodyPr>
          <a:lstStyle/>
          <a:p>
            <a:pPr algn="l" indent="0" marL="0">
              <a:buNone/>
            </a:pPr>
            <a:r>
              <a:rPr lang="en-US" sz="1125" b="1" dirty="0">
                <a:solidFill>
                  <a:srgbClr val="18181B"/>
                </a:solidFill>
                <a:latin typeface="Arial" pitchFamily="34" charset="0"/>
                <a:ea typeface="Arial" pitchFamily="34" charset="-122"/>
                <a:cs typeface="Arial" pitchFamily="34" charset="-120"/>
              </a:rPr>
              <a:t>Logstash / Beats</a:t>
            </a:r>
            <a:endParaRPr lang="en-US" sz="1125" dirty="0"/>
          </a:p>
        </p:txBody>
      </p:sp>
      <p:sp>
        <p:nvSpPr>
          <p:cNvPr id="13" name="Text 11"/>
          <p:cNvSpPr/>
          <p:nvPr/>
        </p:nvSpPr>
        <p:spPr>
          <a:xfrm>
            <a:off x="3398713" y="2536478"/>
            <a:ext cx="1172245" cy="176212"/>
          </a:xfrm>
          <a:prstGeom prst="rect">
            <a:avLst/>
          </a:prstGeom>
          <a:noFill/>
          <a:ln/>
        </p:spPr>
        <p:txBody>
          <a:bodyPr wrap="square" lIns="25400" tIns="25400" rIns="25400" bIns="25400" rtlCol="0" anchor="t">
            <a:normAutofit/>
          </a:bodyPr>
          <a:lstStyle/>
          <a:p>
            <a:pPr algn="l" indent="0" marL="0">
              <a:buNone/>
            </a:pPr>
            <a:r>
              <a:rPr lang="en-US" sz="825" dirty="0">
                <a:solidFill>
                  <a:srgbClr val="9A9A93"/>
                </a:solidFill>
                <a:latin typeface="Courier New" pitchFamily="34" charset="0"/>
                <a:ea typeface="Courier New" pitchFamily="34" charset="-122"/>
                <a:cs typeface="Courier New" pitchFamily="34" charset="-120"/>
              </a:rPr>
              <a:t>parse &amp; enrich</a:t>
            </a:r>
            <a:endParaRPr lang="en-US" sz="825" dirty="0"/>
          </a:p>
        </p:txBody>
      </p:sp>
      <p:sp>
        <p:nvSpPr>
          <p:cNvPr id="14" name="Shape 12"/>
          <p:cNvSpPr/>
          <p:nvPr/>
        </p:nvSpPr>
        <p:spPr>
          <a:xfrm>
            <a:off x="4751933" y="2519809"/>
            <a:ext cx="476250" cy="19050"/>
          </a:xfrm>
          <a:prstGeom prst="rect">
            <a:avLst/>
          </a:prstGeom>
          <a:solidFill>
            <a:srgbClr val="C9C8C0"/>
          </a:solidFill>
          <a:ln/>
        </p:spPr>
      </p:sp>
      <p:sp>
        <p:nvSpPr>
          <p:cNvPr id="15" name="Shape 13"/>
          <p:cNvSpPr/>
          <p:nvPr/>
        </p:nvSpPr>
        <p:spPr>
          <a:xfrm>
            <a:off x="5151983" y="2481709"/>
            <a:ext cx="85725" cy="95250"/>
          </a:xfrm>
          <a:prstGeom prst="rect">
            <a:avLst/>
          </a:prstGeom>
          <a:solidFill>
            <a:srgbClr val="C9C8C0"/>
          </a:solidFill>
          <a:ln/>
        </p:spPr>
      </p:sp>
      <p:sp>
        <p:nvSpPr>
          <p:cNvPr id="16" name="Shape 14"/>
          <p:cNvSpPr/>
          <p:nvPr/>
        </p:nvSpPr>
        <p:spPr>
          <a:xfrm>
            <a:off x="5323433" y="2279303"/>
            <a:ext cx="1832670" cy="500063"/>
          </a:xfrm>
          <a:prstGeom prst="roundRect">
            <a:avLst>
              <a:gd name="adj" fmla="val 20952"/>
            </a:avLst>
          </a:prstGeom>
          <a:solidFill>
            <a:srgbClr val="ECEEF8"/>
          </a:solidFill>
          <a:ln w="9525">
            <a:solidFill>
              <a:srgbClr val="D4D9F0"/>
            </a:solidFill>
            <a:prstDash val="solid"/>
          </a:ln>
        </p:spPr>
      </p:sp>
      <p:sp>
        <p:nvSpPr>
          <p:cNvPr id="17" name="Text 15"/>
          <p:cNvSpPr/>
          <p:nvPr/>
        </p:nvSpPr>
        <p:spPr>
          <a:xfrm>
            <a:off x="5485358" y="2384078"/>
            <a:ext cx="1659701" cy="190500"/>
          </a:xfrm>
          <a:prstGeom prst="rect">
            <a:avLst/>
          </a:prstGeom>
          <a:noFill/>
          <a:ln/>
        </p:spPr>
        <p:txBody>
          <a:bodyPr wrap="square" lIns="25400" tIns="25400" rIns="25400" bIns="25400" rtlCol="0" anchor="t">
            <a:normAutofit/>
          </a:bodyPr>
          <a:lstStyle/>
          <a:p>
            <a:pPr algn="l" indent="0" marL="0">
              <a:buNone/>
            </a:pPr>
            <a:r>
              <a:rPr lang="en-US" sz="1125" b="1" dirty="0">
                <a:solidFill>
                  <a:srgbClr val="3A479A"/>
                </a:solidFill>
                <a:latin typeface="Arial" pitchFamily="34" charset="0"/>
                <a:ea typeface="Arial" pitchFamily="34" charset="-122"/>
                <a:cs typeface="Arial" pitchFamily="34" charset="-120"/>
              </a:rPr>
              <a:t>Elasticsearch</a:t>
            </a:r>
            <a:endParaRPr lang="en-US" sz="1125" dirty="0"/>
          </a:p>
        </p:txBody>
      </p:sp>
      <p:sp>
        <p:nvSpPr>
          <p:cNvPr id="18" name="Text 16"/>
          <p:cNvSpPr/>
          <p:nvPr/>
        </p:nvSpPr>
        <p:spPr>
          <a:xfrm>
            <a:off x="5485358" y="2536478"/>
            <a:ext cx="1659701" cy="176212"/>
          </a:xfrm>
          <a:prstGeom prst="rect">
            <a:avLst/>
          </a:prstGeom>
          <a:noFill/>
          <a:ln/>
        </p:spPr>
        <p:txBody>
          <a:bodyPr wrap="square" lIns="25400" tIns="25400" rIns="25400" bIns="25400" rtlCol="0" anchor="t">
            <a:normAutofit/>
          </a:bodyPr>
          <a:lstStyle/>
          <a:p>
            <a:pPr algn="l" indent="0" marL="0">
              <a:buNone/>
            </a:pPr>
            <a:r>
              <a:rPr lang="en-US" sz="825" dirty="0">
                <a:solidFill>
                  <a:srgbClr val="7E84B8"/>
                </a:solidFill>
                <a:latin typeface="Courier New" pitchFamily="34" charset="0"/>
                <a:ea typeface="Courier New" pitchFamily="34" charset="-122"/>
                <a:cs typeface="Courier New" pitchFamily="34" charset="-120"/>
              </a:rPr>
              <a:t>index: netbackup-files-*</a:t>
            </a:r>
            <a:endParaRPr lang="en-US" sz="825" dirty="0"/>
          </a:p>
        </p:txBody>
      </p:sp>
      <p:sp>
        <p:nvSpPr>
          <p:cNvPr id="19" name="Shape 17"/>
          <p:cNvSpPr/>
          <p:nvPr/>
        </p:nvSpPr>
        <p:spPr>
          <a:xfrm>
            <a:off x="7251353" y="2519809"/>
            <a:ext cx="476250" cy="19050"/>
          </a:xfrm>
          <a:prstGeom prst="rect">
            <a:avLst/>
          </a:prstGeom>
          <a:solidFill>
            <a:srgbClr val="C9C8C0"/>
          </a:solidFill>
          <a:ln/>
        </p:spPr>
      </p:sp>
      <p:sp>
        <p:nvSpPr>
          <p:cNvPr id="20" name="Shape 18"/>
          <p:cNvSpPr/>
          <p:nvPr/>
        </p:nvSpPr>
        <p:spPr>
          <a:xfrm>
            <a:off x="7651403" y="2481709"/>
            <a:ext cx="85725" cy="95250"/>
          </a:xfrm>
          <a:prstGeom prst="rect">
            <a:avLst/>
          </a:prstGeom>
          <a:solidFill>
            <a:srgbClr val="C9C8C0"/>
          </a:solidFill>
          <a:ln/>
        </p:spPr>
      </p:sp>
      <p:sp>
        <p:nvSpPr>
          <p:cNvPr id="21" name="Shape 19"/>
          <p:cNvSpPr/>
          <p:nvPr/>
        </p:nvSpPr>
        <p:spPr>
          <a:xfrm>
            <a:off x="7822853" y="2288828"/>
            <a:ext cx="1460153" cy="481012"/>
          </a:xfrm>
          <a:prstGeom prst="roundRect">
            <a:avLst>
              <a:gd name="adj" fmla="val 21782"/>
            </a:avLst>
          </a:prstGeom>
          <a:solidFill>
            <a:srgbClr val="102A52"/>
          </a:solidFill>
          <a:ln/>
        </p:spPr>
      </p:sp>
      <p:sp>
        <p:nvSpPr>
          <p:cNvPr id="22" name="Text 20"/>
          <p:cNvSpPr/>
          <p:nvPr/>
        </p:nvSpPr>
        <p:spPr>
          <a:xfrm>
            <a:off x="7975253" y="2384078"/>
            <a:ext cx="1231553" cy="190500"/>
          </a:xfrm>
          <a:prstGeom prst="rect">
            <a:avLst/>
          </a:prstGeom>
          <a:noFill/>
          <a:ln/>
        </p:spPr>
        <p:txBody>
          <a:bodyPr wrap="square" lIns="25400" tIns="25400" rIns="25400" bIns="25400" rtlCol="0" anchor="t">
            <a:normAutofit/>
          </a:bodyPr>
          <a:lstStyle/>
          <a:p>
            <a:pPr algn="l" indent="0" marL="0">
              <a:buNone/>
            </a:pPr>
            <a:r>
              <a:rPr lang="en-US" sz="1125" b="1" dirty="0">
                <a:solidFill>
                  <a:srgbClr val="FFFFFF"/>
                </a:solidFill>
                <a:latin typeface="Arial" pitchFamily="34" charset="0"/>
                <a:ea typeface="Arial" pitchFamily="34" charset="-122"/>
                <a:cs typeface="Arial" pitchFamily="34" charset="-120"/>
              </a:rPr>
              <a:t>Kibana · Discover</a:t>
            </a:r>
            <a:endParaRPr lang="en-US" sz="1125" dirty="0"/>
          </a:p>
        </p:txBody>
      </p:sp>
      <p:sp>
        <p:nvSpPr>
          <p:cNvPr id="23" name="Text 21"/>
          <p:cNvSpPr/>
          <p:nvPr/>
        </p:nvSpPr>
        <p:spPr>
          <a:xfrm>
            <a:off x="7975253" y="2536478"/>
            <a:ext cx="1231553" cy="176212"/>
          </a:xfrm>
          <a:prstGeom prst="rect">
            <a:avLst/>
          </a:prstGeom>
          <a:noFill/>
          <a:ln/>
        </p:spPr>
        <p:txBody>
          <a:bodyPr wrap="square" lIns="25400" tIns="25400" rIns="25400" bIns="25400" rtlCol="0" anchor="t">
            <a:normAutofit/>
          </a:bodyPr>
          <a:lstStyle/>
          <a:p>
            <a:pPr algn="l" indent="0" marL="0">
              <a:buNone/>
            </a:pPr>
            <a:r>
              <a:rPr lang="en-US" sz="825" dirty="0">
                <a:solidFill>
                  <a:srgbClr val="7E9AC9"/>
                </a:solidFill>
                <a:latin typeface="Courier New" pitchFamily="34" charset="0"/>
                <a:ea typeface="Courier New" pitchFamily="34" charset="-122"/>
                <a:cs typeface="Courier New" pitchFamily="34" charset="-120"/>
              </a:rPr>
              <a:t>browse &amp; search</a:t>
            </a:r>
            <a:endParaRPr lang="en-US" sz="825" dirty="0"/>
          </a:p>
        </p:txBody>
      </p:sp>
      <p:sp>
        <p:nvSpPr>
          <p:cNvPr id="24" name="Shape 22"/>
          <p:cNvSpPr/>
          <p:nvPr/>
        </p:nvSpPr>
        <p:spPr>
          <a:xfrm>
            <a:off x="762000" y="3007965"/>
            <a:ext cx="16764000" cy="6783735"/>
          </a:xfrm>
          <a:prstGeom prst="roundRect">
            <a:avLst>
              <a:gd name="adj" fmla="val 2247"/>
            </a:avLst>
          </a:prstGeom>
          <a:solidFill>
            <a:srgbClr val="FFFFFF"/>
          </a:solidFill>
          <a:ln w="9525">
            <a:solidFill>
              <a:srgbClr val="E7E6DF"/>
            </a:solidFill>
            <a:prstDash val="solid"/>
          </a:ln>
          <a:effectLst>
            <a:outerShdw sx="100000" sy="100000" kx="0" ky="0" algn="bl" rotWithShape="0" blurRad="28575" dist="9525" dir="5400000">
              <a:srgbClr val="141414">
                <a:alpha val="5000"/>
              </a:srgbClr>
            </a:outerShdw>
          </a:effectLst>
        </p:spPr>
      </p:sp>
      <p:sp>
        <p:nvSpPr>
          <p:cNvPr id="25" name="Shape 23"/>
          <p:cNvSpPr/>
          <p:nvPr/>
        </p:nvSpPr>
        <p:spPr>
          <a:xfrm>
            <a:off x="771525" y="3017490"/>
            <a:ext cx="16744950" cy="595313"/>
          </a:xfrm>
          <a:prstGeom prst="rect">
            <a:avLst/>
          </a:prstGeom>
          <a:solidFill>
            <a:srgbClr val="FBFBF9"/>
          </a:solidFill>
          <a:ln/>
        </p:spPr>
      </p:sp>
      <p:sp>
        <p:nvSpPr>
          <p:cNvPr id="26" name="Shape 24"/>
          <p:cNvSpPr/>
          <p:nvPr/>
        </p:nvSpPr>
        <p:spPr>
          <a:xfrm>
            <a:off x="771525" y="3603278"/>
            <a:ext cx="16744950" cy="9525"/>
          </a:xfrm>
          <a:prstGeom prst="rect">
            <a:avLst/>
          </a:prstGeom>
          <a:solidFill>
            <a:srgbClr val="EFEEE8"/>
          </a:solidFill>
          <a:ln/>
        </p:spPr>
      </p:sp>
      <p:sp>
        <p:nvSpPr>
          <p:cNvPr id="27" name="Shape 25"/>
          <p:cNvSpPr/>
          <p:nvPr/>
        </p:nvSpPr>
        <p:spPr>
          <a:xfrm>
            <a:off x="962025" y="3174653"/>
            <a:ext cx="1443038" cy="271463"/>
          </a:xfrm>
          <a:prstGeom prst="roundRect">
            <a:avLst>
              <a:gd name="adj" fmla="val 24561"/>
            </a:avLst>
          </a:prstGeom>
          <a:solidFill>
            <a:srgbClr val="ECEEF8"/>
          </a:solidFill>
          <a:ln w="9525">
            <a:solidFill>
              <a:srgbClr val="D4D9F0"/>
            </a:solidFill>
            <a:prstDash val="solid"/>
          </a:ln>
        </p:spPr>
      </p:sp>
      <p:sp>
        <p:nvSpPr>
          <p:cNvPr id="28" name="Text 26"/>
          <p:cNvSpPr/>
          <p:nvPr/>
        </p:nvSpPr>
        <p:spPr>
          <a:xfrm>
            <a:off x="1076325" y="3231803"/>
            <a:ext cx="1290638" cy="195263"/>
          </a:xfrm>
          <a:prstGeom prst="rect">
            <a:avLst/>
          </a:prstGeom>
          <a:noFill/>
          <a:ln/>
        </p:spPr>
        <p:txBody>
          <a:bodyPr wrap="square" lIns="25400" tIns="25400" rIns="25400" bIns="25400" rtlCol="0" anchor="t">
            <a:normAutofit/>
          </a:bodyPr>
          <a:lstStyle/>
          <a:p>
            <a:pPr algn="l" indent="0" marL="0">
              <a:buNone/>
            </a:pPr>
            <a:r>
              <a:rPr lang="en-US" sz="938" dirty="0">
                <a:solidFill>
                  <a:srgbClr val="3A479A"/>
                </a:solidFill>
                <a:latin typeface="Courier New" pitchFamily="34" charset="0"/>
                <a:ea typeface="Courier New" pitchFamily="34" charset="-122"/>
                <a:cs typeface="Courier New" pitchFamily="34" charset="-120"/>
              </a:rPr>
              <a:t>netbackup-files-*</a:t>
            </a:r>
            <a:endParaRPr lang="en-US" sz="938" dirty="0"/>
          </a:p>
        </p:txBody>
      </p:sp>
      <p:sp>
        <p:nvSpPr>
          <p:cNvPr id="29" name="Shape 27"/>
          <p:cNvSpPr/>
          <p:nvPr/>
        </p:nvSpPr>
        <p:spPr>
          <a:xfrm>
            <a:off x="2519363" y="3150840"/>
            <a:ext cx="13572158" cy="319088"/>
          </a:xfrm>
          <a:prstGeom prst="roundRect">
            <a:avLst>
              <a:gd name="adj" fmla="val 23881"/>
            </a:avLst>
          </a:prstGeom>
          <a:solidFill>
            <a:srgbClr val="FFFFFF"/>
          </a:solidFill>
          <a:ln w="9525">
            <a:solidFill>
              <a:srgbClr val="E3E2DB"/>
            </a:solidFill>
            <a:prstDash val="solid"/>
          </a:ln>
        </p:spPr>
      </p:sp>
      <p:sp>
        <p:nvSpPr>
          <p:cNvPr id="30" name="Text 28"/>
          <p:cNvSpPr/>
          <p:nvPr/>
        </p:nvSpPr>
        <p:spPr>
          <a:xfrm>
            <a:off x="2643188" y="3227040"/>
            <a:ext cx="200025" cy="204787"/>
          </a:xfrm>
          <a:prstGeom prst="rect">
            <a:avLst/>
          </a:prstGeom>
          <a:noFill/>
          <a:ln/>
        </p:spPr>
        <p:txBody>
          <a:bodyPr wrap="square" lIns="25400" tIns="25400" rIns="25400" bIns="25400" rtlCol="0" anchor="t">
            <a:normAutofit/>
          </a:bodyPr>
          <a:lstStyle/>
          <a:p>
            <a:pPr algn="l" indent="0" marL="0">
              <a:buNone/>
            </a:pPr>
            <a:r>
              <a:rPr lang="en-US" sz="975" dirty="0">
                <a:solidFill>
                  <a:srgbClr val="9A9A93"/>
                </a:solidFill>
                <a:latin typeface="Arial" pitchFamily="34" charset="0"/>
                <a:ea typeface="Arial" pitchFamily="34" charset="-122"/>
                <a:cs typeface="Arial" pitchFamily="34" charset="-120"/>
              </a:rPr>
              <a:t>🔍</a:t>
            </a:r>
            <a:endParaRPr lang="en-US" sz="975" dirty="0"/>
          </a:p>
        </p:txBody>
      </p:sp>
      <p:sp>
        <p:nvSpPr>
          <p:cNvPr id="31" name="Text 29"/>
          <p:cNvSpPr/>
          <p:nvPr/>
        </p:nvSpPr>
        <p:spPr>
          <a:xfrm>
            <a:off x="2843213" y="3229421"/>
            <a:ext cx="367760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job.workload : "kubernetes" and status : "OK"</a:t>
            </a:r>
            <a:endParaRPr lang="en-US" sz="975" dirty="0"/>
          </a:p>
        </p:txBody>
      </p:sp>
      <p:sp>
        <p:nvSpPr>
          <p:cNvPr id="32" name="Shape 30"/>
          <p:cNvSpPr/>
          <p:nvPr/>
        </p:nvSpPr>
        <p:spPr>
          <a:xfrm>
            <a:off x="16205820" y="3167509"/>
            <a:ext cx="1120155" cy="285750"/>
          </a:xfrm>
          <a:prstGeom prst="roundRect">
            <a:avLst>
              <a:gd name="adj" fmla="val 23333"/>
            </a:avLst>
          </a:prstGeom>
          <a:solidFill>
            <a:srgbClr val="F2F2EE"/>
          </a:solidFill>
          <a:ln w="9525">
            <a:solidFill>
              <a:srgbClr val="E3E2DB"/>
            </a:solidFill>
            <a:prstDash val="solid"/>
          </a:ln>
        </p:spPr>
      </p:sp>
      <p:sp>
        <p:nvSpPr>
          <p:cNvPr id="33" name="Text 31"/>
          <p:cNvSpPr/>
          <p:nvPr/>
        </p:nvSpPr>
        <p:spPr>
          <a:xfrm>
            <a:off x="16320120" y="3234184"/>
            <a:ext cx="967755" cy="190500"/>
          </a:xfrm>
          <a:prstGeom prst="rect">
            <a:avLst/>
          </a:prstGeom>
          <a:noFill/>
          <a:ln/>
        </p:spPr>
        <p:txBody>
          <a:bodyPr wrap="none" lIns="25400" tIns="25400" rIns="25400" bIns="25400" rtlCol="0" anchor="t">
            <a:normAutofit/>
          </a:bodyPr>
          <a:lstStyle/>
          <a:p>
            <a:pPr algn="l" indent="0" marL="0">
              <a:buNone/>
            </a:pPr>
            <a:r>
              <a:rPr lang="en-US" sz="900" dirty="0">
                <a:solidFill>
                  <a:srgbClr val="71717A"/>
                </a:solidFill>
                <a:latin typeface="Courier New" pitchFamily="34" charset="0"/>
                <a:ea typeface="Courier New" pitchFamily="34" charset="-122"/>
                <a:cs typeface="Courier New" pitchFamily="34" charset="-120"/>
              </a:rPr>
              <a:t>Last 24 hours</a:t>
            </a:r>
            <a:endParaRPr lang="en-US" sz="900" dirty="0"/>
          </a:p>
        </p:txBody>
      </p:sp>
      <p:sp>
        <p:nvSpPr>
          <p:cNvPr id="34" name="Shape 32"/>
          <p:cNvSpPr/>
          <p:nvPr/>
        </p:nvSpPr>
        <p:spPr>
          <a:xfrm>
            <a:off x="2857500" y="3612803"/>
            <a:ext cx="9525" cy="6169372"/>
          </a:xfrm>
          <a:prstGeom prst="rect">
            <a:avLst/>
          </a:prstGeom>
          <a:solidFill>
            <a:srgbClr val="EFEEE8"/>
          </a:solidFill>
          <a:ln/>
        </p:spPr>
      </p:sp>
      <p:sp>
        <p:nvSpPr>
          <p:cNvPr id="35" name="Text 33"/>
          <p:cNvSpPr/>
          <p:nvPr/>
        </p:nvSpPr>
        <p:spPr>
          <a:xfrm>
            <a:off x="942975" y="3784253"/>
            <a:ext cx="1917382" cy="176212"/>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9A9A93"/>
                </a:solidFill>
                <a:latin typeface="Courier New" pitchFamily="34" charset="0"/>
                <a:ea typeface="Courier New" pitchFamily="34" charset="-122"/>
                <a:cs typeface="Courier New" pitchFamily="34" charset="-120"/>
              </a:rPr>
              <a:t>NAMESPACE</a:t>
            </a:r>
            <a:endParaRPr lang="en-US" sz="825" dirty="0"/>
          </a:p>
        </p:txBody>
      </p:sp>
      <p:sp>
        <p:nvSpPr>
          <p:cNvPr id="36" name="Text 34"/>
          <p:cNvSpPr/>
          <p:nvPr/>
        </p:nvSpPr>
        <p:spPr>
          <a:xfrm>
            <a:off x="942975" y="4017615"/>
            <a:ext cx="854497" cy="214313"/>
          </a:xfrm>
          <a:prstGeom prst="rect">
            <a:avLst/>
          </a:prstGeom>
          <a:noFill/>
          <a:ln/>
        </p:spPr>
        <p:txBody>
          <a:bodyPr wrap="square" lIns="25400" tIns="25400" rIns="25400" bIns="25400" rtlCol="0" anchor="t">
            <a:normAutofit/>
          </a:bodyPr>
          <a:lstStyle/>
          <a:p>
            <a:pPr algn="l" indent="0" marL="0">
              <a:buNone/>
            </a:pPr>
            <a:r>
              <a:rPr lang="en-US" sz="1050" dirty="0">
                <a:solidFill>
                  <a:srgbClr val="3F3F46"/>
                </a:solidFill>
                <a:latin typeface="Arial" pitchFamily="34" charset="0"/>
                <a:ea typeface="Arial" pitchFamily="34" charset="-122"/>
                <a:cs typeface="Arial" pitchFamily="34" charset="-120"/>
              </a:rPr>
              <a:t>kube-system</a:t>
            </a:r>
            <a:endParaRPr lang="en-US" sz="1050" dirty="0"/>
          </a:p>
        </p:txBody>
      </p:sp>
      <p:sp>
        <p:nvSpPr>
          <p:cNvPr id="37" name="Text 35"/>
          <p:cNvSpPr/>
          <p:nvPr/>
        </p:nvSpPr>
        <p:spPr>
          <a:xfrm>
            <a:off x="2463105" y="4017615"/>
            <a:ext cx="299145" cy="214313"/>
          </a:xfrm>
          <a:prstGeom prst="rect">
            <a:avLst/>
          </a:prstGeom>
          <a:noFill/>
          <a:ln/>
        </p:spPr>
        <p:txBody>
          <a:bodyPr wrap="square" lIns="25400" tIns="25400" rIns="25400" bIns="25400" rtlCol="0" anchor="t">
            <a:normAutofit/>
          </a:bodyPr>
          <a:lstStyle/>
          <a:p>
            <a:pPr algn="l" indent="0" marL="0">
              <a:buNone/>
            </a:pPr>
            <a:r>
              <a:rPr lang="en-US" sz="975" dirty="0">
                <a:solidFill>
                  <a:srgbClr val="9A9A93"/>
                </a:solidFill>
                <a:latin typeface="Courier New" pitchFamily="34" charset="0"/>
                <a:ea typeface="Courier New" pitchFamily="34" charset="-122"/>
                <a:cs typeface="Courier New" pitchFamily="34" charset="-120"/>
              </a:rPr>
              <a:t>312</a:t>
            </a:r>
            <a:endParaRPr lang="en-US" sz="975" dirty="0"/>
          </a:p>
        </p:txBody>
      </p:sp>
      <p:sp>
        <p:nvSpPr>
          <p:cNvPr id="38" name="Text 36"/>
          <p:cNvSpPr/>
          <p:nvPr/>
        </p:nvSpPr>
        <p:spPr>
          <a:xfrm>
            <a:off x="942975" y="4270028"/>
            <a:ext cx="667792" cy="214313"/>
          </a:xfrm>
          <a:prstGeom prst="rect">
            <a:avLst/>
          </a:prstGeom>
          <a:noFill/>
          <a:ln/>
        </p:spPr>
        <p:txBody>
          <a:bodyPr wrap="square" lIns="25400" tIns="25400" rIns="25400" bIns="25400" rtlCol="0" anchor="t">
            <a:normAutofit/>
          </a:bodyPr>
          <a:lstStyle/>
          <a:p>
            <a:pPr algn="l" indent="0" marL="0">
              <a:buNone/>
            </a:pPr>
            <a:r>
              <a:rPr lang="en-US" sz="1050" dirty="0">
                <a:solidFill>
                  <a:srgbClr val="3F3F46"/>
                </a:solidFill>
                <a:latin typeface="Arial" pitchFamily="34" charset="0"/>
                <a:ea typeface="Arial" pitchFamily="34" charset="-122"/>
                <a:cs typeface="Arial" pitchFamily="34" charset="-120"/>
              </a:rPr>
              <a:t>payments</a:t>
            </a:r>
            <a:endParaRPr lang="en-US" sz="1050" dirty="0"/>
          </a:p>
        </p:txBody>
      </p:sp>
      <p:sp>
        <p:nvSpPr>
          <p:cNvPr id="39" name="Text 37"/>
          <p:cNvSpPr/>
          <p:nvPr/>
        </p:nvSpPr>
        <p:spPr>
          <a:xfrm>
            <a:off x="2537445" y="4270028"/>
            <a:ext cx="224805" cy="214313"/>
          </a:xfrm>
          <a:prstGeom prst="rect">
            <a:avLst/>
          </a:prstGeom>
          <a:noFill/>
          <a:ln/>
        </p:spPr>
        <p:txBody>
          <a:bodyPr wrap="square" lIns="25400" tIns="25400" rIns="25400" bIns="25400" rtlCol="0" anchor="t">
            <a:normAutofit/>
          </a:bodyPr>
          <a:lstStyle/>
          <a:p>
            <a:pPr algn="l" indent="0" marL="0">
              <a:buNone/>
            </a:pPr>
            <a:r>
              <a:rPr lang="en-US" sz="975" dirty="0">
                <a:solidFill>
                  <a:srgbClr val="9A9A93"/>
                </a:solidFill>
                <a:latin typeface="Courier New" pitchFamily="34" charset="0"/>
                <a:ea typeface="Courier New" pitchFamily="34" charset="-122"/>
                <a:cs typeface="Courier New" pitchFamily="34" charset="-120"/>
              </a:rPr>
              <a:t>88</a:t>
            </a:r>
            <a:endParaRPr lang="en-US" sz="975" dirty="0"/>
          </a:p>
        </p:txBody>
      </p:sp>
      <p:sp>
        <p:nvSpPr>
          <p:cNvPr id="40" name="Text 38"/>
          <p:cNvSpPr/>
          <p:nvPr/>
        </p:nvSpPr>
        <p:spPr>
          <a:xfrm>
            <a:off x="942975" y="4522440"/>
            <a:ext cx="590699" cy="214313"/>
          </a:xfrm>
          <a:prstGeom prst="rect">
            <a:avLst/>
          </a:prstGeom>
          <a:noFill/>
          <a:ln/>
        </p:spPr>
        <p:txBody>
          <a:bodyPr wrap="square" lIns="25400" tIns="25400" rIns="25400" bIns="25400" rtlCol="0" anchor="t">
            <a:normAutofit/>
          </a:bodyPr>
          <a:lstStyle/>
          <a:p>
            <a:pPr algn="l" indent="0" marL="0">
              <a:buNone/>
            </a:pPr>
            <a:r>
              <a:rPr lang="en-US" sz="1050" dirty="0">
                <a:solidFill>
                  <a:srgbClr val="3F3F46"/>
                </a:solidFill>
                <a:latin typeface="Arial" pitchFamily="34" charset="0"/>
                <a:ea typeface="Arial" pitchFamily="34" charset="-122"/>
                <a:cs typeface="Arial" pitchFamily="34" charset="-120"/>
              </a:rPr>
              <a:t>frontend</a:t>
            </a:r>
            <a:endParaRPr lang="en-US" sz="1050" dirty="0"/>
          </a:p>
        </p:txBody>
      </p:sp>
      <p:sp>
        <p:nvSpPr>
          <p:cNvPr id="41" name="Text 39"/>
          <p:cNvSpPr/>
          <p:nvPr/>
        </p:nvSpPr>
        <p:spPr>
          <a:xfrm>
            <a:off x="2537445" y="4522440"/>
            <a:ext cx="224805" cy="214313"/>
          </a:xfrm>
          <a:prstGeom prst="rect">
            <a:avLst/>
          </a:prstGeom>
          <a:noFill/>
          <a:ln/>
        </p:spPr>
        <p:txBody>
          <a:bodyPr wrap="square" lIns="25400" tIns="25400" rIns="25400" bIns="25400" rtlCol="0" anchor="t">
            <a:normAutofit/>
          </a:bodyPr>
          <a:lstStyle/>
          <a:p>
            <a:pPr algn="l" indent="0" marL="0">
              <a:buNone/>
            </a:pPr>
            <a:r>
              <a:rPr lang="en-US" sz="975" dirty="0">
                <a:solidFill>
                  <a:srgbClr val="9A9A93"/>
                </a:solidFill>
                <a:latin typeface="Courier New" pitchFamily="34" charset="0"/>
                <a:ea typeface="Courier New" pitchFamily="34" charset="-122"/>
                <a:cs typeface="Courier New" pitchFamily="34" charset="-120"/>
              </a:rPr>
              <a:t>46</a:t>
            </a:r>
            <a:endParaRPr lang="en-US" sz="975" dirty="0"/>
          </a:p>
        </p:txBody>
      </p:sp>
      <p:sp>
        <p:nvSpPr>
          <p:cNvPr id="42" name="Text 40"/>
          <p:cNvSpPr/>
          <p:nvPr/>
        </p:nvSpPr>
        <p:spPr>
          <a:xfrm>
            <a:off x="942975" y="4889153"/>
            <a:ext cx="1917382" cy="176212"/>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9A9A93"/>
                </a:solidFill>
                <a:latin typeface="Courier New" pitchFamily="34" charset="0"/>
                <a:ea typeface="Courier New" pitchFamily="34" charset="-122"/>
                <a:cs typeface="Courier New" pitchFamily="34" charset="-120"/>
              </a:rPr>
              <a:t>STATUS</a:t>
            </a:r>
            <a:endParaRPr lang="en-US" sz="825" dirty="0"/>
          </a:p>
        </p:txBody>
      </p:sp>
      <p:sp>
        <p:nvSpPr>
          <p:cNvPr id="43" name="Text 41"/>
          <p:cNvSpPr/>
          <p:nvPr/>
        </p:nvSpPr>
        <p:spPr>
          <a:xfrm>
            <a:off x="942975" y="5122515"/>
            <a:ext cx="255166" cy="214313"/>
          </a:xfrm>
          <a:prstGeom prst="rect">
            <a:avLst/>
          </a:prstGeom>
          <a:noFill/>
          <a:ln/>
        </p:spPr>
        <p:txBody>
          <a:bodyPr wrap="square" lIns="25400" tIns="25400" rIns="25400" bIns="25400" rtlCol="0" anchor="t">
            <a:normAutofit/>
          </a:bodyPr>
          <a:lstStyle/>
          <a:p>
            <a:pPr algn="l" indent="0" marL="0">
              <a:buNone/>
            </a:pPr>
            <a:r>
              <a:rPr lang="en-US" sz="1050" dirty="0">
                <a:solidFill>
                  <a:srgbClr val="15724A"/>
                </a:solidFill>
                <a:latin typeface="Arial" pitchFamily="34" charset="0"/>
                <a:ea typeface="Arial" pitchFamily="34" charset="-122"/>
                <a:cs typeface="Arial" pitchFamily="34" charset="-120"/>
              </a:rPr>
              <a:t>OK</a:t>
            </a:r>
            <a:endParaRPr lang="en-US" sz="1050" dirty="0"/>
          </a:p>
        </p:txBody>
      </p:sp>
      <p:sp>
        <p:nvSpPr>
          <p:cNvPr id="44" name="Text 42"/>
          <p:cNvSpPr/>
          <p:nvPr/>
        </p:nvSpPr>
        <p:spPr>
          <a:xfrm>
            <a:off x="2463105" y="5122515"/>
            <a:ext cx="299145" cy="214313"/>
          </a:xfrm>
          <a:prstGeom prst="rect">
            <a:avLst/>
          </a:prstGeom>
          <a:noFill/>
          <a:ln/>
        </p:spPr>
        <p:txBody>
          <a:bodyPr wrap="square" lIns="25400" tIns="25400" rIns="25400" bIns="25400" rtlCol="0" anchor="t">
            <a:normAutofit/>
          </a:bodyPr>
          <a:lstStyle/>
          <a:p>
            <a:pPr algn="l" indent="0" marL="0">
              <a:buNone/>
            </a:pPr>
            <a:r>
              <a:rPr lang="en-US" sz="975" dirty="0">
                <a:solidFill>
                  <a:srgbClr val="9A9A93"/>
                </a:solidFill>
                <a:latin typeface="Courier New" pitchFamily="34" charset="0"/>
                <a:ea typeface="Courier New" pitchFamily="34" charset="-122"/>
                <a:cs typeface="Courier New" pitchFamily="34" charset="-120"/>
              </a:rPr>
              <a:t>440</a:t>
            </a:r>
            <a:endParaRPr lang="en-US" sz="975" dirty="0"/>
          </a:p>
        </p:txBody>
      </p:sp>
      <p:sp>
        <p:nvSpPr>
          <p:cNvPr id="45" name="Text 43"/>
          <p:cNvSpPr/>
          <p:nvPr/>
        </p:nvSpPr>
        <p:spPr>
          <a:xfrm>
            <a:off x="942975" y="5374928"/>
            <a:ext cx="517773" cy="214313"/>
          </a:xfrm>
          <a:prstGeom prst="rect">
            <a:avLst/>
          </a:prstGeom>
          <a:noFill/>
          <a:ln/>
        </p:spPr>
        <p:txBody>
          <a:bodyPr wrap="square" lIns="25400" tIns="25400" rIns="25400" bIns="25400" rtlCol="0" anchor="t">
            <a:normAutofit/>
          </a:bodyPr>
          <a:lstStyle/>
          <a:p>
            <a:pPr algn="l" indent="0" marL="0">
              <a:buNone/>
            </a:pPr>
            <a:r>
              <a:rPr lang="en-US" sz="1050" dirty="0">
                <a:solidFill>
                  <a:srgbClr val="A5281B"/>
                </a:solidFill>
                <a:latin typeface="Arial" pitchFamily="34" charset="0"/>
                <a:ea typeface="Arial" pitchFamily="34" charset="-122"/>
                <a:cs typeface="Arial" pitchFamily="34" charset="-120"/>
              </a:rPr>
              <a:t>FAILED</a:t>
            </a:r>
            <a:endParaRPr lang="en-US" sz="1050" dirty="0"/>
          </a:p>
        </p:txBody>
      </p:sp>
      <p:sp>
        <p:nvSpPr>
          <p:cNvPr id="46" name="Text 44"/>
          <p:cNvSpPr/>
          <p:nvPr/>
        </p:nvSpPr>
        <p:spPr>
          <a:xfrm>
            <a:off x="2611710" y="5374928"/>
            <a:ext cx="150540" cy="214313"/>
          </a:xfrm>
          <a:prstGeom prst="rect">
            <a:avLst/>
          </a:prstGeom>
          <a:noFill/>
          <a:ln/>
        </p:spPr>
        <p:txBody>
          <a:bodyPr wrap="square" lIns="25400" tIns="25400" rIns="25400" bIns="25400" rtlCol="0" anchor="t">
            <a:normAutofit/>
          </a:bodyPr>
          <a:lstStyle/>
          <a:p>
            <a:pPr algn="l" indent="0" marL="0">
              <a:buNone/>
            </a:pPr>
            <a:r>
              <a:rPr lang="en-US" sz="975" dirty="0">
                <a:solidFill>
                  <a:srgbClr val="9A9A93"/>
                </a:solidFill>
                <a:latin typeface="Courier New" pitchFamily="34" charset="0"/>
                <a:ea typeface="Courier New" pitchFamily="34" charset="-122"/>
                <a:cs typeface="Courier New" pitchFamily="34" charset="-120"/>
              </a:rPr>
              <a:t>3</a:t>
            </a:r>
            <a:endParaRPr lang="en-US" sz="975" dirty="0"/>
          </a:p>
        </p:txBody>
      </p:sp>
      <p:sp>
        <p:nvSpPr>
          <p:cNvPr id="47" name="Text 45"/>
          <p:cNvSpPr/>
          <p:nvPr/>
        </p:nvSpPr>
        <p:spPr>
          <a:xfrm>
            <a:off x="942975" y="5741640"/>
            <a:ext cx="1917382" cy="176212"/>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9A9A93"/>
                </a:solidFill>
                <a:latin typeface="Courier New" pitchFamily="34" charset="0"/>
                <a:ea typeface="Courier New" pitchFamily="34" charset="-122"/>
                <a:cs typeface="Courier New" pitchFamily="34" charset="-120"/>
              </a:rPr>
              <a:t>FILE TYPE</a:t>
            </a:r>
            <a:endParaRPr lang="en-US" sz="825" dirty="0"/>
          </a:p>
        </p:txBody>
      </p:sp>
      <p:sp>
        <p:nvSpPr>
          <p:cNvPr id="48" name="Text 46"/>
          <p:cNvSpPr/>
          <p:nvPr/>
        </p:nvSpPr>
        <p:spPr>
          <a:xfrm>
            <a:off x="942975" y="5975003"/>
            <a:ext cx="922213" cy="214313"/>
          </a:xfrm>
          <a:prstGeom prst="rect">
            <a:avLst/>
          </a:prstGeom>
          <a:noFill/>
          <a:ln/>
        </p:spPr>
        <p:txBody>
          <a:bodyPr wrap="square" lIns="25400" tIns="25400" rIns="25400" bIns="25400" rtlCol="0" anchor="t">
            <a:normAutofit/>
          </a:bodyPr>
          <a:lstStyle/>
          <a:p>
            <a:pPr algn="l" indent="0" marL="0">
              <a:buNone/>
            </a:pPr>
            <a:r>
              <a:rPr lang="en-US" sz="1050" dirty="0">
                <a:solidFill>
                  <a:srgbClr val="3F3F46"/>
                </a:solidFill>
                <a:latin typeface="Arial" pitchFamily="34" charset="0"/>
                <a:ea typeface="Arial" pitchFamily="34" charset="-122"/>
                <a:cs typeface="Arial" pitchFamily="34" charset="-120"/>
              </a:rPr>
              <a:t>etcd snapshot</a:t>
            </a:r>
            <a:endParaRPr lang="en-US" sz="1050" dirty="0"/>
          </a:p>
        </p:txBody>
      </p:sp>
      <p:sp>
        <p:nvSpPr>
          <p:cNvPr id="49" name="Text 47"/>
          <p:cNvSpPr/>
          <p:nvPr/>
        </p:nvSpPr>
        <p:spPr>
          <a:xfrm>
            <a:off x="2611710" y="5975003"/>
            <a:ext cx="150540" cy="214313"/>
          </a:xfrm>
          <a:prstGeom prst="rect">
            <a:avLst/>
          </a:prstGeom>
          <a:noFill/>
          <a:ln/>
        </p:spPr>
        <p:txBody>
          <a:bodyPr wrap="square" lIns="25400" tIns="25400" rIns="25400" bIns="25400" rtlCol="0" anchor="t">
            <a:normAutofit/>
          </a:bodyPr>
          <a:lstStyle/>
          <a:p>
            <a:pPr algn="l" indent="0" marL="0">
              <a:buNone/>
            </a:pPr>
            <a:r>
              <a:rPr lang="en-US" sz="975" dirty="0">
                <a:solidFill>
                  <a:srgbClr val="9A9A93"/>
                </a:solidFill>
                <a:latin typeface="Courier New" pitchFamily="34" charset="0"/>
                <a:ea typeface="Courier New" pitchFamily="34" charset="-122"/>
                <a:cs typeface="Courier New" pitchFamily="34" charset="-120"/>
              </a:rPr>
              <a:t>2</a:t>
            </a:r>
            <a:endParaRPr lang="en-US" sz="975" dirty="0"/>
          </a:p>
        </p:txBody>
      </p:sp>
      <p:sp>
        <p:nvSpPr>
          <p:cNvPr id="50" name="Text 48"/>
          <p:cNvSpPr/>
          <p:nvPr/>
        </p:nvSpPr>
        <p:spPr>
          <a:xfrm>
            <a:off x="942975" y="6227415"/>
            <a:ext cx="847427" cy="214313"/>
          </a:xfrm>
          <a:prstGeom prst="rect">
            <a:avLst/>
          </a:prstGeom>
          <a:noFill/>
          <a:ln/>
        </p:spPr>
        <p:txBody>
          <a:bodyPr wrap="square" lIns="25400" tIns="25400" rIns="25400" bIns="25400" rtlCol="0" anchor="t">
            <a:normAutofit/>
          </a:bodyPr>
          <a:lstStyle/>
          <a:p>
            <a:pPr algn="l" indent="0" marL="0">
              <a:buNone/>
            </a:pPr>
            <a:r>
              <a:rPr lang="en-US" sz="1050" dirty="0">
                <a:solidFill>
                  <a:srgbClr val="3F3F46"/>
                </a:solidFill>
                <a:latin typeface="Arial" pitchFamily="34" charset="0"/>
                <a:ea typeface="Arial" pitchFamily="34" charset="-122"/>
                <a:cs typeface="Arial" pitchFamily="34" charset="-120"/>
              </a:rPr>
              <a:t>PKI / secrets</a:t>
            </a:r>
            <a:endParaRPr lang="en-US" sz="1050" dirty="0"/>
          </a:p>
        </p:txBody>
      </p:sp>
      <p:sp>
        <p:nvSpPr>
          <p:cNvPr id="51" name="Text 49"/>
          <p:cNvSpPr/>
          <p:nvPr/>
        </p:nvSpPr>
        <p:spPr>
          <a:xfrm>
            <a:off x="2463105" y="6227415"/>
            <a:ext cx="299145" cy="214313"/>
          </a:xfrm>
          <a:prstGeom prst="rect">
            <a:avLst/>
          </a:prstGeom>
          <a:noFill/>
          <a:ln/>
        </p:spPr>
        <p:txBody>
          <a:bodyPr wrap="square" lIns="25400" tIns="25400" rIns="25400" bIns="25400" rtlCol="0" anchor="t">
            <a:normAutofit/>
          </a:bodyPr>
          <a:lstStyle/>
          <a:p>
            <a:pPr algn="l" indent="0" marL="0">
              <a:buNone/>
            </a:pPr>
            <a:r>
              <a:rPr lang="en-US" sz="975" dirty="0">
                <a:solidFill>
                  <a:srgbClr val="9A9A93"/>
                </a:solidFill>
                <a:latin typeface="Courier New" pitchFamily="34" charset="0"/>
                <a:ea typeface="Courier New" pitchFamily="34" charset="-122"/>
                <a:cs typeface="Courier New" pitchFamily="34" charset="-120"/>
              </a:rPr>
              <a:t>126</a:t>
            </a:r>
            <a:endParaRPr lang="en-US" sz="975" dirty="0"/>
          </a:p>
        </p:txBody>
      </p:sp>
      <p:sp>
        <p:nvSpPr>
          <p:cNvPr id="52" name="Text 50"/>
          <p:cNvSpPr/>
          <p:nvPr/>
        </p:nvSpPr>
        <p:spPr>
          <a:xfrm>
            <a:off x="942975" y="6479828"/>
            <a:ext cx="633487" cy="214313"/>
          </a:xfrm>
          <a:prstGeom prst="rect">
            <a:avLst/>
          </a:prstGeom>
          <a:noFill/>
          <a:ln/>
        </p:spPr>
        <p:txBody>
          <a:bodyPr wrap="square" lIns="25400" tIns="25400" rIns="25400" bIns="25400" rtlCol="0" anchor="t">
            <a:normAutofit/>
          </a:bodyPr>
          <a:lstStyle/>
          <a:p>
            <a:pPr algn="l" indent="0" marL="0">
              <a:buNone/>
            </a:pPr>
            <a:r>
              <a:rPr lang="en-US" sz="1050" dirty="0">
                <a:solidFill>
                  <a:srgbClr val="3F3F46"/>
                </a:solidFill>
                <a:latin typeface="Arial" pitchFamily="34" charset="0"/>
                <a:ea typeface="Arial" pitchFamily="34" charset="-122"/>
                <a:cs typeface="Arial" pitchFamily="34" charset="-120"/>
              </a:rPr>
              <a:t>PV image</a:t>
            </a:r>
            <a:endParaRPr lang="en-US" sz="1050" dirty="0"/>
          </a:p>
        </p:txBody>
      </p:sp>
      <p:sp>
        <p:nvSpPr>
          <p:cNvPr id="53" name="Text 51"/>
          <p:cNvSpPr/>
          <p:nvPr/>
        </p:nvSpPr>
        <p:spPr>
          <a:xfrm>
            <a:off x="2537445" y="6479828"/>
            <a:ext cx="224805" cy="214313"/>
          </a:xfrm>
          <a:prstGeom prst="rect">
            <a:avLst/>
          </a:prstGeom>
          <a:noFill/>
          <a:ln/>
        </p:spPr>
        <p:txBody>
          <a:bodyPr wrap="square" lIns="25400" tIns="25400" rIns="25400" bIns="25400" rtlCol="0" anchor="t">
            <a:normAutofit/>
          </a:bodyPr>
          <a:lstStyle/>
          <a:p>
            <a:pPr algn="l" indent="0" marL="0">
              <a:buNone/>
            </a:pPr>
            <a:r>
              <a:rPr lang="en-US" sz="975" dirty="0">
                <a:solidFill>
                  <a:srgbClr val="9A9A93"/>
                </a:solidFill>
                <a:latin typeface="Courier New" pitchFamily="34" charset="0"/>
                <a:ea typeface="Courier New" pitchFamily="34" charset="-122"/>
                <a:cs typeface="Courier New" pitchFamily="34" charset="-120"/>
              </a:rPr>
              <a:t>14</a:t>
            </a:r>
            <a:endParaRPr lang="en-US" sz="975" dirty="0"/>
          </a:p>
        </p:txBody>
      </p:sp>
      <p:sp>
        <p:nvSpPr>
          <p:cNvPr id="54" name="Shape 52"/>
          <p:cNvSpPr/>
          <p:nvPr/>
        </p:nvSpPr>
        <p:spPr>
          <a:xfrm>
            <a:off x="2943225" y="3984278"/>
            <a:ext cx="14497050" cy="9525"/>
          </a:xfrm>
          <a:prstGeom prst="rect">
            <a:avLst/>
          </a:prstGeom>
          <a:solidFill>
            <a:srgbClr val="EFEEE8"/>
          </a:solidFill>
          <a:ln/>
        </p:spPr>
      </p:sp>
      <p:sp>
        <p:nvSpPr>
          <p:cNvPr id="55" name="Text 53"/>
          <p:cNvSpPr/>
          <p:nvPr/>
        </p:nvSpPr>
        <p:spPr>
          <a:xfrm>
            <a:off x="3076575" y="3746153"/>
            <a:ext cx="2130862" cy="180975"/>
          </a:xfrm>
          <a:prstGeom prst="rect">
            <a:avLst/>
          </a:prstGeom>
          <a:noFill/>
          <a:ln/>
        </p:spPr>
        <p:txBody>
          <a:bodyPr wrap="square" lIns="25400" tIns="25400" rIns="25400" bIns="25400" rtlCol="0" anchor="t">
            <a:normAutofit/>
          </a:bodyPr>
          <a:lstStyle/>
          <a:p>
            <a:pPr algn="l" indent="0" marL="0">
              <a:buNone/>
            </a:pPr>
            <a:r>
              <a:rPr lang="en-US" sz="863" spc="52" kern="0" dirty="0">
                <a:solidFill>
                  <a:srgbClr val="9A9A93"/>
                </a:solidFill>
                <a:latin typeface="Courier New" pitchFamily="34" charset="0"/>
                <a:ea typeface="Courier New" pitchFamily="34" charset="-122"/>
                <a:cs typeface="Courier New" pitchFamily="34" charset="-120"/>
              </a:rPr>
              <a:t>@timestamp</a:t>
            </a:r>
            <a:endParaRPr lang="en-US" sz="863" dirty="0"/>
          </a:p>
        </p:txBody>
      </p:sp>
      <p:sp>
        <p:nvSpPr>
          <p:cNvPr id="56" name="Text 54"/>
          <p:cNvSpPr/>
          <p:nvPr/>
        </p:nvSpPr>
        <p:spPr>
          <a:xfrm>
            <a:off x="5108972" y="3746153"/>
            <a:ext cx="5114248" cy="180975"/>
          </a:xfrm>
          <a:prstGeom prst="rect">
            <a:avLst/>
          </a:prstGeom>
          <a:noFill/>
          <a:ln/>
        </p:spPr>
        <p:txBody>
          <a:bodyPr wrap="square" lIns="25400" tIns="25400" rIns="25400" bIns="25400" rtlCol="0" anchor="t">
            <a:normAutofit/>
          </a:bodyPr>
          <a:lstStyle/>
          <a:p>
            <a:pPr algn="l" indent="0" marL="0">
              <a:buNone/>
            </a:pPr>
            <a:r>
              <a:rPr lang="en-US" sz="863" spc="52" kern="0" dirty="0">
                <a:solidFill>
                  <a:srgbClr val="9A9A93"/>
                </a:solidFill>
                <a:latin typeface="Courier New" pitchFamily="34" charset="0"/>
                <a:ea typeface="Courier New" pitchFamily="34" charset="-122"/>
                <a:cs typeface="Courier New" pitchFamily="34" charset="-120"/>
              </a:rPr>
              <a:t>file.path</a:t>
            </a:r>
            <a:endParaRPr lang="en-US" sz="863" dirty="0"/>
          </a:p>
        </p:txBody>
      </p:sp>
      <p:sp>
        <p:nvSpPr>
          <p:cNvPr id="57" name="Text 55"/>
          <p:cNvSpPr/>
          <p:nvPr/>
        </p:nvSpPr>
        <p:spPr>
          <a:xfrm>
            <a:off x="9853538" y="3746153"/>
            <a:ext cx="2344013" cy="180975"/>
          </a:xfrm>
          <a:prstGeom prst="rect">
            <a:avLst/>
          </a:prstGeom>
          <a:noFill/>
          <a:ln/>
        </p:spPr>
        <p:txBody>
          <a:bodyPr wrap="square" lIns="25400" tIns="25400" rIns="25400" bIns="25400" rtlCol="0" anchor="t">
            <a:normAutofit/>
          </a:bodyPr>
          <a:lstStyle/>
          <a:p>
            <a:pPr algn="l" indent="0" marL="0">
              <a:buNone/>
            </a:pPr>
            <a:r>
              <a:rPr lang="en-US" sz="863" spc="52" kern="0" dirty="0">
                <a:solidFill>
                  <a:srgbClr val="9A9A93"/>
                </a:solidFill>
                <a:latin typeface="Courier New" pitchFamily="34" charset="0"/>
                <a:ea typeface="Courier New" pitchFamily="34" charset="-122"/>
                <a:cs typeface="Courier New" pitchFamily="34" charset="-120"/>
              </a:rPr>
              <a:t>namespace</a:t>
            </a:r>
            <a:endParaRPr lang="en-US" sz="863" dirty="0"/>
          </a:p>
        </p:txBody>
      </p:sp>
      <p:sp>
        <p:nvSpPr>
          <p:cNvPr id="58" name="Text 56"/>
          <p:cNvSpPr/>
          <p:nvPr/>
        </p:nvSpPr>
        <p:spPr>
          <a:xfrm>
            <a:off x="12079709" y="3746153"/>
            <a:ext cx="1704722" cy="180975"/>
          </a:xfrm>
          <a:prstGeom prst="rect">
            <a:avLst/>
          </a:prstGeom>
          <a:noFill/>
          <a:ln/>
        </p:spPr>
        <p:txBody>
          <a:bodyPr wrap="square" lIns="25400" tIns="25400" rIns="25400" bIns="25400" rtlCol="0" anchor="t">
            <a:normAutofit/>
          </a:bodyPr>
          <a:lstStyle/>
          <a:p>
            <a:pPr algn="l" indent="0" marL="0">
              <a:buNone/>
            </a:pPr>
            <a:r>
              <a:rPr lang="en-US" sz="863" spc="52" kern="0" dirty="0">
                <a:solidFill>
                  <a:srgbClr val="9A9A93"/>
                </a:solidFill>
                <a:latin typeface="Courier New" pitchFamily="34" charset="0"/>
                <a:ea typeface="Courier New" pitchFamily="34" charset="-122"/>
                <a:cs typeface="Courier New" pitchFamily="34" charset="-120"/>
              </a:rPr>
              <a:t>size</a:t>
            </a:r>
            <a:endParaRPr lang="en-US" sz="863" dirty="0"/>
          </a:p>
        </p:txBody>
      </p:sp>
      <p:sp>
        <p:nvSpPr>
          <p:cNvPr id="59" name="Text 57"/>
          <p:cNvSpPr/>
          <p:nvPr/>
        </p:nvSpPr>
        <p:spPr>
          <a:xfrm>
            <a:off x="13724706" y="3746153"/>
            <a:ext cx="2130862" cy="180975"/>
          </a:xfrm>
          <a:prstGeom prst="rect">
            <a:avLst/>
          </a:prstGeom>
          <a:noFill/>
          <a:ln/>
        </p:spPr>
        <p:txBody>
          <a:bodyPr wrap="square" lIns="25400" tIns="25400" rIns="25400" bIns="25400" rtlCol="0" anchor="t">
            <a:normAutofit/>
          </a:bodyPr>
          <a:lstStyle/>
          <a:p>
            <a:pPr algn="l" indent="0" marL="0">
              <a:buNone/>
            </a:pPr>
            <a:r>
              <a:rPr lang="en-US" sz="863" spc="52" kern="0" dirty="0">
                <a:solidFill>
                  <a:srgbClr val="9A9A93"/>
                </a:solidFill>
                <a:latin typeface="Courier New" pitchFamily="34" charset="0"/>
                <a:ea typeface="Courier New" pitchFamily="34" charset="-122"/>
                <a:cs typeface="Courier New" pitchFamily="34" charset="-120"/>
              </a:rPr>
              <a:t>job.id</a:t>
            </a:r>
            <a:endParaRPr lang="en-US" sz="863" dirty="0"/>
          </a:p>
        </p:txBody>
      </p:sp>
      <p:sp>
        <p:nvSpPr>
          <p:cNvPr id="60" name="Text 58"/>
          <p:cNvSpPr/>
          <p:nvPr/>
        </p:nvSpPr>
        <p:spPr>
          <a:xfrm>
            <a:off x="15757103" y="3746153"/>
            <a:ext cx="1704722" cy="180975"/>
          </a:xfrm>
          <a:prstGeom prst="rect">
            <a:avLst/>
          </a:prstGeom>
          <a:noFill/>
          <a:ln/>
        </p:spPr>
        <p:txBody>
          <a:bodyPr wrap="square" lIns="25400" tIns="25400" rIns="25400" bIns="25400" rtlCol="0" anchor="t">
            <a:normAutofit/>
          </a:bodyPr>
          <a:lstStyle/>
          <a:p>
            <a:pPr algn="l" indent="0" marL="0">
              <a:buNone/>
            </a:pPr>
            <a:r>
              <a:rPr lang="en-US" sz="863" spc="52" kern="0" dirty="0">
                <a:solidFill>
                  <a:srgbClr val="9A9A93"/>
                </a:solidFill>
                <a:latin typeface="Courier New" pitchFamily="34" charset="0"/>
                <a:ea typeface="Courier New" pitchFamily="34" charset="-122"/>
                <a:cs typeface="Courier New" pitchFamily="34" charset="-120"/>
              </a:rPr>
              <a:t>status</a:t>
            </a:r>
            <a:endParaRPr lang="en-US" sz="863" dirty="0"/>
          </a:p>
        </p:txBody>
      </p:sp>
      <p:sp>
        <p:nvSpPr>
          <p:cNvPr id="61" name="Shape 59"/>
          <p:cNvSpPr/>
          <p:nvPr/>
        </p:nvSpPr>
        <p:spPr>
          <a:xfrm>
            <a:off x="2943225" y="4398615"/>
            <a:ext cx="14497050" cy="9525"/>
          </a:xfrm>
          <a:prstGeom prst="rect">
            <a:avLst/>
          </a:prstGeom>
          <a:solidFill>
            <a:srgbClr val="F4F3EE"/>
          </a:solidFill>
          <a:ln/>
        </p:spPr>
      </p:sp>
      <p:sp>
        <p:nvSpPr>
          <p:cNvPr id="62" name="Text 60"/>
          <p:cNvSpPr/>
          <p:nvPr/>
        </p:nvSpPr>
        <p:spPr>
          <a:xfrm>
            <a:off x="3076575" y="4117628"/>
            <a:ext cx="2130862" cy="195263"/>
          </a:xfrm>
          <a:prstGeom prst="rect">
            <a:avLst/>
          </a:prstGeom>
          <a:noFill/>
          <a:ln/>
        </p:spPr>
        <p:txBody>
          <a:bodyPr wrap="square" lIns="25400" tIns="25400" rIns="25400" bIns="25400" rtlCol="0" anchor="t">
            <a:normAutofit/>
          </a:bodyPr>
          <a:lstStyle/>
          <a:p>
            <a:pPr algn="l" indent="0" marL="0">
              <a:buNone/>
            </a:pPr>
            <a:r>
              <a:rPr lang="en-US" sz="938" dirty="0">
                <a:solidFill>
                  <a:srgbClr val="9A9A93"/>
                </a:solidFill>
                <a:latin typeface="Courier New" pitchFamily="34" charset="0"/>
                <a:ea typeface="Courier New" pitchFamily="34" charset="-122"/>
                <a:cs typeface="Courier New" pitchFamily="34" charset="-120"/>
              </a:rPr>
              <a:t>02:00:14</a:t>
            </a:r>
            <a:endParaRPr lang="en-US" sz="938" dirty="0"/>
          </a:p>
        </p:txBody>
      </p:sp>
      <p:sp>
        <p:nvSpPr>
          <p:cNvPr id="63" name="Text 61"/>
          <p:cNvSpPr/>
          <p:nvPr/>
        </p:nvSpPr>
        <p:spPr>
          <a:xfrm>
            <a:off x="5108972" y="4115246"/>
            <a:ext cx="5114248"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/var/lib/etcd/member/snap/db</a:t>
            </a:r>
            <a:endParaRPr lang="en-US" sz="975" dirty="0"/>
          </a:p>
        </p:txBody>
      </p:sp>
      <p:sp>
        <p:nvSpPr>
          <p:cNvPr id="64" name="Text 62"/>
          <p:cNvSpPr/>
          <p:nvPr/>
        </p:nvSpPr>
        <p:spPr>
          <a:xfrm>
            <a:off x="9853538" y="4108103"/>
            <a:ext cx="2344013" cy="214313"/>
          </a:xfrm>
          <a:prstGeom prst="rect">
            <a:avLst/>
          </a:prstGeom>
          <a:noFill/>
          <a:ln/>
        </p:spPr>
        <p:txBody>
          <a:bodyPr wrap="square" lIns="25400" tIns="25400" rIns="25400" bIns="25400" rtlCol="0" anchor="t">
            <a:normAutofit/>
          </a:bodyPr>
          <a:lstStyle/>
          <a:p>
            <a:pPr algn="l" indent="0" marL="0">
              <a:buNone/>
            </a:pPr>
            <a:r>
              <a:rPr lang="en-US" sz="1050" dirty="0">
                <a:solidFill>
                  <a:srgbClr val="71717A"/>
                </a:solidFill>
                <a:latin typeface="Arial" pitchFamily="34" charset="0"/>
                <a:ea typeface="Arial" pitchFamily="34" charset="-122"/>
                <a:cs typeface="Arial" pitchFamily="34" charset="-120"/>
              </a:rPr>
              <a:t>kube-system</a:t>
            </a:r>
            <a:endParaRPr lang="en-US" sz="1050" dirty="0"/>
          </a:p>
        </p:txBody>
      </p:sp>
      <p:sp>
        <p:nvSpPr>
          <p:cNvPr id="65" name="Text 63"/>
          <p:cNvSpPr/>
          <p:nvPr/>
        </p:nvSpPr>
        <p:spPr>
          <a:xfrm>
            <a:off x="12079709" y="4115246"/>
            <a:ext cx="170472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1.2 GB</a:t>
            </a:r>
            <a:endParaRPr lang="en-US" sz="975" dirty="0"/>
          </a:p>
        </p:txBody>
      </p:sp>
      <p:sp>
        <p:nvSpPr>
          <p:cNvPr id="66" name="Text 64"/>
          <p:cNvSpPr/>
          <p:nvPr/>
        </p:nvSpPr>
        <p:spPr>
          <a:xfrm>
            <a:off x="13724706" y="4115246"/>
            <a:ext cx="213086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job-8842</a:t>
            </a:r>
            <a:endParaRPr lang="en-US" sz="975" dirty="0"/>
          </a:p>
        </p:txBody>
      </p:sp>
      <p:sp>
        <p:nvSpPr>
          <p:cNvPr id="67" name="Shape 65"/>
          <p:cNvSpPr/>
          <p:nvPr/>
        </p:nvSpPr>
        <p:spPr>
          <a:xfrm>
            <a:off x="15757103" y="4103340"/>
            <a:ext cx="283890" cy="200025"/>
          </a:xfrm>
          <a:prstGeom prst="roundRect">
            <a:avLst>
              <a:gd name="adj" fmla="val 28571"/>
            </a:avLst>
          </a:prstGeom>
          <a:solidFill>
            <a:srgbClr val="E7F4EC"/>
          </a:solidFill>
          <a:ln/>
        </p:spPr>
      </p:sp>
      <p:sp>
        <p:nvSpPr>
          <p:cNvPr id="68" name="Text 66"/>
          <p:cNvSpPr/>
          <p:nvPr/>
        </p:nvSpPr>
        <p:spPr>
          <a:xfrm>
            <a:off x="15833303" y="4131915"/>
            <a:ext cx="207690" cy="180975"/>
          </a:xfrm>
          <a:prstGeom prst="rect">
            <a:avLst/>
          </a:prstGeom>
          <a:noFill/>
          <a:ln/>
        </p:spPr>
        <p:txBody>
          <a:bodyPr wrap="square" lIns="25400" tIns="25400" rIns="25400" bIns="25400" rtlCol="0" anchor="t">
            <a:normAutofit/>
          </a:bodyPr>
          <a:lstStyle/>
          <a:p>
            <a:pPr algn="l" indent="0" marL="0">
              <a:buNone/>
            </a:pPr>
            <a:r>
              <a:rPr lang="en-US" sz="863" dirty="0">
                <a:solidFill>
                  <a:srgbClr val="15724A"/>
                </a:solidFill>
                <a:latin typeface="Courier New" pitchFamily="34" charset="0"/>
                <a:ea typeface="Courier New" pitchFamily="34" charset="-122"/>
                <a:cs typeface="Courier New" pitchFamily="34" charset="-120"/>
              </a:rPr>
              <a:t>OK</a:t>
            </a:r>
            <a:endParaRPr lang="en-US" sz="863" dirty="0"/>
          </a:p>
        </p:txBody>
      </p:sp>
      <p:sp>
        <p:nvSpPr>
          <p:cNvPr id="69" name="Shape 67"/>
          <p:cNvSpPr/>
          <p:nvPr/>
        </p:nvSpPr>
        <p:spPr>
          <a:xfrm>
            <a:off x="2943225" y="4812953"/>
            <a:ext cx="14497050" cy="9525"/>
          </a:xfrm>
          <a:prstGeom prst="rect">
            <a:avLst/>
          </a:prstGeom>
          <a:solidFill>
            <a:srgbClr val="F4F3EE"/>
          </a:solidFill>
          <a:ln/>
        </p:spPr>
      </p:sp>
      <p:sp>
        <p:nvSpPr>
          <p:cNvPr id="70" name="Text 68"/>
          <p:cNvSpPr/>
          <p:nvPr/>
        </p:nvSpPr>
        <p:spPr>
          <a:xfrm>
            <a:off x="3076575" y="4531965"/>
            <a:ext cx="2130862" cy="195263"/>
          </a:xfrm>
          <a:prstGeom prst="rect">
            <a:avLst/>
          </a:prstGeom>
          <a:noFill/>
          <a:ln/>
        </p:spPr>
        <p:txBody>
          <a:bodyPr wrap="square" lIns="25400" tIns="25400" rIns="25400" bIns="25400" rtlCol="0" anchor="t">
            <a:normAutofit/>
          </a:bodyPr>
          <a:lstStyle/>
          <a:p>
            <a:pPr algn="l" indent="0" marL="0">
              <a:buNone/>
            </a:pPr>
            <a:r>
              <a:rPr lang="en-US" sz="938" dirty="0">
                <a:solidFill>
                  <a:srgbClr val="9A9A93"/>
                </a:solidFill>
                <a:latin typeface="Courier New" pitchFamily="34" charset="0"/>
                <a:ea typeface="Courier New" pitchFamily="34" charset="-122"/>
                <a:cs typeface="Courier New" pitchFamily="34" charset="-120"/>
              </a:rPr>
              <a:t>02:00:15</a:t>
            </a:r>
            <a:endParaRPr lang="en-US" sz="938" dirty="0"/>
          </a:p>
        </p:txBody>
      </p:sp>
      <p:sp>
        <p:nvSpPr>
          <p:cNvPr id="71" name="Text 69"/>
          <p:cNvSpPr/>
          <p:nvPr/>
        </p:nvSpPr>
        <p:spPr>
          <a:xfrm>
            <a:off x="5108972" y="4529584"/>
            <a:ext cx="5114248"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/etc/kubernetes/pki/ca.crt</a:t>
            </a:r>
            <a:endParaRPr lang="en-US" sz="975" dirty="0"/>
          </a:p>
        </p:txBody>
      </p:sp>
      <p:sp>
        <p:nvSpPr>
          <p:cNvPr id="72" name="Text 70"/>
          <p:cNvSpPr/>
          <p:nvPr/>
        </p:nvSpPr>
        <p:spPr>
          <a:xfrm>
            <a:off x="9853538" y="4522440"/>
            <a:ext cx="2344013" cy="214313"/>
          </a:xfrm>
          <a:prstGeom prst="rect">
            <a:avLst/>
          </a:prstGeom>
          <a:noFill/>
          <a:ln/>
        </p:spPr>
        <p:txBody>
          <a:bodyPr wrap="square" lIns="25400" tIns="25400" rIns="25400" bIns="25400" rtlCol="0" anchor="t">
            <a:normAutofit/>
          </a:bodyPr>
          <a:lstStyle/>
          <a:p>
            <a:pPr algn="l" indent="0" marL="0">
              <a:buNone/>
            </a:pPr>
            <a:r>
              <a:rPr lang="en-US" sz="1050" dirty="0">
                <a:solidFill>
                  <a:srgbClr val="71717A"/>
                </a:solidFill>
                <a:latin typeface="Arial" pitchFamily="34" charset="0"/>
                <a:ea typeface="Arial" pitchFamily="34" charset="-122"/>
                <a:cs typeface="Arial" pitchFamily="34" charset="-120"/>
              </a:rPr>
              <a:t>kube-system</a:t>
            </a:r>
            <a:endParaRPr lang="en-US" sz="1050" dirty="0"/>
          </a:p>
        </p:txBody>
      </p:sp>
      <p:sp>
        <p:nvSpPr>
          <p:cNvPr id="73" name="Text 71"/>
          <p:cNvSpPr/>
          <p:nvPr/>
        </p:nvSpPr>
        <p:spPr>
          <a:xfrm>
            <a:off x="12079709" y="4529584"/>
            <a:ext cx="170472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2 KB</a:t>
            </a:r>
            <a:endParaRPr lang="en-US" sz="975" dirty="0"/>
          </a:p>
        </p:txBody>
      </p:sp>
      <p:sp>
        <p:nvSpPr>
          <p:cNvPr id="74" name="Text 72"/>
          <p:cNvSpPr/>
          <p:nvPr/>
        </p:nvSpPr>
        <p:spPr>
          <a:xfrm>
            <a:off x="13724706" y="4529584"/>
            <a:ext cx="213086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job-8842</a:t>
            </a:r>
            <a:endParaRPr lang="en-US" sz="975" dirty="0"/>
          </a:p>
        </p:txBody>
      </p:sp>
      <p:sp>
        <p:nvSpPr>
          <p:cNvPr id="75" name="Shape 73"/>
          <p:cNvSpPr/>
          <p:nvPr/>
        </p:nvSpPr>
        <p:spPr>
          <a:xfrm>
            <a:off x="15757103" y="4517678"/>
            <a:ext cx="283890" cy="200025"/>
          </a:xfrm>
          <a:prstGeom prst="roundRect">
            <a:avLst>
              <a:gd name="adj" fmla="val 28571"/>
            </a:avLst>
          </a:prstGeom>
          <a:solidFill>
            <a:srgbClr val="E7F4EC"/>
          </a:solidFill>
          <a:ln/>
        </p:spPr>
      </p:sp>
      <p:sp>
        <p:nvSpPr>
          <p:cNvPr id="76" name="Text 74"/>
          <p:cNvSpPr/>
          <p:nvPr/>
        </p:nvSpPr>
        <p:spPr>
          <a:xfrm>
            <a:off x="15833303" y="4546253"/>
            <a:ext cx="207690" cy="180975"/>
          </a:xfrm>
          <a:prstGeom prst="rect">
            <a:avLst/>
          </a:prstGeom>
          <a:noFill/>
          <a:ln/>
        </p:spPr>
        <p:txBody>
          <a:bodyPr wrap="square" lIns="25400" tIns="25400" rIns="25400" bIns="25400" rtlCol="0" anchor="t">
            <a:normAutofit/>
          </a:bodyPr>
          <a:lstStyle/>
          <a:p>
            <a:pPr algn="l" indent="0" marL="0">
              <a:buNone/>
            </a:pPr>
            <a:r>
              <a:rPr lang="en-US" sz="863" dirty="0">
                <a:solidFill>
                  <a:srgbClr val="15724A"/>
                </a:solidFill>
                <a:latin typeface="Courier New" pitchFamily="34" charset="0"/>
                <a:ea typeface="Courier New" pitchFamily="34" charset="-122"/>
                <a:cs typeface="Courier New" pitchFamily="34" charset="-120"/>
              </a:rPr>
              <a:t>OK</a:t>
            </a:r>
            <a:endParaRPr lang="en-US" sz="863" dirty="0"/>
          </a:p>
        </p:txBody>
      </p:sp>
      <p:sp>
        <p:nvSpPr>
          <p:cNvPr id="77" name="Shape 75"/>
          <p:cNvSpPr/>
          <p:nvPr/>
        </p:nvSpPr>
        <p:spPr>
          <a:xfrm>
            <a:off x="2943225" y="5227290"/>
            <a:ext cx="14497050" cy="9525"/>
          </a:xfrm>
          <a:prstGeom prst="rect">
            <a:avLst/>
          </a:prstGeom>
          <a:solidFill>
            <a:srgbClr val="F4F3EE"/>
          </a:solidFill>
          <a:ln/>
        </p:spPr>
      </p:sp>
      <p:sp>
        <p:nvSpPr>
          <p:cNvPr id="78" name="Text 76"/>
          <p:cNvSpPr/>
          <p:nvPr/>
        </p:nvSpPr>
        <p:spPr>
          <a:xfrm>
            <a:off x="3076575" y="4946303"/>
            <a:ext cx="2130862" cy="195263"/>
          </a:xfrm>
          <a:prstGeom prst="rect">
            <a:avLst/>
          </a:prstGeom>
          <a:noFill/>
          <a:ln/>
        </p:spPr>
        <p:txBody>
          <a:bodyPr wrap="square" lIns="25400" tIns="25400" rIns="25400" bIns="25400" rtlCol="0" anchor="t">
            <a:normAutofit/>
          </a:bodyPr>
          <a:lstStyle/>
          <a:p>
            <a:pPr algn="l" indent="0" marL="0">
              <a:buNone/>
            </a:pPr>
            <a:r>
              <a:rPr lang="en-US" sz="938" dirty="0">
                <a:solidFill>
                  <a:srgbClr val="9A9A93"/>
                </a:solidFill>
                <a:latin typeface="Courier New" pitchFamily="34" charset="0"/>
                <a:ea typeface="Courier New" pitchFamily="34" charset="-122"/>
                <a:cs typeface="Courier New" pitchFamily="34" charset="-120"/>
              </a:rPr>
              <a:t>02:03:41</a:t>
            </a:r>
            <a:endParaRPr lang="en-US" sz="938" dirty="0"/>
          </a:p>
        </p:txBody>
      </p:sp>
      <p:sp>
        <p:nvSpPr>
          <p:cNvPr id="79" name="Text 77"/>
          <p:cNvSpPr/>
          <p:nvPr/>
        </p:nvSpPr>
        <p:spPr>
          <a:xfrm>
            <a:off x="5108972" y="4943921"/>
            <a:ext cx="5114248"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secrets/payments-db.sealed</a:t>
            </a:r>
            <a:endParaRPr lang="en-US" sz="975" dirty="0"/>
          </a:p>
        </p:txBody>
      </p:sp>
      <p:sp>
        <p:nvSpPr>
          <p:cNvPr id="80" name="Text 78"/>
          <p:cNvSpPr/>
          <p:nvPr/>
        </p:nvSpPr>
        <p:spPr>
          <a:xfrm>
            <a:off x="9853538" y="4936778"/>
            <a:ext cx="2344013" cy="214313"/>
          </a:xfrm>
          <a:prstGeom prst="rect">
            <a:avLst/>
          </a:prstGeom>
          <a:noFill/>
          <a:ln/>
        </p:spPr>
        <p:txBody>
          <a:bodyPr wrap="square" lIns="25400" tIns="25400" rIns="25400" bIns="25400" rtlCol="0" anchor="t">
            <a:normAutofit/>
          </a:bodyPr>
          <a:lstStyle/>
          <a:p>
            <a:pPr algn="l" indent="0" marL="0">
              <a:buNone/>
            </a:pPr>
            <a:r>
              <a:rPr lang="en-US" sz="1050" dirty="0">
                <a:solidFill>
                  <a:srgbClr val="71717A"/>
                </a:solidFill>
                <a:latin typeface="Arial" pitchFamily="34" charset="0"/>
                <a:ea typeface="Arial" pitchFamily="34" charset="-122"/>
                <a:cs typeface="Arial" pitchFamily="34" charset="-120"/>
              </a:rPr>
              <a:t>payments</a:t>
            </a:r>
            <a:endParaRPr lang="en-US" sz="1050" dirty="0"/>
          </a:p>
        </p:txBody>
      </p:sp>
      <p:sp>
        <p:nvSpPr>
          <p:cNvPr id="81" name="Text 79"/>
          <p:cNvSpPr/>
          <p:nvPr/>
        </p:nvSpPr>
        <p:spPr>
          <a:xfrm>
            <a:off x="12079709" y="4943921"/>
            <a:ext cx="170472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480 KB</a:t>
            </a:r>
            <a:endParaRPr lang="en-US" sz="975" dirty="0"/>
          </a:p>
        </p:txBody>
      </p:sp>
      <p:sp>
        <p:nvSpPr>
          <p:cNvPr id="82" name="Text 80"/>
          <p:cNvSpPr/>
          <p:nvPr/>
        </p:nvSpPr>
        <p:spPr>
          <a:xfrm>
            <a:off x="13724706" y="4943921"/>
            <a:ext cx="213086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job-8843</a:t>
            </a:r>
            <a:endParaRPr lang="en-US" sz="975" dirty="0"/>
          </a:p>
        </p:txBody>
      </p:sp>
      <p:sp>
        <p:nvSpPr>
          <p:cNvPr id="83" name="Shape 81"/>
          <p:cNvSpPr/>
          <p:nvPr/>
        </p:nvSpPr>
        <p:spPr>
          <a:xfrm>
            <a:off x="15757103" y="4932015"/>
            <a:ext cx="283890" cy="200025"/>
          </a:xfrm>
          <a:prstGeom prst="roundRect">
            <a:avLst>
              <a:gd name="adj" fmla="val 28571"/>
            </a:avLst>
          </a:prstGeom>
          <a:solidFill>
            <a:srgbClr val="E7F4EC"/>
          </a:solidFill>
          <a:ln/>
        </p:spPr>
      </p:sp>
      <p:sp>
        <p:nvSpPr>
          <p:cNvPr id="84" name="Text 82"/>
          <p:cNvSpPr/>
          <p:nvPr/>
        </p:nvSpPr>
        <p:spPr>
          <a:xfrm>
            <a:off x="15833303" y="4960590"/>
            <a:ext cx="207690" cy="180975"/>
          </a:xfrm>
          <a:prstGeom prst="rect">
            <a:avLst/>
          </a:prstGeom>
          <a:noFill/>
          <a:ln/>
        </p:spPr>
        <p:txBody>
          <a:bodyPr wrap="square" lIns="25400" tIns="25400" rIns="25400" bIns="25400" rtlCol="0" anchor="t">
            <a:normAutofit/>
          </a:bodyPr>
          <a:lstStyle/>
          <a:p>
            <a:pPr algn="l" indent="0" marL="0">
              <a:buNone/>
            </a:pPr>
            <a:r>
              <a:rPr lang="en-US" sz="863" dirty="0">
                <a:solidFill>
                  <a:srgbClr val="15724A"/>
                </a:solidFill>
                <a:latin typeface="Courier New" pitchFamily="34" charset="0"/>
                <a:ea typeface="Courier New" pitchFamily="34" charset="-122"/>
                <a:cs typeface="Courier New" pitchFamily="34" charset="-120"/>
              </a:rPr>
              <a:t>OK</a:t>
            </a:r>
            <a:endParaRPr lang="en-US" sz="863" dirty="0"/>
          </a:p>
        </p:txBody>
      </p:sp>
      <p:sp>
        <p:nvSpPr>
          <p:cNvPr id="85" name="Shape 83"/>
          <p:cNvSpPr/>
          <p:nvPr/>
        </p:nvSpPr>
        <p:spPr>
          <a:xfrm>
            <a:off x="2943225" y="5641628"/>
            <a:ext cx="14497050" cy="9525"/>
          </a:xfrm>
          <a:prstGeom prst="rect">
            <a:avLst/>
          </a:prstGeom>
          <a:solidFill>
            <a:srgbClr val="F4F3EE"/>
          </a:solidFill>
          <a:ln/>
        </p:spPr>
      </p:sp>
      <p:sp>
        <p:nvSpPr>
          <p:cNvPr id="86" name="Text 84"/>
          <p:cNvSpPr/>
          <p:nvPr/>
        </p:nvSpPr>
        <p:spPr>
          <a:xfrm>
            <a:off x="3076575" y="5360640"/>
            <a:ext cx="2130862" cy="195263"/>
          </a:xfrm>
          <a:prstGeom prst="rect">
            <a:avLst/>
          </a:prstGeom>
          <a:noFill/>
          <a:ln/>
        </p:spPr>
        <p:txBody>
          <a:bodyPr wrap="square" lIns="25400" tIns="25400" rIns="25400" bIns="25400" rtlCol="0" anchor="t">
            <a:normAutofit/>
          </a:bodyPr>
          <a:lstStyle/>
          <a:p>
            <a:pPr algn="l" indent="0" marL="0">
              <a:buNone/>
            </a:pPr>
            <a:r>
              <a:rPr lang="en-US" sz="938" dirty="0">
                <a:solidFill>
                  <a:srgbClr val="9A9A93"/>
                </a:solidFill>
                <a:latin typeface="Courier New" pitchFamily="34" charset="0"/>
                <a:ea typeface="Courier New" pitchFamily="34" charset="-122"/>
                <a:cs typeface="Courier New" pitchFamily="34" charset="-120"/>
              </a:rPr>
              <a:t>02:04:08</a:t>
            </a:r>
            <a:endParaRPr lang="en-US" sz="938" dirty="0"/>
          </a:p>
        </p:txBody>
      </p:sp>
      <p:sp>
        <p:nvSpPr>
          <p:cNvPr id="87" name="Text 85"/>
          <p:cNvSpPr/>
          <p:nvPr/>
        </p:nvSpPr>
        <p:spPr>
          <a:xfrm>
            <a:off x="5108972" y="5358259"/>
            <a:ext cx="5114248"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pvc-payments-01.img</a:t>
            </a:r>
            <a:endParaRPr lang="en-US" sz="975" dirty="0"/>
          </a:p>
        </p:txBody>
      </p:sp>
      <p:sp>
        <p:nvSpPr>
          <p:cNvPr id="88" name="Text 86"/>
          <p:cNvSpPr/>
          <p:nvPr/>
        </p:nvSpPr>
        <p:spPr>
          <a:xfrm>
            <a:off x="9853538" y="5351115"/>
            <a:ext cx="2344013" cy="214313"/>
          </a:xfrm>
          <a:prstGeom prst="rect">
            <a:avLst/>
          </a:prstGeom>
          <a:noFill/>
          <a:ln/>
        </p:spPr>
        <p:txBody>
          <a:bodyPr wrap="square" lIns="25400" tIns="25400" rIns="25400" bIns="25400" rtlCol="0" anchor="t">
            <a:normAutofit/>
          </a:bodyPr>
          <a:lstStyle/>
          <a:p>
            <a:pPr algn="l" indent="0" marL="0">
              <a:buNone/>
            </a:pPr>
            <a:r>
              <a:rPr lang="en-US" sz="1050" dirty="0">
                <a:solidFill>
                  <a:srgbClr val="71717A"/>
                </a:solidFill>
                <a:latin typeface="Arial" pitchFamily="34" charset="0"/>
                <a:ea typeface="Arial" pitchFamily="34" charset="-122"/>
                <a:cs typeface="Arial" pitchFamily="34" charset="-120"/>
              </a:rPr>
              <a:t>payments</a:t>
            </a:r>
            <a:endParaRPr lang="en-US" sz="1050" dirty="0"/>
          </a:p>
        </p:txBody>
      </p:sp>
      <p:sp>
        <p:nvSpPr>
          <p:cNvPr id="89" name="Text 87"/>
          <p:cNvSpPr/>
          <p:nvPr/>
        </p:nvSpPr>
        <p:spPr>
          <a:xfrm>
            <a:off x="12079709" y="5358259"/>
            <a:ext cx="170472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8.4 GB</a:t>
            </a:r>
            <a:endParaRPr lang="en-US" sz="975" dirty="0"/>
          </a:p>
        </p:txBody>
      </p:sp>
      <p:sp>
        <p:nvSpPr>
          <p:cNvPr id="90" name="Text 88"/>
          <p:cNvSpPr/>
          <p:nvPr/>
        </p:nvSpPr>
        <p:spPr>
          <a:xfrm>
            <a:off x="13724706" y="5358259"/>
            <a:ext cx="213086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job-8843</a:t>
            </a:r>
            <a:endParaRPr lang="en-US" sz="975" dirty="0"/>
          </a:p>
        </p:txBody>
      </p:sp>
      <p:sp>
        <p:nvSpPr>
          <p:cNvPr id="91" name="Shape 89"/>
          <p:cNvSpPr/>
          <p:nvPr/>
        </p:nvSpPr>
        <p:spPr>
          <a:xfrm>
            <a:off x="15757103" y="5346353"/>
            <a:ext cx="283890" cy="200025"/>
          </a:xfrm>
          <a:prstGeom prst="roundRect">
            <a:avLst>
              <a:gd name="adj" fmla="val 28571"/>
            </a:avLst>
          </a:prstGeom>
          <a:solidFill>
            <a:srgbClr val="E7F4EC"/>
          </a:solidFill>
          <a:ln/>
        </p:spPr>
      </p:sp>
      <p:sp>
        <p:nvSpPr>
          <p:cNvPr id="92" name="Text 90"/>
          <p:cNvSpPr/>
          <p:nvPr/>
        </p:nvSpPr>
        <p:spPr>
          <a:xfrm>
            <a:off x="15833303" y="5374928"/>
            <a:ext cx="207690" cy="180975"/>
          </a:xfrm>
          <a:prstGeom prst="rect">
            <a:avLst/>
          </a:prstGeom>
          <a:noFill/>
          <a:ln/>
        </p:spPr>
        <p:txBody>
          <a:bodyPr wrap="square" lIns="25400" tIns="25400" rIns="25400" bIns="25400" rtlCol="0" anchor="t">
            <a:normAutofit/>
          </a:bodyPr>
          <a:lstStyle/>
          <a:p>
            <a:pPr algn="l" indent="0" marL="0">
              <a:buNone/>
            </a:pPr>
            <a:r>
              <a:rPr lang="en-US" sz="863" dirty="0">
                <a:solidFill>
                  <a:srgbClr val="15724A"/>
                </a:solidFill>
                <a:latin typeface="Courier New" pitchFamily="34" charset="0"/>
                <a:ea typeface="Courier New" pitchFamily="34" charset="-122"/>
                <a:cs typeface="Courier New" pitchFamily="34" charset="-120"/>
              </a:rPr>
              <a:t>OK</a:t>
            </a:r>
            <a:endParaRPr lang="en-US" sz="863" dirty="0"/>
          </a:p>
        </p:txBody>
      </p:sp>
      <p:sp>
        <p:nvSpPr>
          <p:cNvPr id="93" name="Shape 91"/>
          <p:cNvSpPr/>
          <p:nvPr/>
        </p:nvSpPr>
        <p:spPr>
          <a:xfrm>
            <a:off x="2943225" y="6055965"/>
            <a:ext cx="14497050" cy="9525"/>
          </a:xfrm>
          <a:prstGeom prst="rect">
            <a:avLst/>
          </a:prstGeom>
          <a:solidFill>
            <a:srgbClr val="F4F3EE"/>
          </a:solidFill>
          <a:ln/>
        </p:spPr>
      </p:sp>
      <p:sp>
        <p:nvSpPr>
          <p:cNvPr id="94" name="Text 92"/>
          <p:cNvSpPr/>
          <p:nvPr/>
        </p:nvSpPr>
        <p:spPr>
          <a:xfrm>
            <a:off x="3076575" y="5774978"/>
            <a:ext cx="2130862" cy="195263"/>
          </a:xfrm>
          <a:prstGeom prst="rect">
            <a:avLst/>
          </a:prstGeom>
          <a:noFill/>
          <a:ln/>
        </p:spPr>
        <p:txBody>
          <a:bodyPr wrap="square" lIns="25400" tIns="25400" rIns="25400" bIns="25400" rtlCol="0" anchor="t">
            <a:normAutofit/>
          </a:bodyPr>
          <a:lstStyle/>
          <a:p>
            <a:pPr algn="l" indent="0" marL="0">
              <a:buNone/>
            </a:pPr>
            <a:r>
              <a:rPr lang="en-US" sz="938" dirty="0">
                <a:solidFill>
                  <a:srgbClr val="9A9A93"/>
                </a:solidFill>
                <a:latin typeface="Courier New" pitchFamily="34" charset="0"/>
                <a:ea typeface="Courier New" pitchFamily="34" charset="-122"/>
                <a:cs typeface="Courier New" pitchFamily="34" charset="-120"/>
              </a:rPr>
              <a:t>02:05:52</a:t>
            </a:r>
            <a:endParaRPr lang="en-US" sz="938" dirty="0"/>
          </a:p>
        </p:txBody>
      </p:sp>
      <p:sp>
        <p:nvSpPr>
          <p:cNvPr id="95" name="Text 93"/>
          <p:cNvSpPr/>
          <p:nvPr/>
        </p:nvSpPr>
        <p:spPr>
          <a:xfrm>
            <a:off x="5108972" y="5772596"/>
            <a:ext cx="5114248"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configmaps/frontend.json</a:t>
            </a:r>
            <a:endParaRPr lang="en-US" sz="975" dirty="0"/>
          </a:p>
        </p:txBody>
      </p:sp>
      <p:sp>
        <p:nvSpPr>
          <p:cNvPr id="96" name="Text 94"/>
          <p:cNvSpPr/>
          <p:nvPr/>
        </p:nvSpPr>
        <p:spPr>
          <a:xfrm>
            <a:off x="9853538" y="5765453"/>
            <a:ext cx="2344013" cy="214313"/>
          </a:xfrm>
          <a:prstGeom prst="rect">
            <a:avLst/>
          </a:prstGeom>
          <a:noFill/>
          <a:ln/>
        </p:spPr>
        <p:txBody>
          <a:bodyPr wrap="square" lIns="25400" tIns="25400" rIns="25400" bIns="25400" rtlCol="0" anchor="t">
            <a:normAutofit/>
          </a:bodyPr>
          <a:lstStyle/>
          <a:p>
            <a:pPr algn="l" indent="0" marL="0">
              <a:buNone/>
            </a:pPr>
            <a:r>
              <a:rPr lang="en-US" sz="1050" dirty="0">
                <a:solidFill>
                  <a:srgbClr val="71717A"/>
                </a:solidFill>
                <a:latin typeface="Arial" pitchFamily="34" charset="0"/>
                <a:ea typeface="Arial" pitchFamily="34" charset="-122"/>
                <a:cs typeface="Arial" pitchFamily="34" charset="-120"/>
              </a:rPr>
              <a:t>frontend</a:t>
            </a:r>
            <a:endParaRPr lang="en-US" sz="1050" dirty="0"/>
          </a:p>
        </p:txBody>
      </p:sp>
      <p:sp>
        <p:nvSpPr>
          <p:cNvPr id="97" name="Text 95"/>
          <p:cNvSpPr/>
          <p:nvPr/>
        </p:nvSpPr>
        <p:spPr>
          <a:xfrm>
            <a:off x="12079709" y="5772596"/>
            <a:ext cx="170472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36 KB</a:t>
            </a:r>
            <a:endParaRPr lang="en-US" sz="975" dirty="0"/>
          </a:p>
        </p:txBody>
      </p:sp>
      <p:sp>
        <p:nvSpPr>
          <p:cNvPr id="98" name="Text 96"/>
          <p:cNvSpPr/>
          <p:nvPr/>
        </p:nvSpPr>
        <p:spPr>
          <a:xfrm>
            <a:off x="13724706" y="5772596"/>
            <a:ext cx="213086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job-8844</a:t>
            </a:r>
            <a:endParaRPr lang="en-US" sz="975" dirty="0"/>
          </a:p>
        </p:txBody>
      </p:sp>
      <p:sp>
        <p:nvSpPr>
          <p:cNvPr id="99" name="Shape 97"/>
          <p:cNvSpPr/>
          <p:nvPr/>
        </p:nvSpPr>
        <p:spPr>
          <a:xfrm>
            <a:off x="15757103" y="5760690"/>
            <a:ext cx="283890" cy="200025"/>
          </a:xfrm>
          <a:prstGeom prst="roundRect">
            <a:avLst>
              <a:gd name="adj" fmla="val 28571"/>
            </a:avLst>
          </a:prstGeom>
          <a:solidFill>
            <a:srgbClr val="E7F4EC"/>
          </a:solidFill>
          <a:ln/>
        </p:spPr>
      </p:sp>
      <p:sp>
        <p:nvSpPr>
          <p:cNvPr id="100" name="Text 98"/>
          <p:cNvSpPr/>
          <p:nvPr/>
        </p:nvSpPr>
        <p:spPr>
          <a:xfrm>
            <a:off x="15833303" y="5789265"/>
            <a:ext cx="207690" cy="180975"/>
          </a:xfrm>
          <a:prstGeom prst="rect">
            <a:avLst/>
          </a:prstGeom>
          <a:noFill/>
          <a:ln/>
        </p:spPr>
        <p:txBody>
          <a:bodyPr wrap="square" lIns="25400" tIns="25400" rIns="25400" bIns="25400" rtlCol="0" anchor="t">
            <a:normAutofit/>
          </a:bodyPr>
          <a:lstStyle/>
          <a:p>
            <a:pPr algn="l" indent="0" marL="0">
              <a:buNone/>
            </a:pPr>
            <a:r>
              <a:rPr lang="en-US" sz="863" dirty="0">
                <a:solidFill>
                  <a:srgbClr val="15724A"/>
                </a:solidFill>
                <a:latin typeface="Courier New" pitchFamily="34" charset="0"/>
                <a:ea typeface="Courier New" pitchFamily="34" charset="-122"/>
                <a:cs typeface="Courier New" pitchFamily="34" charset="-120"/>
              </a:rPr>
              <a:t>OK</a:t>
            </a:r>
            <a:endParaRPr lang="en-US" sz="863" dirty="0"/>
          </a:p>
        </p:txBody>
      </p:sp>
      <p:sp>
        <p:nvSpPr>
          <p:cNvPr id="101" name="Text 99"/>
          <p:cNvSpPr/>
          <p:nvPr/>
        </p:nvSpPr>
        <p:spPr>
          <a:xfrm>
            <a:off x="3076575" y="6189315"/>
            <a:ext cx="2130862" cy="195263"/>
          </a:xfrm>
          <a:prstGeom prst="rect">
            <a:avLst/>
          </a:prstGeom>
          <a:noFill/>
          <a:ln/>
        </p:spPr>
        <p:txBody>
          <a:bodyPr wrap="square" lIns="25400" tIns="25400" rIns="25400" bIns="25400" rtlCol="0" anchor="t">
            <a:normAutofit/>
          </a:bodyPr>
          <a:lstStyle/>
          <a:p>
            <a:pPr algn="l" indent="0" marL="0">
              <a:buNone/>
            </a:pPr>
            <a:r>
              <a:rPr lang="en-US" sz="938" dirty="0">
                <a:solidFill>
                  <a:srgbClr val="9A9A93"/>
                </a:solidFill>
                <a:latin typeface="Courier New" pitchFamily="34" charset="0"/>
                <a:ea typeface="Courier New" pitchFamily="34" charset="-122"/>
                <a:cs typeface="Courier New" pitchFamily="34" charset="-120"/>
              </a:rPr>
              <a:t>02:07:19</a:t>
            </a:r>
            <a:endParaRPr lang="en-US" sz="938" dirty="0"/>
          </a:p>
        </p:txBody>
      </p:sp>
      <p:sp>
        <p:nvSpPr>
          <p:cNvPr id="102" name="Text 100"/>
          <p:cNvSpPr/>
          <p:nvPr/>
        </p:nvSpPr>
        <p:spPr>
          <a:xfrm>
            <a:off x="5108972" y="6186934"/>
            <a:ext cx="5114248"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pvc-frontend-02.img</a:t>
            </a:r>
            <a:endParaRPr lang="en-US" sz="975" dirty="0"/>
          </a:p>
        </p:txBody>
      </p:sp>
      <p:sp>
        <p:nvSpPr>
          <p:cNvPr id="103" name="Text 101"/>
          <p:cNvSpPr/>
          <p:nvPr/>
        </p:nvSpPr>
        <p:spPr>
          <a:xfrm>
            <a:off x="9853538" y="6179790"/>
            <a:ext cx="2344013" cy="214313"/>
          </a:xfrm>
          <a:prstGeom prst="rect">
            <a:avLst/>
          </a:prstGeom>
          <a:noFill/>
          <a:ln/>
        </p:spPr>
        <p:txBody>
          <a:bodyPr wrap="square" lIns="25400" tIns="25400" rIns="25400" bIns="25400" rtlCol="0" anchor="t">
            <a:normAutofit/>
          </a:bodyPr>
          <a:lstStyle/>
          <a:p>
            <a:pPr algn="l" indent="0" marL="0">
              <a:buNone/>
            </a:pPr>
            <a:r>
              <a:rPr lang="en-US" sz="1050" dirty="0">
                <a:solidFill>
                  <a:srgbClr val="71717A"/>
                </a:solidFill>
                <a:latin typeface="Arial" pitchFamily="34" charset="0"/>
                <a:ea typeface="Arial" pitchFamily="34" charset="-122"/>
                <a:cs typeface="Arial" pitchFamily="34" charset="-120"/>
              </a:rPr>
              <a:t>frontend</a:t>
            </a:r>
            <a:endParaRPr lang="en-US" sz="1050" dirty="0"/>
          </a:p>
        </p:txBody>
      </p:sp>
      <p:sp>
        <p:nvSpPr>
          <p:cNvPr id="104" name="Text 102"/>
          <p:cNvSpPr/>
          <p:nvPr/>
        </p:nvSpPr>
        <p:spPr>
          <a:xfrm>
            <a:off x="12079709" y="6186934"/>
            <a:ext cx="1704722" cy="200025"/>
          </a:xfrm>
          <a:prstGeom prst="rect">
            <a:avLst/>
          </a:prstGeom>
          <a:noFill/>
          <a:ln/>
        </p:spPr>
        <p:txBody>
          <a:bodyPr wrap="square" lIns="25400" tIns="25400" rIns="25400" bIns="25400" rtlCol="0" anchor="t">
            <a:normAutofit/>
          </a:bodyPr>
          <a:lstStyle/>
          <a:p>
            <a:pPr algn="l" indent="0" marL="0">
              <a:buNone/>
            </a:pPr>
            <a:r>
              <a:rPr lang="en-US" sz="975" dirty="0">
                <a:solidFill>
                  <a:srgbClr val="9A9A93"/>
                </a:solidFill>
                <a:latin typeface="Courier New" pitchFamily="34" charset="0"/>
                <a:ea typeface="Courier New" pitchFamily="34" charset="-122"/>
                <a:cs typeface="Courier New" pitchFamily="34" charset="-120"/>
              </a:rPr>
              <a:t>—</a:t>
            </a:r>
            <a:endParaRPr lang="en-US" sz="975" dirty="0"/>
          </a:p>
        </p:txBody>
      </p:sp>
      <p:sp>
        <p:nvSpPr>
          <p:cNvPr id="105" name="Text 103"/>
          <p:cNvSpPr/>
          <p:nvPr/>
        </p:nvSpPr>
        <p:spPr>
          <a:xfrm>
            <a:off x="13724706" y="6186934"/>
            <a:ext cx="2130862" cy="200025"/>
          </a:xfrm>
          <a:prstGeom prst="rect">
            <a:avLst/>
          </a:prstGeom>
          <a:noFill/>
          <a:ln/>
        </p:spPr>
        <p:txBody>
          <a:bodyPr wrap="square" lIns="25400" tIns="25400" rIns="25400" bIns="25400" rtlCol="0" anchor="t">
            <a:normAutofit/>
          </a:bodyPr>
          <a:lstStyle/>
          <a:p>
            <a:pPr algn="l" indent="0" marL="0">
              <a:buNone/>
            </a:pPr>
            <a:r>
              <a:rPr lang="en-US" sz="975" dirty="0">
                <a:solidFill>
                  <a:srgbClr val="52525B"/>
                </a:solidFill>
                <a:latin typeface="Courier New" pitchFamily="34" charset="0"/>
                <a:ea typeface="Courier New" pitchFamily="34" charset="-122"/>
                <a:cs typeface="Courier New" pitchFamily="34" charset="-120"/>
              </a:rPr>
              <a:t>job-8901</a:t>
            </a:r>
            <a:endParaRPr lang="en-US" sz="975" dirty="0"/>
          </a:p>
        </p:txBody>
      </p:sp>
      <p:sp>
        <p:nvSpPr>
          <p:cNvPr id="106" name="Shape 104"/>
          <p:cNvSpPr/>
          <p:nvPr/>
        </p:nvSpPr>
        <p:spPr>
          <a:xfrm>
            <a:off x="15757103" y="6175028"/>
            <a:ext cx="546795" cy="200025"/>
          </a:xfrm>
          <a:prstGeom prst="roundRect">
            <a:avLst>
              <a:gd name="adj" fmla="val 28571"/>
            </a:avLst>
          </a:prstGeom>
          <a:solidFill>
            <a:srgbClr val="FBEBE9"/>
          </a:solidFill>
          <a:ln/>
        </p:spPr>
      </p:sp>
      <p:sp>
        <p:nvSpPr>
          <p:cNvPr id="107" name="Text 105"/>
          <p:cNvSpPr/>
          <p:nvPr/>
        </p:nvSpPr>
        <p:spPr>
          <a:xfrm>
            <a:off x="15833303" y="6203603"/>
            <a:ext cx="470595" cy="180975"/>
          </a:xfrm>
          <a:prstGeom prst="rect">
            <a:avLst/>
          </a:prstGeom>
          <a:noFill/>
          <a:ln/>
        </p:spPr>
        <p:txBody>
          <a:bodyPr wrap="square" lIns="25400" tIns="25400" rIns="25400" bIns="25400" rtlCol="0" anchor="t">
            <a:normAutofit/>
          </a:bodyPr>
          <a:lstStyle/>
          <a:p>
            <a:pPr algn="l" indent="0" marL="0">
              <a:buNone/>
            </a:pPr>
            <a:r>
              <a:rPr lang="en-US" sz="863" dirty="0">
                <a:solidFill>
                  <a:srgbClr val="A5281B"/>
                </a:solidFill>
                <a:latin typeface="Courier New" pitchFamily="34" charset="0"/>
                <a:ea typeface="Courier New" pitchFamily="34" charset="-122"/>
                <a:cs typeface="Courier New" pitchFamily="34" charset="-120"/>
              </a:rPr>
              <a:t>FAILED</a:t>
            </a:r>
            <a:endParaRPr lang="en-US" sz="86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762000" y="571500"/>
            <a:ext cx="12363450" cy="223838"/>
          </a:xfrm>
          <a:prstGeom prst="rect">
            <a:avLst/>
          </a:prstGeom>
          <a:noFill/>
          <a:ln/>
        </p:spPr>
        <p:txBody>
          <a:bodyPr wrap="square" lIns="25400" tIns="25400" rIns="25400" bIns="25400" rtlCol="0" anchor="t">
            <a:normAutofit/>
          </a:bodyPr>
          <a:lstStyle/>
          <a:p>
            <a:pPr algn="l" indent="0" marL="0">
              <a:buNone/>
            </a:pPr>
            <a:r>
              <a:rPr lang="en-US" sz="1125" spc="247" kern="0" dirty="0">
                <a:solidFill>
                  <a:srgbClr val="2B5FC7"/>
                </a:solidFill>
                <a:latin typeface="Courier New" pitchFamily="34" charset="0"/>
                <a:ea typeface="Courier New" pitchFamily="34" charset="-122"/>
                <a:cs typeface="Courier New" pitchFamily="34" charset="-120"/>
              </a:rPr>
              <a:t>05 — NAMESPACE LIFECYCLE</a:t>
            </a:r>
            <a:endParaRPr lang="en-US" sz="1125" dirty="0"/>
          </a:p>
        </p:txBody>
      </p:sp>
      <p:sp>
        <p:nvSpPr>
          <p:cNvPr id="3" name="Text 1"/>
          <p:cNvSpPr/>
          <p:nvPr/>
        </p:nvSpPr>
        <p:spPr>
          <a:xfrm>
            <a:off x="762000" y="890588"/>
            <a:ext cx="12363450" cy="478110"/>
          </a:xfrm>
          <a:prstGeom prst="rect">
            <a:avLst/>
          </a:prstGeom>
          <a:noFill/>
          <a:ln/>
        </p:spPr>
        <p:txBody>
          <a:bodyPr wrap="square" lIns="25400" tIns="25400" rIns="25400" bIns="25400" rtlCol="0" anchor="t">
            <a:normAutofit/>
          </a:bodyPr>
          <a:lstStyle/>
          <a:p>
            <a:pPr algn="l" indent="0" marL="0">
              <a:lnSpc>
                <a:spcPct val="105000"/>
              </a:lnSpc>
              <a:buNone/>
            </a:pPr>
            <a:r>
              <a:rPr lang="en-US" sz="3300" b="1" spc="-66" kern="0" dirty="0">
                <a:solidFill>
                  <a:srgbClr val="18181B"/>
                </a:solidFill>
                <a:latin typeface="Arial" pitchFamily="34" charset="0"/>
                <a:ea typeface="Arial" pitchFamily="34" charset="-122"/>
                <a:cs typeface="Arial" pitchFamily="34" charset="-120"/>
              </a:rPr>
              <a:t>Discover, back up, restore &amp; monitor a namespace via the API</a:t>
            </a:r>
            <a:endParaRPr lang="en-US" sz="3300" dirty="0"/>
          </a:p>
        </p:txBody>
      </p:sp>
      <p:sp>
        <p:nvSpPr>
          <p:cNvPr id="4" name="Text 2"/>
          <p:cNvSpPr/>
          <p:nvPr/>
        </p:nvSpPr>
        <p:spPr>
          <a:xfrm>
            <a:off x="762000" y="1463948"/>
            <a:ext cx="11734800" cy="316706"/>
          </a:xfrm>
          <a:prstGeom prst="rect">
            <a:avLst/>
          </a:prstGeom>
          <a:noFill/>
          <a:ln/>
        </p:spPr>
        <p:txBody>
          <a:bodyPr wrap="square" lIns="25400" tIns="25400" rIns="25400" bIns="25400" rtlCol="0" anchor="t">
            <a:normAutofit/>
          </a:bodyPr>
          <a:lstStyle/>
          <a:p>
            <a:pPr algn="l" indent="0" marL="0">
              <a:lnSpc>
                <a:spcPct val="150000"/>
              </a:lnSpc>
              <a:buNone/>
            </a:pPr>
            <a:r>
              <a:rPr lang="en-US" sz="1463" dirty="0">
                <a:solidFill>
                  <a:srgbClr val="52525B"/>
                </a:solidFill>
                <a:latin typeface="Arial" pitchFamily="34" charset="0"/>
                <a:ea typeface="Arial" pitchFamily="34" charset="-122"/>
                <a:cs typeface="Arial" pitchFamily="34" charset="-120"/>
              </a:rPr>
              <a:t>A four-step loop on the NetBackup REST API — the same Primary Server and JWT used everywhere, automatable end-to-end.</a:t>
            </a:r>
            <a:endParaRPr lang="en-US" sz="1463" dirty="0"/>
          </a:p>
        </p:txBody>
      </p:sp>
      <p:sp>
        <p:nvSpPr>
          <p:cNvPr id="5" name="Shape 3"/>
          <p:cNvSpPr/>
          <p:nvPr/>
        </p:nvSpPr>
        <p:spPr>
          <a:xfrm>
            <a:off x="762000" y="2028304"/>
            <a:ext cx="1864072" cy="390525"/>
          </a:xfrm>
          <a:prstGeom prst="roundRect">
            <a:avLst>
              <a:gd name="adj" fmla="val 26829"/>
            </a:avLst>
          </a:prstGeom>
          <a:solidFill>
            <a:srgbClr val="FFFFFF"/>
          </a:solidFill>
          <a:ln w="9525">
            <a:solidFill>
              <a:srgbClr val="E7E6DF"/>
            </a:solidFill>
            <a:prstDash val="solid"/>
          </a:ln>
        </p:spPr>
      </p:sp>
      <p:sp>
        <p:nvSpPr>
          <p:cNvPr id="6" name="Text 4"/>
          <p:cNvSpPr/>
          <p:nvPr/>
        </p:nvSpPr>
        <p:spPr>
          <a:xfrm>
            <a:off x="942975" y="2142604"/>
            <a:ext cx="1578322" cy="200025"/>
          </a:xfrm>
          <a:prstGeom prst="rect">
            <a:avLst/>
          </a:prstGeom>
          <a:noFill/>
          <a:ln/>
        </p:spPr>
        <p:txBody>
          <a:bodyPr wrap="square" lIns="25400" tIns="25400" rIns="25400" bIns="25400" rtlCol="0" anchor="t">
            <a:normAutofit/>
          </a:bodyPr>
          <a:lstStyle/>
          <a:p>
            <a:pPr algn="l" indent="0" marL="0">
              <a:buNone/>
            </a:pPr>
            <a:r>
              <a:rPr lang="en-US" sz="1163" b="1" dirty="0">
                <a:solidFill>
                  <a:srgbClr val="18181B"/>
                </a:solidFill>
                <a:latin typeface="Arial" pitchFamily="34" charset="0"/>
                <a:ea typeface="Arial" pitchFamily="34" charset="-122"/>
                <a:cs typeface="Arial" pitchFamily="34" charset="-120"/>
              </a:rPr>
              <a:t>Automation / Operator</a:t>
            </a:r>
            <a:endParaRPr lang="en-US" sz="1163" dirty="0"/>
          </a:p>
        </p:txBody>
      </p:sp>
      <p:sp>
        <p:nvSpPr>
          <p:cNvPr id="7" name="Text 5"/>
          <p:cNvSpPr/>
          <p:nvPr/>
        </p:nvSpPr>
        <p:spPr>
          <a:xfrm>
            <a:off x="2730847" y="2125935"/>
            <a:ext cx="704850" cy="176212"/>
          </a:xfrm>
          <a:prstGeom prst="rect">
            <a:avLst/>
          </a:prstGeom>
          <a:noFill/>
          <a:ln/>
        </p:spPr>
        <p:txBody>
          <a:bodyPr wrap="square" lIns="25400" tIns="25400" rIns="25400" bIns="25400" rtlCol="0" anchor="t">
            <a:normAutofit/>
          </a:bodyPr>
          <a:lstStyle/>
          <a:p>
            <a:pPr algn="l" indent="0" marL="0">
              <a:buNone/>
            </a:pPr>
            <a:r>
              <a:rPr lang="en-US" sz="825" dirty="0">
                <a:solidFill>
                  <a:srgbClr val="9A9A93"/>
                </a:solidFill>
                <a:latin typeface="Courier New" pitchFamily="34" charset="0"/>
                <a:ea typeface="Courier New" pitchFamily="34" charset="-122"/>
                <a:cs typeface="Courier New" pitchFamily="34" charset="-120"/>
              </a:rPr>
              <a:t>REST · JWT</a:t>
            </a:r>
            <a:endParaRPr lang="en-US" sz="825" dirty="0"/>
          </a:p>
        </p:txBody>
      </p:sp>
      <p:sp>
        <p:nvSpPr>
          <p:cNvPr id="8" name="Shape 6"/>
          <p:cNvSpPr/>
          <p:nvPr/>
        </p:nvSpPr>
        <p:spPr>
          <a:xfrm>
            <a:off x="2740372" y="2302148"/>
            <a:ext cx="609600" cy="19050"/>
          </a:xfrm>
          <a:prstGeom prst="rect">
            <a:avLst/>
          </a:prstGeom>
          <a:solidFill>
            <a:srgbClr val="C9C8C0"/>
          </a:solidFill>
          <a:ln/>
        </p:spPr>
      </p:sp>
      <p:sp>
        <p:nvSpPr>
          <p:cNvPr id="9" name="Shape 7"/>
          <p:cNvSpPr/>
          <p:nvPr/>
        </p:nvSpPr>
        <p:spPr>
          <a:xfrm>
            <a:off x="3273772" y="2264048"/>
            <a:ext cx="85725" cy="95250"/>
          </a:xfrm>
          <a:prstGeom prst="rect">
            <a:avLst/>
          </a:prstGeom>
          <a:solidFill>
            <a:srgbClr val="C9C8C0"/>
          </a:solidFill>
          <a:ln/>
        </p:spPr>
      </p:sp>
      <p:sp>
        <p:nvSpPr>
          <p:cNvPr id="10" name="Shape 8"/>
          <p:cNvSpPr/>
          <p:nvPr/>
        </p:nvSpPr>
        <p:spPr>
          <a:xfrm>
            <a:off x="3464272" y="2037829"/>
            <a:ext cx="2914352" cy="371475"/>
          </a:xfrm>
          <a:prstGeom prst="roundRect">
            <a:avLst>
              <a:gd name="adj" fmla="val 28205"/>
            </a:avLst>
          </a:prstGeom>
          <a:solidFill>
            <a:srgbClr val="102A52"/>
          </a:solidFill>
          <a:ln/>
        </p:spPr>
      </p:sp>
      <p:sp>
        <p:nvSpPr>
          <p:cNvPr id="11" name="Text 9"/>
          <p:cNvSpPr/>
          <p:nvPr/>
        </p:nvSpPr>
        <p:spPr>
          <a:xfrm>
            <a:off x="3635722" y="2142604"/>
            <a:ext cx="2658883" cy="200025"/>
          </a:xfrm>
          <a:prstGeom prst="rect">
            <a:avLst/>
          </a:prstGeom>
          <a:noFill/>
          <a:ln/>
        </p:spPr>
        <p:txBody>
          <a:bodyPr wrap="square" lIns="25400" tIns="25400" rIns="25400" bIns="25400" rtlCol="0" anchor="t">
            <a:normAutofit/>
          </a:bodyPr>
          <a:lstStyle/>
          <a:p>
            <a:pPr algn="l" indent="0" marL="0">
              <a:buNone/>
            </a:pPr>
            <a:r>
              <a:rPr lang="en-US" sz="1163" b="1" dirty="0">
                <a:solidFill>
                  <a:srgbClr val="FFFFFF"/>
                </a:solidFill>
                <a:latin typeface="Arial" pitchFamily="34" charset="0"/>
                <a:ea typeface="Arial" pitchFamily="34" charset="-122"/>
                <a:cs typeface="Arial" pitchFamily="34" charset="-120"/>
              </a:rPr>
              <a:t>NetBackup Primary Server · REST API</a:t>
            </a:r>
            <a:endParaRPr lang="en-US" sz="1163" dirty="0"/>
          </a:p>
        </p:txBody>
      </p:sp>
      <p:sp>
        <p:nvSpPr>
          <p:cNvPr id="12" name="Text 10"/>
          <p:cNvSpPr/>
          <p:nvPr/>
        </p:nvSpPr>
        <p:spPr>
          <a:xfrm>
            <a:off x="6609085" y="2125935"/>
            <a:ext cx="453405" cy="176212"/>
          </a:xfrm>
          <a:prstGeom prst="rect">
            <a:avLst/>
          </a:prstGeom>
          <a:noFill/>
          <a:ln/>
        </p:spPr>
        <p:txBody>
          <a:bodyPr wrap="square" lIns="25400" tIns="25400" rIns="25400" bIns="25400" rtlCol="0" anchor="t">
            <a:normAutofit/>
          </a:bodyPr>
          <a:lstStyle/>
          <a:p>
            <a:pPr algn="l" indent="0" marL="0">
              <a:buNone/>
            </a:pPr>
            <a:r>
              <a:rPr lang="en-US" sz="825" dirty="0">
                <a:solidFill>
                  <a:srgbClr val="9A9A93"/>
                </a:solidFill>
                <a:latin typeface="Courier New" pitchFamily="34" charset="0"/>
                <a:ea typeface="Courier New" pitchFamily="34" charset="-122"/>
                <a:cs typeface="Courier New" pitchFamily="34" charset="-120"/>
              </a:rPr>
              <a:t>act on</a:t>
            </a:r>
            <a:endParaRPr lang="en-US" sz="825" dirty="0"/>
          </a:p>
        </p:txBody>
      </p:sp>
      <p:sp>
        <p:nvSpPr>
          <p:cNvPr id="13" name="Shape 11"/>
          <p:cNvSpPr/>
          <p:nvPr/>
        </p:nvSpPr>
        <p:spPr>
          <a:xfrm>
            <a:off x="6492925" y="2302148"/>
            <a:ext cx="609600" cy="19050"/>
          </a:xfrm>
          <a:prstGeom prst="rect">
            <a:avLst/>
          </a:prstGeom>
          <a:solidFill>
            <a:srgbClr val="C9C8C0"/>
          </a:solidFill>
          <a:ln/>
        </p:spPr>
      </p:sp>
      <p:sp>
        <p:nvSpPr>
          <p:cNvPr id="14" name="Shape 12"/>
          <p:cNvSpPr/>
          <p:nvPr/>
        </p:nvSpPr>
        <p:spPr>
          <a:xfrm>
            <a:off x="7026325" y="2264048"/>
            <a:ext cx="85725" cy="95250"/>
          </a:xfrm>
          <a:prstGeom prst="rect">
            <a:avLst/>
          </a:prstGeom>
          <a:solidFill>
            <a:srgbClr val="C9C8C0"/>
          </a:solidFill>
          <a:ln/>
        </p:spPr>
      </p:sp>
      <p:sp>
        <p:nvSpPr>
          <p:cNvPr id="15" name="Shape 13"/>
          <p:cNvSpPr/>
          <p:nvPr/>
        </p:nvSpPr>
        <p:spPr>
          <a:xfrm>
            <a:off x="7216825" y="2028304"/>
            <a:ext cx="2047131" cy="390525"/>
          </a:xfrm>
          <a:prstGeom prst="roundRect">
            <a:avLst>
              <a:gd name="adj" fmla="val 26829"/>
            </a:avLst>
          </a:prstGeom>
          <a:solidFill>
            <a:srgbClr val="FFFFFF"/>
          </a:solidFill>
          <a:ln w="9525">
            <a:solidFill>
              <a:srgbClr val="E7E6DF"/>
            </a:solidFill>
            <a:prstDash val="solid"/>
          </a:ln>
        </p:spPr>
      </p:sp>
      <p:sp>
        <p:nvSpPr>
          <p:cNvPr id="16" name="Text 14"/>
          <p:cNvSpPr/>
          <p:nvPr/>
        </p:nvSpPr>
        <p:spPr>
          <a:xfrm>
            <a:off x="7397800" y="2142604"/>
            <a:ext cx="1761381" cy="200025"/>
          </a:xfrm>
          <a:prstGeom prst="rect">
            <a:avLst/>
          </a:prstGeom>
          <a:noFill/>
          <a:ln/>
        </p:spPr>
        <p:txBody>
          <a:bodyPr wrap="square" lIns="25400" tIns="25400" rIns="25400" bIns="25400" rtlCol="0" anchor="t">
            <a:normAutofit/>
          </a:bodyPr>
          <a:lstStyle/>
          <a:p>
            <a:pPr algn="l" indent="0" marL="0">
              <a:buNone/>
            </a:pPr>
            <a:r>
              <a:rPr lang="en-US" sz="1163" b="1" dirty="0">
                <a:solidFill>
                  <a:srgbClr val="18181B"/>
                </a:solidFill>
                <a:latin typeface="Arial" pitchFamily="34" charset="0"/>
                <a:ea typeface="Arial" pitchFamily="34" charset="-122"/>
                <a:cs typeface="Arial" pitchFamily="34" charset="-120"/>
              </a:rPr>
              <a:t>Kubernetes namespaces</a:t>
            </a:r>
            <a:endParaRPr lang="en-US" sz="1163" dirty="0"/>
          </a:p>
        </p:txBody>
      </p:sp>
      <p:sp>
        <p:nvSpPr>
          <p:cNvPr id="17" name="Shape 15"/>
          <p:cNvSpPr/>
          <p:nvPr/>
        </p:nvSpPr>
        <p:spPr>
          <a:xfrm>
            <a:off x="762000" y="2685529"/>
            <a:ext cx="4062412" cy="6739458"/>
          </a:xfrm>
          <a:prstGeom prst="roundRect">
            <a:avLst>
              <a:gd name="adj" fmla="val 3283"/>
            </a:avLst>
          </a:prstGeom>
          <a:solidFill>
            <a:srgbClr val="FFFFFF"/>
          </a:solidFill>
          <a:ln/>
          <a:effectLst>
            <a:outerShdw sx="100000" sy="100000" kx="0" ky="0" algn="bl" rotWithShape="0" blurRad="19050" dist="9525" dir="5400000">
              <a:srgbClr val="141414">
                <a:alpha val="4000"/>
              </a:srgbClr>
            </a:outerShdw>
          </a:effectLst>
        </p:spPr>
      </p:sp>
      <p:sp>
        <p:nvSpPr>
          <p:cNvPr id="18" name="Shape 16"/>
          <p:cNvSpPr/>
          <p:nvPr/>
        </p:nvSpPr>
        <p:spPr>
          <a:xfrm>
            <a:off x="762000" y="9415463"/>
            <a:ext cx="4062412" cy="9525"/>
          </a:xfrm>
          <a:prstGeom prst="rect">
            <a:avLst/>
          </a:prstGeom>
          <a:solidFill>
            <a:srgbClr val="E7E6DF"/>
          </a:solidFill>
          <a:ln/>
        </p:spPr>
      </p:sp>
      <p:sp>
        <p:nvSpPr>
          <p:cNvPr id="19" name="Shape 17"/>
          <p:cNvSpPr/>
          <p:nvPr/>
        </p:nvSpPr>
        <p:spPr>
          <a:xfrm>
            <a:off x="762000" y="2685529"/>
            <a:ext cx="4062412" cy="28575"/>
          </a:xfrm>
          <a:prstGeom prst="rect">
            <a:avLst/>
          </a:prstGeom>
          <a:solidFill>
            <a:srgbClr val="2B5FC7"/>
          </a:solidFill>
          <a:ln/>
        </p:spPr>
      </p:sp>
      <p:sp>
        <p:nvSpPr>
          <p:cNvPr id="20" name="Shape 18"/>
          <p:cNvSpPr/>
          <p:nvPr/>
        </p:nvSpPr>
        <p:spPr>
          <a:xfrm>
            <a:off x="762000" y="2685529"/>
            <a:ext cx="9525" cy="6739458"/>
          </a:xfrm>
          <a:prstGeom prst="rect">
            <a:avLst/>
          </a:prstGeom>
          <a:solidFill>
            <a:srgbClr val="E7E6DF"/>
          </a:solidFill>
          <a:ln/>
        </p:spPr>
      </p:sp>
      <p:sp>
        <p:nvSpPr>
          <p:cNvPr id="21" name="Shape 19"/>
          <p:cNvSpPr/>
          <p:nvPr/>
        </p:nvSpPr>
        <p:spPr>
          <a:xfrm>
            <a:off x="4814888" y="2685529"/>
            <a:ext cx="9525" cy="6739458"/>
          </a:xfrm>
          <a:prstGeom prst="rect">
            <a:avLst/>
          </a:prstGeom>
          <a:solidFill>
            <a:srgbClr val="E7E6DF"/>
          </a:solidFill>
          <a:ln/>
        </p:spPr>
      </p:sp>
      <p:sp>
        <p:nvSpPr>
          <p:cNvPr id="22" name="Shape 20"/>
          <p:cNvSpPr/>
          <p:nvPr/>
        </p:nvSpPr>
        <p:spPr>
          <a:xfrm>
            <a:off x="981075" y="2923654"/>
            <a:ext cx="285750" cy="285750"/>
          </a:xfrm>
          <a:prstGeom prst="roundRect">
            <a:avLst>
              <a:gd name="adj" fmla="val 26667"/>
            </a:avLst>
          </a:prstGeom>
          <a:solidFill>
            <a:srgbClr val="EAF0FB"/>
          </a:solidFill>
          <a:ln/>
        </p:spPr>
      </p:sp>
      <p:sp>
        <p:nvSpPr>
          <p:cNvPr id="23" name="Text 21"/>
          <p:cNvSpPr/>
          <p:nvPr/>
        </p:nvSpPr>
        <p:spPr>
          <a:xfrm>
            <a:off x="942975" y="2923654"/>
            <a:ext cx="361950" cy="323850"/>
          </a:xfrm>
          <a:prstGeom prst="rect">
            <a:avLst/>
          </a:prstGeom>
          <a:noFill/>
          <a:ln/>
        </p:spPr>
        <p:txBody>
          <a:bodyPr wrap="square" lIns="25400" tIns="25400" rIns="25400" bIns="25400" rtlCol="0" anchor="ctr">
            <a:normAutofit/>
          </a:bodyPr>
          <a:lstStyle/>
          <a:p>
            <a:pPr algn="ctr" indent="0" marL="0">
              <a:buNone/>
            </a:pPr>
            <a:r>
              <a:rPr lang="en-US" sz="1050" dirty="0">
                <a:solidFill>
                  <a:srgbClr val="2B5FC7"/>
                </a:solidFill>
                <a:latin typeface="Courier New" pitchFamily="34" charset="0"/>
                <a:ea typeface="Courier New" pitchFamily="34" charset="-122"/>
                <a:cs typeface="Courier New" pitchFamily="34" charset="-120"/>
              </a:rPr>
              <a:t>01</a:t>
            </a:r>
            <a:endParaRPr lang="en-US" sz="1050" dirty="0"/>
          </a:p>
        </p:txBody>
      </p:sp>
      <p:sp>
        <p:nvSpPr>
          <p:cNvPr id="24" name="Text 22"/>
          <p:cNvSpPr/>
          <p:nvPr/>
        </p:nvSpPr>
        <p:spPr>
          <a:xfrm>
            <a:off x="1371600" y="2952229"/>
            <a:ext cx="854273" cy="266700"/>
          </a:xfrm>
          <a:prstGeom prst="rect">
            <a:avLst/>
          </a:prstGeom>
          <a:noFill/>
          <a:ln/>
        </p:spPr>
        <p:txBody>
          <a:bodyPr wrap="square" lIns="25400" tIns="25400" rIns="25400" bIns="25400" rtlCol="0" anchor="t">
            <a:normAutofit/>
          </a:bodyPr>
          <a:lstStyle/>
          <a:p>
            <a:pPr algn="l" indent="0" marL="0">
              <a:buNone/>
            </a:pPr>
            <a:r>
              <a:rPr lang="en-US" sz="1575" b="1" dirty="0">
                <a:solidFill>
                  <a:srgbClr val="18181B"/>
                </a:solidFill>
                <a:latin typeface="Arial" pitchFamily="34" charset="0"/>
                <a:ea typeface="Arial" pitchFamily="34" charset="-122"/>
                <a:cs typeface="Arial" pitchFamily="34" charset="-120"/>
              </a:rPr>
              <a:t>Discover</a:t>
            </a:r>
            <a:endParaRPr lang="en-US" sz="1575" dirty="0"/>
          </a:p>
        </p:txBody>
      </p:sp>
      <p:sp>
        <p:nvSpPr>
          <p:cNvPr id="25" name="Text 23"/>
          <p:cNvSpPr/>
          <p:nvPr/>
        </p:nvSpPr>
        <p:spPr>
          <a:xfrm>
            <a:off x="981075" y="3257029"/>
            <a:ext cx="3986689" cy="238348"/>
          </a:xfrm>
          <a:prstGeom prst="rect">
            <a:avLst/>
          </a:prstGeom>
          <a:noFill/>
          <a:ln/>
        </p:spPr>
        <p:txBody>
          <a:bodyPr wrap="square" lIns="25400" tIns="25400" rIns="25400" bIns="25400" rtlCol="0" anchor="t">
            <a:normAutofit/>
          </a:bodyPr>
          <a:lstStyle/>
          <a:p>
            <a:pPr algn="l" indent="0" marL="0">
              <a:lnSpc>
                <a:spcPct val="145000"/>
              </a:lnSpc>
              <a:buNone/>
            </a:pPr>
            <a:r>
              <a:rPr lang="en-US" sz="1088" dirty="0">
                <a:solidFill>
                  <a:srgbClr val="71717A"/>
                </a:solidFill>
                <a:latin typeface="Arial" pitchFamily="34" charset="0"/>
                <a:ea typeface="Arial" pitchFamily="34" charset="-122"/>
                <a:cs typeface="Arial" pitchFamily="34" charset="-120"/>
              </a:rPr>
              <a:t>Inventory the namespaces available to protect.</a:t>
            </a:r>
            <a:endParaRPr lang="en-US" sz="1088" dirty="0"/>
          </a:p>
        </p:txBody>
      </p:sp>
      <p:sp>
        <p:nvSpPr>
          <p:cNvPr id="26" name="Shape 24"/>
          <p:cNvSpPr/>
          <p:nvPr/>
        </p:nvSpPr>
        <p:spPr>
          <a:xfrm>
            <a:off x="981075" y="3628727"/>
            <a:ext cx="228600" cy="228600"/>
          </a:xfrm>
          <a:prstGeom prst="ellipse">
            <a:avLst/>
          </a:prstGeom>
          <a:solidFill>
            <a:srgbClr val="EAF0FB"/>
          </a:solidFill>
          <a:ln/>
        </p:spPr>
      </p:sp>
      <p:sp>
        <p:nvSpPr>
          <p:cNvPr id="27" name="Text 25"/>
          <p:cNvSpPr/>
          <p:nvPr/>
        </p:nvSpPr>
        <p:spPr>
          <a:xfrm>
            <a:off x="942975" y="3628727"/>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2B5FC7"/>
                </a:solidFill>
                <a:latin typeface="Courier New" pitchFamily="34" charset="0"/>
                <a:ea typeface="Courier New" pitchFamily="34" charset="-122"/>
                <a:cs typeface="Courier New" pitchFamily="34" charset="-120"/>
              </a:rPr>
              <a:t>1</a:t>
            </a:r>
            <a:endParaRPr lang="en-US" sz="900" dirty="0"/>
          </a:p>
        </p:txBody>
      </p:sp>
      <p:sp>
        <p:nvSpPr>
          <p:cNvPr id="28" name="Shape 26"/>
          <p:cNvSpPr/>
          <p:nvPr/>
        </p:nvSpPr>
        <p:spPr>
          <a:xfrm>
            <a:off x="1085850" y="3895427"/>
            <a:ext cx="19050" cy="2022425"/>
          </a:xfrm>
          <a:prstGeom prst="rect">
            <a:avLst/>
          </a:prstGeom>
          <a:solidFill>
            <a:srgbClr val="E7E6DF"/>
          </a:solidFill>
          <a:ln/>
        </p:spPr>
      </p:sp>
      <p:sp>
        <p:nvSpPr>
          <p:cNvPr id="29" name="Shape 27"/>
          <p:cNvSpPr/>
          <p:nvPr/>
        </p:nvSpPr>
        <p:spPr>
          <a:xfrm>
            <a:off x="1333500" y="3628727"/>
            <a:ext cx="332482" cy="190500"/>
          </a:xfrm>
          <a:prstGeom prst="roundRect">
            <a:avLst>
              <a:gd name="adj" fmla="val 25000"/>
            </a:avLst>
          </a:prstGeom>
          <a:solidFill>
            <a:srgbClr val="EAF0FB"/>
          </a:solidFill>
          <a:ln w="9525">
            <a:solidFill>
              <a:srgbClr val="C9DBF6"/>
            </a:solidFill>
            <a:prstDash val="solid"/>
          </a:ln>
        </p:spPr>
      </p:sp>
      <p:sp>
        <p:nvSpPr>
          <p:cNvPr id="30" name="Text 28"/>
          <p:cNvSpPr/>
          <p:nvPr/>
        </p:nvSpPr>
        <p:spPr>
          <a:xfrm>
            <a:off x="1409700" y="3657302"/>
            <a:ext cx="256282" cy="171450"/>
          </a:xfrm>
          <a:prstGeom prst="rect">
            <a:avLst/>
          </a:prstGeom>
          <a:noFill/>
          <a:ln/>
        </p:spPr>
        <p:txBody>
          <a:bodyPr wrap="square" lIns="25400" tIns="25400" rIns="25400" bIns="25400" rtlCol="0" anchor="t">
            <a:normAutofit/>
          </a:bodyPr>
          <a:lstStyle/>
          <a:p>
            <a:pPr algn="l" indent="0" marL="0">
              <a:buNone/>
            </a:pPr>
            <a:r>
              <a:rPr lang="en-US" sz="788" dirty="0">
                <a:solidFill>
                  <a:srgbClr val="2B5FC7"/>
                </a:solidFill>
                <a:latin typeface="Courier New" pitchFamily="34" charset="0"/>
                <a:ea typeface="Courier New" pitchFamily="34" charset="-122"/>
                <a:cs typeface="Courier New" pitchFamily="34" charset="-120"/>
              </a:rPr>
              <a:t>GET</a:t>
            </a:r>
            <a:endParaRPr lang="en-US" sz="788" dirty="0"/>
          </a:p>
        </p:txBody>
      </p:sp>
      <p:sp>
        <p:nvSpPr>
          <p:cNvPr id="31" name="Text 29"/>
          <p:cNvSpPr/>
          <p:nvPr/>
        </p:nvSpPr>
        <p:spPr>
          <a:xfrm>
            <a:off x="1742182" y="3643015"/>
            <a:ext cx="2451735"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/workloads/kubernetes/clusters</a:t>
            </a:r>
            <a:endParaRPr lang="en-US" sz="975" dirty="0"/>
          </a:p>
        </p:txBody>
      </p:sp>
      <p:sp>
        <p:nvSpPr>
          <p:cNvPr id="32" name="Text 30"/>
          <p:cNvSpPr/>
          <p:nvPr/>
        </p:nvSpPr>
        <p:spPr>
          <a:xfrm>
            <a:off x="1333500" y="3847802"/>
            <a:ext cx="2901285"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List registered clusters.</a:t>
            </a:r>
            <a:endParaRPr lang="en-US" sz="938" dirty="0"/>
          </a:p>
        </p:txBody>
      </p:sp>
      <p:sp>
        <p:nvSpPr>
          <p:cNvPr id="33" name="Shape 31"/>
          <p:cNvSpPr/>
          <p:nvPr/>
        </p:nvSpPr>
        <p:spPr>
          <a:xfrm>
            <a:off x="981075" y="5955953"/>
            <a:ext cx="228600" cy="228600"/>
          </a:xfrm>
          <a:prstGeom prst="ellipse">
            <a:avLst/>
          </a:prstGeom>
          <a:solidFill>
            <a:srgbClr val="EAF0FB"/>
          </a:solidFill>
          <a:ln/>
        </p:spPr>
      </p:sp>
      <p:sp>
        <p:nvSpPr>
          <p:cNvPr id="34" name="Text 32"/>
          <p:cNvSpPr/>
          <p:nvPr/>
        </p:nvSpPr>
        <p:spPr>
          <a:xfrm>
            <a:off x="942975" y="5955953"/>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2B5FC7"/>
                </a:solidFill>
                <a:latin typeface="Courier New" pitchFamily="34" charset="0"/>
                <a:ea typeface="Courier New" pitchFamily="34" charset="-122"/>
                <a:cs typeface="Courier New" pitchFamily="34" charset="-120"/>
              </a:rPr>
              <a:t>2</a:t>
            </a:r>
            <a:endParaRPr lang="en-US" sz="900" dirty="0"/>
          </a:p>
        </p:txBody>
      </p:sp>
      <p:sp>
        <p:nvSpPr>
          <p:cNvPr id="35" name="Shape 33"/>
          <p:cNvSpPr/>
          <p:nvPr/>
        </p:nvSpPr>
        <p:spPr>
          <a:xfrm>
            <a:off x="1085850" y="6222653"/>
            <a:ext cx="19050" cy="2022425"/>
          </a:xfrm>
          <a:prstGeom prst="rect">
            <a:avLst/>
          </a:prstGeom>
          <a:solidFill>
            <a:srgbClr val="E7E6DF"/>
          </a:solidFill>
          <a:ln/>
        </p:spPr>
      </p:sp>
      <p:sp>
        <p:nvSpPr>
          <p:cNvPr id="36" name="Shape 34"/>
          <p:cNvSpPr/>
          <p:nvPr/>
        </p:nvSpPr>
        <p:spPr>
          <a:xfrm>
            <a:off x="1333500" y="5955953"/>
            <a:ext cx="392460" cy="190500"/>
          </a:xfrm>
          <a:prstGeom prst="roundRect">
            <a:avLst>
              <a:gd name="adj" fmla="val 25000"/>
            </a:avLst>
          </a:prstGeom>
          <a:solidFill>
            <a:srgbClr val="FAF1DC"/>
          </a:solidFill>
          <a:ln w="9525">
            <a:solidFill>
              <a:srgbClr val="ECDDB6"/>
            </a:solidFill>
            <a:prstDash val="solid"/>
          </a:ln>
        </p:spPr>
      </p:sp>
      <p:sp>
        <p:nvSpPr>
          <p:cNvPr id="37" name="Text 35"/>
          <p:cNvSpPr/>
          <p:nvPr/>
        </p:nvSpPr>
        <p:spPr>
          <a:xfrm>
            <a:off x="1409700" y="5984528"/>
            <a:ext cx="316260" cy="171450"/>
          </a:xfrm>
          <a:prstGeom prst="rect">
            <a:avLst/>
          </a:prstGeom>
          <a:noFill/>
          <a:ln/>
        </p:spPr>
        <p:txBody>
          <a:bodyPr wrap="square" lIns="25400" tIns="25400" rIns="25400" bIns="25400" rtlCol="0" anchor="t">
            <a:normAutofit/>
          </a:bodyPr>
          <a:lstStyle/>
          <a:p>
            <a:pPr algn="l" indent="0" marL="0">
              <a:buNone/>
            </a:pPr>
            <a:r>
              <a:rPr lang="en-US" sz="788" dirty="0">
                <a:solidFill>
                  <a:srgbClr val="B5882B"/>
                </a:solidFill>
                <a:latin typeface="Courier New" pitchFamily="34" charset="0"/>
                <a:ea typeface="Courier New" pitchFamily="34" charset="-122"/>
                <a:cs typeface="Courier New" pitchFamily="34" charset="-120"/>
              </a:rPr>
              <a:t>POST</a:t>
            </a:r>
            <a:endParaRPr lang="en-US" sz="788" dirty="0"/>
          </a:p>
        </p:txBody>
      </p:sp>
      <p:sp>
        <p:nvSpPr>
          <p:cNvPr id="38" name="Text 36"/>
          <p:cNvSpPr/>
          <p:nvPr/>
        </p:nvSpPr>
        <p:spPr>
          <a:xfrm>
            <a:off x="1802160" y="5970240"/>
            <a:ext cx="1797955"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/asset-service/queries</a:t>
            </a:r>
            <a:endParaRPr lang="en-US" sz="975" dirty="0"/>
          </a:p>
        </p:txBody>
      </p:sp>
      <p:sp>
        <p:nvSpPr>
          <p:cNvPr id="39" name="Text 37"/>
          <p:cNvSpPr/>
          <p:nvPr/>
        </p:nvSpPr>
        <p:spPr>
          <a:xfrm>
            <a:off x="1333500" y="6175028"/>
            <a:ext cx="2313481"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Trigger namespace discovery.</a:t>
            </a:r>
            <a:endParaRPr lang="en-US" sz="938" dirty="0"/>
          </a:p>
        </p:txBody>
      </p:sp>
      <p:sp>
        <p:nvSpPr>
          <p:cNvPr id="40" name="Shape 38"/>
          <p:cNvSpPr/>
          <p:nvPr/>
        </p:nvSpPr>
        <p:spPr>
          <a:xfrm>
            <a:off x="981075" y="8283178"/>
            <a:ext cx="228600" cy="228600"/>
          </a:xfrm>
          <a:prstGeom prst="ellipse">
            <a:avLst/>
          </a:prstGeom>
          <a:solidFill>
            <a:srgbClr val="EAF0FB"/>
          </a:solidFill>
          <a:ln/>
        </p:spPr>
      </p:sp>
      <p:sp>
        <p:nvSpPr>
          <p:cNvPr id="41" name="Text 39"/>
          <p:cNvSpPr/>
          <p:nvPr/>
        </p:nvSpPr>
        <p:spPr>
          <a:xfrm>
            <a:off x="942975" y="8283178"/>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2B5FC7"/>
                </a:solidFill>
                <a:latin typeface="Courier New" pitchFamily="34" charset="0"/>
                <a:ea typeface="Courier New" pitchFamily="34" charset="-122"/>
                <a:cs typeface="Courier New" pitchFamily="34" charset="-120"/>
              </a:rPr>
              <a:t>3</a:t>
            </a:r>
            <a:endParaRPr lang="en-US" sz="900" dirty="0"/>
          </a:p>
        </p:txBody>
      </p:sp>
      <p:sp>
        <p:nvSpPr>
          <p:cNvPr id="42" name="Shape 40"/>
          <p:cNvSpPr/>
          <p:nvPr/>
        </p:nvSpPr>
        <p:spPr>
          <a:xfrm>
            <a:off x="1333500" y="8283178"/>
            <a:ext cx="332482" cy="190500"/>
          </a:xfrm>
          <a:prstGeom prst="roundRect">
            <a:avLst>
              <a:gd name="adj" fmla="val 25000"/>
            </a:avLst>
          </a:prstGeom>
          <a:solidFill>
            <a:srgbClr val="EAF0FB"/>
          </a:solidFill>
          <a:ln w="9525">
            <a:solidFill>
              <a:srgbClr val="C9DBF6"/>
            </a:solidFill>
            <a:prstDash val="solid"/>
          </a:ln>
        </p:spPr>
      </p:sp>
      <p:sp>
        <p:nvSpPr>
          <p:cNvPr id="43" name="Text 41"/>
          <p:cNvSpPr/>
          <p:nvPr/>
        </p:nvSpPr>
        <p:spPr>
          <a:xfrm>
            <a:off x="1409700" y="8311753"/>
            <a:ext cx="256282" cy="171450"/>
          </a:xfrm>
          <a:prstGeom prst="rect">
            <a:avLst/>
          </a:prstGeom>
          <a:noFill/>
          <a:ln/>
        </p:spPr>
        <p:txBody>
          <a:bodyPr wrap="square" lIns="25400" tIns="25400" rIns="25400" bIns="25400" rtlCol="0" anchor="t">
            <a:normAutofit/>
          </a:bodyPr>
          <a:lstStyle/>
          <a:p>
            <a:pPr algn="l" indent="0" marL="0">
              <a:buNone/>
            </a:pPr>
            <a:r>
              <a:rPr lang="en-US" sz="788" dirty="0">
                <a:solidFill>
                  <a:srgbClr val="2B5FC7"/>
                </a:solidFill>
                <a:latin typeface="Courier New" pitchFamily="34" charset="0"/>
                <a:ea typeface="Courier New" pitchFamily="34" charset="-122"/>
                <a:cs typeface="Courier New" pitchFamily="34" charset="-120"/>
              </a:rPr>
              <a:t>GET</a:t>
            </a:r>
            <a:endParaRPr lang="en-US" sz="788" dirty="0"/>
          </a:p>
        </p:txBody>
      </p:sp>
      <p:sp>
        <p:nvSpPr>
          <p:cNvPr id="44" name="Text 42"/>
          <p:cNvSpPr/>
          <p:nvPr/>
        </p:nvSpPr>
        <p:spPr>
          <a:xfrm>
            <a:off x="1742182" y="8297466"/>
            <a:ext cx="1961421"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/assets?filter=Namespace</a:t>
            </a:r>
            <a:endParaRPr lang="en-US" sz="975" dirty="0"/>
          </a:p>
        </p:txBody>
      </p:sp>
      <p:sp>
        <p:nvSpPr>
          <p:cNvPr id="45" name="Text 43"/>
          <p:cNvSpPr/>
          <p:nvPr/>
        </p:nvSpPr>
        <p:spPr>
          <a:xfrm>
            <a:off x="1333500" y="8502253"/>
            <a:ext cx="2410971"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Read back discovered namespaces.</a:t>
            </a:r>
            <a:endParaRPr lang="en-US" sz="938" dirty="0"/>
          </a:p>
        </p:txBody>
      </p:sp>
      <p:sp>
        <p:nvSpPr>
          <p:cNvPr id="46" name="Shape 44"/>
          <p:cNvSpPr/>
          <p:nvPr/>
        </p:nvSpPr>
        <p:spPr>
          <a:xfrm>
            <a:off x="981075" y="8834438"/>
            <a:ext cx="3624263" cy="371475"/>
          </a:xfrm>
          <a:prstGeom prst="roundRect">
            <a:avLst>
              <a:gd name="adj" fmla="val 23077"/>
            </a:avLst>
          </a:prstGeom>
          <a:solidFill>
            <a:srgbClr val="EAF0FB"/>
          </a:solidFill>
          <a:ln w="9525">
            <a:solidFill>
              <a:srgbClr val="C9DBF6"/>
            </a:solidFill>
            <a:prstDash val="solid"/>
          </a:ln>
        </p:spPr>
      </p:sp>
      <p:sp>
        <p:nvSpPr>
          <p:cNvPr id="47" name="Text 45"/>
          <p:cNvSpPr/>
          <p:nvPr/>
        </p:nvSpPr>
        <p:spPr>
          <a:xfrm>
            <a:off x="1114425" y="8939213"/>
            <a:ext cx="178147" cy="200025"/>
          </a:xfrm>
          <a:prstGeom prst="rect">
            <a:avLst/>
          </a:prstGeom>
          <a:noFill/>
          <a:ln/>
        </p:spPr>
        <p:txBody>
          <a:bodyPr wrap="square" lIns="25400" tIns="25400" rIns="25400" bIns="25400" rtlCol="0" anchor="t">
            <a:normAutofit/>
          </a:bodyPr>
          <a:lstStyle/>
          <a:p>
            <a:pPr algn="l" indent="0" marL="0">
              <a:buNone/>
            </a:pPr>
            <a:r>
              <a:rPr lang="en-US" sz="1050" b="1" dirty="0">
                <a:solidFill>
                  <a:srgbClr val="2B5FC7"/>
                </a:solidFill>
                <a:latin typeface="Arial" pitchFamily="34" charset="0"/>
                <a:ea typeface="Arial" pitchFamily="34" charset="-122"/>
                <a:cs typeface="Arial" pitchFamily="34" charset="-120"/>
              </a:rPr>
              <a:t>✓</a:t>
            </a:r>
            <a:endParaRPr lang="en-US" sz="1050" dirty="0"/>
          </a:p>
        </p:txBody>
      </p:sp>
      <p:sp>
        <p:nvSpPr>
          <p:cNvPr id="48" name="Text 46"/>
          <p:cNvSpPr/>
          <p:nvPr/>
        </p:nvSpPr>
        <p:spPr>
          <a:xfrm>
            <a:off x="1302097" y="8939213"/>
            <a:ext cx="2681994" cy="200025"/>
          </a:xfrm>
          <a:prstGeom prst="rect">
            <a:avLst/>
          </a:prstGeom>
          <a:noFill/>
          <a:ln/>
        </p:spPr>
        <p:txBody>
          <a:bodyPr wrap="square" lIns="25400" tIns="25400" rIns="25400" bIns="25400" rtlCol="0" anchor="t">
            <a:normAutofit/>
          </a:bodyPr>
          <a:lstStyle/>
          <a:p>
            <a:pPr algn="l" indent="0" marL="0">
              <a:buNone/>
            </a:pPr>
            <a:r>
              <a:rPr lang="en-US" sz="975" dirty="0">
                <a:solidFill>
                  <a:srgbClr val="21478F"/>
                </a:solidFill>
                <a:latin typeface="Arial" pitchFamily="34" charset="0"/>
                <a:ea typeface="Arial" pitchFamily="34" charset="-122"/>
                <a:cs typeface="Arial" pitchFamily="34" charset="-120"/>
              </a:rPr>
              <a:t>Namespaces inventoried &amp; ready to protect.</a:t>
            </a:r>
            <a:endParaRPr lang="en-US" sz="975" dirty="0"/>
          </a:p>
        </p:txBody>
      </p:sp>
      <p:sp>
        <p:nvSpPr>
          <p:cNvPr id="49" name="Shape 47"/>
          <p:cNvSpPr/>
          <p:nvPr/>
        </p:nvSpPr>
        <p:spPr>
          <a:xfrm>
            <a:off x="4995863" y="2685529"/>
            <a:ext cx="4062412" cy="6739458"/>
          </a:xfrm>
          <a:prstGeom prst="roundRect">
            <a:avLst>
              <a:gd name="adj" fmla="val 3283"/>
            </a:avLst>
          </a:prstGeom>
          <a:solidFill>
            <a:srgbClr val="FFFFFF"/>
          </a:solidFill>
          <a:ln/>
          <a:effectLst>
            <a:outerShdw sx="100000" sy="100000" kx="0" ky="0" algn="bl" rotWithShape="0" blurRad="19050" dist="9525" dir="5400000">
              <a:srgbClr val="141414">
                <a:alpha val="4000"/>
              </a:srgbClr>
            </a:outerShdw>
          </a:effectLst>
        </p:spPr>
      </p:sp>
      <p:sp>
        <p:nvSpPr>
          <p:cNvPr id="50" name="Shape 48"/>
          <p:cNvSpPr/>
          <p:nvPr/>
        </p:nvSpPr>
        <p:spPr>
          <a:xfrm>
            <a:off x="4995863" y="9415463"/>
            <a:ext cx="4062412" cy="9525"/>
          </a:xfrm>
          <a:prstGeom prst="rect">
            <a:avLst/>
          </a:prstGeom>
          <a:solidFill>
            <a:srgbClr val="E7E6DF"/>
          </a:solidFill>
          <a:ln/>
        </p:spPr>
      </p:sp>
      <p:sp>
        <p:nvSpPr>
          <p:cNvPr id="51" name="Shape 49"/>
          <p:cNvSpPr/>
          <p:nvPr/>
        </p:nvSpPr>
        <p:spPr>
          <a:xfrm>
            <a:off x="4995863" y="2685529"/>
            <a:ext cx="4062412" cy="28575"/>
          </a:xfrm>
          <a:prstGeom prst="rect">
            <a:avLst/>
          </a:prstGeom>
          <a:solidFill>
            <a:srgbClr val="1F8A5B"/>
          </a:solidFill>
          <a:ln/>
        </p:spPr>
      </p:sp>
      <p:sp>
        <p:nvSpPr>
          <p:cNvPr id="52" name="Shape 50"/>
          <p:cNvSpPr/>
          <p:nvPr/>
        </p:nvSpPr>
        <p:spPr>
          <a:xfrm>
            <a:off x="4995863" y="2685529"/>
            <a:ext cx="9525" cy="6739458"/>
          </a:xfrm>
          <a:prstGeom prst="rect">
            <a:avLst/>
          </a:prstGeom>
          <a:solidFill>
            <a:srgbClr val="E7E6DF"/>
          </a:solidFill>
          <a:ln/>
        </p:spPr>
      </p:sp>
      <p:sp>
        <p:nvSpPr>
          <p:cNvPr id="53" name="Shape 51"/>
          <p:cNvSpPr/>
          <p:nvPr/>
        </p:nvSpPr>
        <p:spPr>
          <a:xfrm>
            <a:off x="9048750" y="2685529"/>
            <a:ext cx="9525" cy="6739458"/>
          </a:xfrm>
          <a:prstGeom prst="rect">
            <a:avLst/>
          </a:prstGeom>
          <a:solidFill>
            <a:srgbClr val="E7E6DF"/>
          </a:solidFill>
          <a:ln/>
        </p:spPr>
      </p:sp>
      <p:sp>
        <p:nvSpPr>
          <p:cNvPr id="54" name="Shape 52"/>
          <p:cNvSpPr/>
          <p:nvPr/>
        </p:nvSpPr>
        <p:spPr>
          <a:xfrm>
            <a:off x="5214938" y="2923654"/>
            <a:ext cx="285750" cy="285750"/>
          </a:xfrm>
          <a:prstGeom prst="roundRect">
            <a:avLst>
              <a:gd name="adj" fmla="val 26667"/>
            </a:avLst>
          </a:prstGeom>
          <a:solidFill>
            <a:srgbClr val="E7F4EC"/>
          </a:solidFill>
          <a:ln/>
        </p:spPr>
      </p:sp>
      <p:sp>
        <p:nvSpPr>
          <p:cNvPr id="55" name="Text 53"/>
          <p:cNvSpPr/>
          <p:nvPr/>
        </p:nvSpPr>
        <p:spPr>
          <a:xfrm>
            <a:off x="5176838" y="2923654"/>
            <a:ext cx="361950" cy="323850"/>
          </a:xfrm>
          <a:prstGeom prst="rect">
            <a:avLst/>
          </a:prstGeom>
          <a:noFill/>
          <a:ln/>
        </p:spPr>
        <p:txBody>
          <a:bodyPr wrap="square" lIns="25400" tIns="25400" rIns="25400" bIns="25400" rtlCol="0" anchor="ctr">
            <a:normAutofit/>
          </a:bodyPr>
          <a:lstStyle/>
          <a:p>
            <a:pPr algn="ctr" indent="0" marL="0">
              <a:buNone/>
            </a:pPr>
            <a:r>
              <a:rPr lang="en-US" sz="1050" dirty="0">
                <a:solidFill>
                  <a:srgbClr val="1F8A5B"/>
                </a:solidFill>
                <a:latin typeface="Courier New" pitchFamily="34" charset="0"/>
                <a:ea typeface="Courier New" pitchFamily="34" charset="-122"/>
                <a:cs typeface="Courier New" pitchFamily="34" charset="-120"/>
              </a:rPr>
              <a:t>02</a:t>
            </a:r>
            <a:endParaRPr lang="en-US" sz="1050" dirty="0"/>
          </a:p>
        </p:txBody>
      </p:sp>
      <p:sp>
        <p:nvSpPr>
          <p:cNvPr id="56" name="Text 54"/>
          <p:cNvSpPr/>
          <p:nvPr/>
        </p:nvSpPr>
        <p:spPr>
          <a:xfrm>
            <a:off x="5605463" y="2952229"/>
            <a:ext cx="798984" cy="266700"/>
          </a:xfrm>
          <a:prstGeom prst="rect">
            <a:avLst/>
          </a:prstGeom>
          <a:noFill/>
          <a:ln/>
        </p:spPr>
        <p:txBody>
          <a:bodyPr wrap="square" lIns="25400" tIns="25400" rIns="25400" bIns="25400" rtlCol="0" anchor="t">
            <a:normAutofit/>
          </a:bodyPr>
          <a:lstStyle/>
          <a:p>
            <a:pPr algn="l" indent="0" marL="0">
              <a:buNone/>
            </a:pPr>
            <a:r>
              <a:rPr lang="en-US" sz="1575" b="1" dirty="0">
                <a:solidFill>
                  <a:srgbClr val="18181B"/>
                </a:solidFill>
                <a:latin typeface="Arial" pitchFamily="34" charset="0"/>
                <a:ea typeface="Arial" pitchFamily="34" charset="-122"/>
                <a:cs typeface="Arial" pitchFamily="34" charset="-120"/>
              </a:rPr>
              <a:t>Back up</a:t>
            </a:r>
            <a:endParaRPr lang="en-US" sz="1575" dirty="0"/>
          </a:p>
        </p:txBody>
      </p:sp>
      <p:sp>
        <p:nvSpPr>
          <p:cNvPr id="57" name="Text 55"/>
          <p:cNvSpPr/>
          <p:nvPr/>
        </p:nvSpPr>
        <p:spPr>
          <a:xfrm>
            <a:off x="5214938" y="3257029"/>
            <a:ext cx="3986689" cy="238348"/>
          </a:xfrm>
          <a:prstGeom prst="rect">
            <a:avLst/>
          </a:prstGeom>
          <a:noFill/>
          <a:ln/>
        </p:spPr>
        <p:txBody>
          <a:bodyPr wrap="square" lIns="25400" tIns="25400" rIns="25400" bIns="25400" rtlCol="0" anchor="t">
            <a:normAutofit/>
          </a:bodyPr>
          <a:lstStyle/>
          <a:p>
            <a:pPr algn="l" indent="0" marL="0">
              <a:lnSpc>
                <a:spcPct val="145000"/>
              </a:lnSpc>
              <a:buNone/>
            </a:pPr>
            <a:r>
              <a:rPr lang="en-US" sz="1088" dirty="0">
                <a:solidFill>
                  <a:srgbClr val="71717A"/>
                </a:solidFill>
                <a:latin typeface="Arial" pitchFamily="34" charset="0"/>
                <a:ea typeface="Arial" pitchFamily="34" charset="-122"/>
                <a:cs typeface="Arial" pitchFamily="34" charset="-120"/>
              </a:rPr>
              <a:t>Protect the namespace and run the backup.</a:t>
            </a:r>
            <a:endParaRPr lang="en-US" sz="1088" dirty="0"/>
          </a:p>
        </p:txBody>
      </p:sp>
      <p:sp>
        <p:nvSpPr>
          <p:cNvPr id="58" name="Shape 56"/>
          <p:cNvSpPr/>
          <p:nvPr/>
        </p:nvSpPr>
        <p:spPr>
          <a:xfrm>
            <a:off x="5214938" y="3628727"/>
            <a:ext cx="228600" cy="228600"/>
          </a:xfrm>
          <a:prstGeom prst="ellipse">
            <a:avLst/>
          </a:prstGeom>
          <a:solidFill>
            <a:srgbClr val="E7F4EC"/>
          </a:solidFill>
          <a:ln/>
        </p:spPr>
      </p:sp>
      <p:sp>
        <p:nvSpPr>
          <p:cNvPr id="59" name="Text 57"/>
          <p:cNvSpPr/>
          <p:nvPr/>
        </p:nvSpPr>
        <p:spPr>
          <a:xfrm>
            <a:off x="5176838" y="3628727"/>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1F8A5B"/>
                </a:solidFill>
                <a:latin typeface="Courier New" pitchFamily="34" charset="0"/>
                <a:ea typeface="Courier New" pitchFamily="34" charset="-122"/>
                <a:cs typeface="Courier New" pitchFamily="34" charset="-120"/>
              </a:rPr>
              <a:t>1</a:t>
            </a:r>
            <a:endParaRPr lang="en-US" sz="900" dirty="0"/>
          </a:p>
        </p:txBody>
      </p:sp>
      <p:sp>
        <p:nvSpPr>
          <p:cNvPr id="60" name="Shape 58"/>
          <p:cNvSpPr/>
          <p:nvPr/>
        </p:nvSpPr>
        <p:spPr>
          <a:xfrm>
            <a:off x="5319713" y="3895427"/>
            <a:ext cx="19050" cy="2022425"/>
          </a:xfrm>
          <a:prstGeom prst="rect">
            <a:avLst/>
          </a:prstGeom>
          <a:solidFill>
            <a:srgbClr val="E7E6DF"/>
          </a:solidFill>
          <a:ln/>
        </p:spPr>
      </p:sp>
      <p:sp>
        <p:nvSpPr>
          <p:cNvPr id="61" name="Shape 59"/>
          <p:cNvSpPr/>
          <p:nvPr/>
        </p:nvSpPr>
        <p:spPr>
          <a:xfrm>
            <a:off x="5567363" y="3628727"/>
            <a:ext cx="392460" cy="190500"/>
          </a:xfrm>
          <a:prstGeom prst="roundRect">
            <a:avLst>
              <a:gd name="adj" fmla="val 25000"/>
            </a:avLst>
          </a:prstGeom>
          <a:solidFill>
            <a:srgbClr val="FAF1DC"/>
          </a:solidFill>
          <a:ln w="9525">
            <a:solidFill>
              <a:srgbClr val="ECDDB6"/>
            </a:solidFill>
            <a:prstDash val="solid"/>
          </a:ln>
        </p:spPr>
      </p:sp>
      <p:sp>
        <p:nvSpPr>
          <p:cNvPr id="62" name="Text 60"/>
          <p:cNvSpPr/>
          <p:nvPr/>
        </p:nvSpPr>
        <p:spPr>
          <a:xfrm>
            <a:off x="5643563" y="3657302"/>
            <a:ext cx="316260" cy="171450"/>
          </a:xfrm>
          <a:prstGeom prst="rect">
            <a:avLst/>
          </a:prstGeom>
          <a:noFill/>
          <a:ln/>
        </p:spPr>
        <p:txBody>
          <a:bodyPr wrap="square" lIns="25400" tIns="25400" rIns="25400" bIns="25400" rtlCol="0" anchor="t">
            <a:normAutofit/>
          </a:bodyPr>
          <a:lstStyle/>
          <a:p>
            <a:pPr algn="l" indent="0" marL="0">
              <a:buNone/>
            </a:pPr>
            <a:r>
              <a:rPr lang="en-US" sz="788" dirty="0">
                <a:solidFill>
                  <a:srgbClr val="B5882B"/>
                </a:solidFill>
                <a:latin typeface="Courier New" pitchFamily="34" charset="0"/>
                <a:ea typeface="Courier New" pitchFamily="34" charset="-122"/>
                <a:cs typeface="Courier New" pitchFamily="34" charset="-120"/>
              </a:rPr>
              <a:t>POST</a:t>
            </a:r>
            <a:endParaRPr lang="en-US" sz="788" dirty="0"/>
          </a:p>
        </p:txBody>
      </p:sp>
      <p:sp>
        <p:nvSpPr>
          <p:cNvPr id="63" name="Text 61"/>
          <p:cNvSpPr/>
          <p:nvPr/>
        </p:nvSpPr>
        <p:spPr>
          <a:xfrm>
            <a:off x="6036022" y="3643015"/>
            <a:ext cx="1961421"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/slos/{id}/subscriptions</a:t>
            </a:r>
            <a:endParaRPr lang="en-US" sz="975" dirty="0"/>
          </a:p>
        </p:txBody>
      </p:sp>
      <p:sp>
        <p:nvSpPr>
          <p:cNvPr id="64" name="Text 62"/>
          <p:cNvSpPr/>
          <p:nvPr/>
        </p:nvSpPr>
        <p:spPr>
          <a:xfrm>
            <a:off x="5567363" y="3847802"/>
            <a:ext cx="2526060"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Assign a protection plan to the namespace.</a:t>
            </a:r>
            <a:endParaRPr lang="en-US" sz="938" dirty="0"/>
          </a:p>
        </p:txBody>
      </p:sp>
      <p:sp>
        <p:nvSpPr>
          <p:cNvPr id="65" name="Shape 63"/>
          <p:cNvSpPr/>
          <p:nvPr/>
        </p:nvSpPr>
        <p:spPr>
          <a:xfrm>
            <a:off x="5214938" y="5955953"/>
            <a:ext cx="228600" cy="228600"/>
          </a:xfrm>
          <a:prstGeom prst="ellipse">
            <a:avLst/>
          </a:prstGeom>
          <a:solidFill>
            <a:srgbClr val="E7F4EC"/>
          </a:solidFill>
          <a:ln/>
        </p:spPr>
      </p:sp>
      <p:sp>
        <p:nvSpPr>
          <p:cNvPr id="66" name="Text 64"/>
          <p:cNvSpPr/>
          <p:nvPr/>
        </p:nvSpPr>
        <p:spPr>
          <a:xfrm>
            <a:off x="5176838" y="5955953"/>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1F8A5B"/>
                </a:solidFill>
                <a:latin typeface="Courier New" pitchFamily="34" charset="0"/>
                <a:ea typeface="Courier New" pitchFamily="34" charset="-122"/>
                <a:cs typeface="Courier New" pitchFamily="34" charset="-120"/>
              </a:rPr>
              <a:t>2</a:t>
            </a:r>
            <a:endParaRPr lang="en-US" sz="900" dirty="0"/>
          </a:p>
        </p:txBody>
      </p:sp>
      <p:sp>
        <p:nvSpPr>
          <p:cNvPr id="67" name="Shape 65"/>
          <p:cNvSpPr/>
          <p:nvPr/>
        </p:nvSpPr>
        <p:spPr>
          <a:xfrm>
            <a:off x="5319713" y="6222653"/>
            <a:ext cx="19050" cy="2022425"/>
          </a:xfrm>
          <a:prstGeom prst="rect">
            <a:avLst/>
          </a:prstGeom>
          <a:solidFill>
            <a:srgbClr val="E7E6DF"/>
          </a:solidFill>
          <a:ln/>
        </p:spPr>
      </p:sp>
      <p:sp>
        <p:nvSpPr>
          <p:cNvPr id="68" name="Shape 66"/>
          <p:cNvSpPr/>
          <p:nvPr/>
        </p:nvSpPr>
        <p:spPr>
          <a:xfrm>
            <a:off x="5567363" y="5955953"/>
            <a:ext cx="392460" cy="190500"/>
          </a:xfrm>
          <a:prstGeom prst="roundRect">
            <a:avLst>
              <a:gd name="adj" fmla="val 25000"/>
            </a:avLst>
          </a:prstGeom>
          <a:solidFill>
            <a:srgbClr val="FAF1DC"/>
          </a:solidFill>
          <a:ln w="9525">
            <a:solidFill>
              <a:srgbClr val="ECDDB6"/>
            </a:solidFill>
            <a:prstDash val="solid"/>
          </a:ln>
        </p:spPr>
      </p:sp>
      <p:sp>
        <p:nvSpPr>
          <p:cNvPr id="69" name="Text 67"/>
          <p:cNvSpPr/>
          <p:nvPr/>
        </p:nvSpPr>
        <p:spPr>
          <a:xfrm>
            <a:off x="5643563" y="5984528"/>
            <a:ext cx="316260" cy="171450"/>
          </a:xfrm>
          <a:prstGeom prst="rect">
            <a:avLst/>
          </a:prstGeom>
          <a:noFill/>
          <a:ln/>
        </p:spPr>
        <p:txBody>
          <a:bodyPr wrap="square" lIns="25400" tIns="25400" rIns="25400" bIns="25400" rtlCol="0" anchor="t">
            <a:normAutofit/>
          </a:bodyPr>
          <a:lstStyle/>
          <a:p>
            <a:pPr algn="l" indent="0" marL="0">
              <a:buNone/>
            </a:pPr>
            <a:r>
              <a:rPr lang="en-US" sz="788" dirty="0">
                <a:solidFill>
                  <a:srgbClr val="B5882B"/>
                </a:solidFill>
                <a:latin typeface="Courier New" pitchFamily="34" charset="0"/>
                <a:ea typeface="Courier New" pitchFamily="34" charset="-122"/>
                <a:cs typeface="Courier New" pitchFamily="34" charset="-120"/>
              </a:rPr>
              <a:t>POST</a:t>
            </a:r>
            <a:endParaRPr lang="en-US" sz="788" dirty="0"/>
          </a:p>
        </p:txBody>
      </p:sp>
      <p:sp>
        <p:nvSpPr>
          <p:cNvPr id="70" name="Text 68"/>
          <p:cNvSpPr/>
          <p:nvPr/>
        </p:nvSpPr>
        <p:spPr>
          <a:xfrm>
            <a:off x="6036022" y="5970240"/>
            <a:ext cx="1797955"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/assets/{nsId}/backups</a:t>
            </a:r>
            <a:endParaRPr lang="en-US" sz="975" dirty="0"/>
          </a:p>
        </p:txBody>
      </p:sp>
      <p:sp>
        <p:nvSpPr>
          <p:cNvPr id="71" name="Text 69"/>
          <p:cNvSpPr/>
          <p:nvPr/>
        </p:nvSpPr>
        <p:spPr>
          <a:xfrm>
            <a:off x="5567363" y="6175028"/>
            <a:ext cx="2313481"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Start a backup now (manual).</a:t>
            </a:r>
            <a:endParaRPr lang="en-US" sz="938" dirty="0"/>
          </a:p>
        </p:txBody>
      </p:sp>
      <p:sp>
        <p:nvSpPr>
          <p:cNvPr id="72" name="Shape 70"/>
          <p:cNvSpPr/>
          <p:nvPr/>
        </p:nvSpPr>
        <p:spPr>
          <a:xfrm>
            <a:off x="5214938" y="8283178"/>
            <a:ext cx="228600" cy="228600"/>
          </a:xfrm>
          <a:prstGeom prst="ellipse">
            <a:avLst/>
          </a:prstGeom>
          <a:solidFill>
            <a:srgbClr val="E7F4EC"/>
          </a:solidFill>
          <a:ln/>
        </p:spPr>
      </p:sp>
      <p:sp>
        <p:nvSpPr>
          <p:cNvPr id="73" name="Text 71"/>
          <p:cNvSpPr/>
          <p:nvPr/>
        </p:nvSpPr>
        <p:spPr>
          <a:xfrm>
            <a:off x="5176838" y="8283178"/>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1F8A5B"/>
                </a:solidFill>
                <a:latin typeface="Courier New" pitchFamily="34" charset="0"/>
                <a:ea typeface="Courier New" pitchFamily="34" charset="-122"/>
                <a:cs typeface="Courier New" pitchFamily="34" charset="-120"/>
              </a:rPr>
              <a:t>3</a:t>
            </a:r>
            <a:endParaRPr lang="en-US" sz="900" dirty="0"/>
          </a:p>
        </p:txBody>
      </p:sp>
      <p:sp>
        <p:nvSpPr>
          <p:cNvPr id="74" name="Shape 72"/>
          <p:cNvSpPr/>
          <p:nvPr/>
        </p:nvSpPr>
        <p:spPr>
          <a:xfrm>
            <a:off x="5567363" y="8283178"/>
            <a:ext cx="332482" cy="190500"/>
          </a:xfrm>
          <a:prstGeom prst="roundRect">
            <a:avLst>
              <a:gd name="adj" fmla="val 25000"/>
            </a:avLst>
          </a:prstGeom>
          <a:solidFill>
            <a:srgbClr val="EAF0FB"/>
          </a:solidFill>
          <a:ln w="9525">
            <a:solidFill>
              <a:srgbClr val="C9DBF6"/>
            </a:solidFill>
            <a:prstDash val="solid"/>
          </a:ln>
        </p:spPr>
      </p:sp>
      <p:sp>
        <p:nvSpPr>
          <p:cNvPr id="75" name="Text 73"/>
          <p:cNvSpPr/>
          <p:nvPr/>
        </p:nvSpPr>
        <p:spPr>
          <a:xfrm>
            <a:off x="5643563" y="8311753"/>
            <a:ext cx="256282" cy="171450"/>
          </a:xfrm>
          <a:prstGeom prst="rect">
            <a:avLst/>
          </a:prstGeom>
          <a:noFill/>
          <a:ln/>
        </p:spPr>
        <p:txBody>
          <a:bodyPr wrap="square" lIns="25400" tIns="25400" rIns="25400" bIns="25400" rtlCol="0" anchor="t">
            <a:normAutofit/>
          </a:bodyPr>
          <a:lstStyle/>
          <a:p>
            <a:pPr algn="l" indent="0" marL="0">
              <a:buNone/>
            </a:pPr>
            <a:r>
              <a:rPr lang="en-US" sz="788" dirty="0">
                <a:solidFill>
                  <a:srgbClr val="2B5FC7"/>
                </a:solidFill>
                <a:latin typeface="Courier New" pitchFamily="34" charset="0"/>
                <a:ea typeface="Courier New" pitchFamily="34" charset="-122"/>
                <a:cs typeface="Courier New" pitchFamily="34" charset="-120"/>
              </a:rPr>
              <a:t>GET</a:t>
            </a:r>
            <a:endParaRPr lang="en-US" sz="788" dirty="0"/>
          </a:p>
        </p:txBody>
      </p:sp>
      <p:sp>
        <p:nvSpPr>
          <p:cNvPr id="76" name="Text 74"/>
          <p:cNvSpPr/>
          <p:nvPr/>
        </p:nvSpPr>
        <p:spPr>
          <a:xfrm>
            <a:off x="5976045" y="8297466"/>
            <a:ext cx="1552798"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/admin/jobs/{jobId}</a:t>
            </a:r>
            <a:endParaRPr lang="en-US" sz="975" dirty="0"/>
          </a:p>
        </p:txBody>
      </p:sp>
      <p:sp>
        <p:nvSpPr>
          <p:cNvPr id="77" name="Text 75"/>
          <p:cNvSpPr/>
          <p:nvPr/>
        </p:nvSpPr>
        <p:spPr>
          <a:xfrm>
            <a:off x="5567363" y="8502253"/>
            <a:ext cx="2097219"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Track the backup job to completion.</a:t>
            </a:r>
            <a:endParaRPr lang="en-US" sz="938" dirty="0"/>
          </a:p>
        </p:txBody>
      </p:sp>
      <p:sp>
        <p:nvSpPr>
          <p:cNvPr id="78" name="Shape 76"/>
          <p:cNvSpPr/>
          <p:nvPr/>
        </p:nvSpPr>
        <p:spPr>
          <a:xfrm>
            <a:off x="5214938" y="8834438"/>
            <a:ext cx="3624263" cy="371475"/>
          </a:xfrm>
          <a:prstGeom prst="roundRect">
            <a:avLst>
              <a:gd name="adj" fmla="val 23077"/>
            </a:avLst>
          </a:prstGeom>
          <a:solidFill>
            <a:srgbClr val="E7F4EC"/>
          </a:solidFill>
          <a:ln w="9525">
            <a:solidFill>
              <a:srgbClr val="CDE8D7"/>
            </a:solidFill>
            <a:prstDash val="solid"/>
          </a:ln>
        </p:spPr>
      </p:sp>
      <p:sp>
        <p:nvSpPr>
          <p:cNvPr id="79" name="Text 77"/>
          <p:cNvSpPr/>
          <p:nvPr/>
        </p:nvSpPr>
        <p:spPr>
          <a:xfrm>
            <a:off x="5348288" y="8939213"/>
            <a:ext cx="178147" cy="200025"/>
          </a:xfrm>
          <a:prstGeom prst="rect">
            <a:avLst/>
          </a:prstGeom>
          <a:noFill/>
          <a:ln/>
        </p:spPr>
        <p:txBody>
          <a:bodyPr wrap="square" lIns="25400" tIns="25400" rIns="25400" bIns="25400" rtlCol="0" anchor="t">
            <a:normAutofit/>
          </a:bodyPr>
          <a:lstStyle/>
          <a:p>
            <a:pPr algn="l" indent="0" marL="0">
              <a:buNone/>
            </a:pPr>
            <a:r>
              <a:rPr lang="en-US" sz="1050" b="1" dirty="0">
                <a:solidFill>
                  <a:srgbClr val="1F8A5B"/>
                </a:solidFill>
                <a:latin typeface="Arial" pitchFamily="34" charset="0"/>
                <a:ea typeface="Arial" pitchFamily="34" charset="-122"/>
                <a:cs typeface="Arial" pitchFamily="34" charset="-120"/>
              </a:rPr>
              <a:t>✓</a:t>
            </a:r>
            <a:endParaRPr lang="en-US" sz="1050" dirty="0"/>
          </a:p>
        </p:txBody>
      </p:sp>
      <p:sp>
        <p:nvSpPr>
          <p:cNvPr id="80" name="Text 78"/>
          <p:cNvSpPr/>
          <p:nvPr/>
        </p:nvSpPr>
        <p:spPr>
          <a:xfrm>
            <a:off x="5535960" y="8939213"/>
            <a:ext cx="2203877" cy="200025"/>
          </a:xfrm>
          <a:prstGeom prst="rect">
            <a:avLst/>
          </a:prstGeom>
          <a:noFill/>
          <a:ln/>
        </p:spPr>
        <p:txBody>
          <a:bodyPr wrap="square" lIns="25400" tIns="25400" rIns="25400" bIns="25400" rtlCol="0" anchor="t">
            <a:normAutofit/>
          </a:bodyPr>
          <a:lstStyle/>
          <a:p>
            <a:pPr algn="l" indent="0" marL="0">
              <a:buNone/>
            </a:pPr>
            <a:r>
              <a:rPr lang="en-US" sz="975" dirty="0">
                <a:solidFill>
                  <a:srgbClr val="15724A"/>
                </a:solidFill>
                <a:latin typeface="Arial" pitchFamily="34" charset="0"/>
                <a:ea typeface="Arial" pitchFamily="34" charset="-122"/>
                <a:cs typeface="Arial" pitchFamily="34" charset="-120"/>
              </a:rPr>
              <a:t>Recovery point created &amp; cataloged.</a:t>
            </a:r>
            <a:endParaRPr lang="en-US" sz="975" dirty="0"/>
          </a:p>
        </p:txBody>
      </p:sp>
      <p:sp>
        <p:nvSpPr>
          <p:cNvPr id="81" name="Shape 79"/>
          <p:cNvSpPr/>
          <p:nvPr/>
        </p:nvSpPr>
        <p:spPr>
          <a:xfrm>
            <a:off x="9229725" y="2685529"/>
            <a:ext cx="4062412" cy="6739458"/>
          </a:xfrm>
          <a:prstGeom prst="roundRect">
            <a:avLst>
              <a:gd name="adj" fmla="val 3283"/>
            </a:avLst>
          </a:prstGeom>
          <a:solidFill>
            <a:srgbClr val="FFFFFF"/>
          </a:solidFill>
          <a:ln/>
          <a:effectLst>
            <a:outerShdw sx="100000" sy="100000" kx="0" ky="0" algn="bl" rotWithShape="0" blurRad="19050" dist="9525" dir="5400000">
              <a:srgbClr val="141414">
                <a:alpha val="4000"/>
              </a:srgbClr>
            </a:outerShdw>
          </a:effectLst>
        </p:spPr>
      </p:sp>
      <p:sp>
        <p:nvSpPr>
          <p:cNvPr id="82" name="Shape 80"/>
          <p:cNvSpPr/>
          <p:nvPr/>
        </p:nvSpPr>
        <p:spPr>
          <a:xfrm>
            <a:off x="9229725" y="9415463"/>
            <a:ext cx="4062412" cy="9525"/>
          </a:xfrm>
          <a:prstGeom prst="rect">
            <a:avLst/>
          </a:prstGeom>
          <a:solidFill>
            <a:srgbClr val="E7E6DF"/>
          </a:solidFill>
          <a:ln/>
        </p:spPr>
      </p:sp>
      <p:sp>
        <p:nvSpPr>
          <p:cNvPr id="83" name="Shape 81"/>
          <p:cNvSpPr/>
          <p:nvPr/>
        </p:nvSpPr>
        <p:spPr>
          <a:xfrm>
            <a:off x="9229725" y="2685529"/>
            <a:ext cx="4062412" cy="28575"/>
          </a:xfrm>
          <a:prstGeom prst="rect">
            <a:avLst/>
          </a:prstGeom>
          <a:solidFill>
            <a:srgbClr val="B5882B"/>
          </a:solidFill>
          <a:ln/>
        </p:spPr>
      </p:sp>
      <p:sp>
        <p:nvSpPr>
          <p:cNvPr id="84" name="Shape 82"/>
          <p:cNvSpPr/>
          <p:nvPr/>
        </p:nvSpPr>
        <p:spPr>
          <a:xfrm>
            <a:off x="9229725" y="2685529"/>
            <a:ext cx="9525" cy="6739458"/>
          </a:xfrm>
          <a:prstGeom prst="rect">
            <a:avLst/>
          </a:prstGeom>
          <a:solidFill>
            <a:srgbClr val="E7E6DF"/>
          </a:solidFill>
          <a:ln/>
        </p:spPr>
      </p:sp>
      <p:sp>
        <p:nvSpPr>
          <p:cNvPr id="85" name="Shape 83"/>
          <p:cNvSpPr/>
          <p:nvPr/>
        </p:nvSpPr>
        <p:spPr>
          <a:xfrm>
            <a:off x="13282613" y="2685529"/>
            <a:ext cx="9525" cy="6739458"/>
          </a:xfrm>
          <a:prstGeom prst="rect">
            <a:avLst/>
          </a:prstGeom>
          <a:solidFill>
            <a:srgbClr val="E7E6DF"/>
          </a:solidFill>
          <a:ln/>
        </p:spPr>
      </p:sp>
      <p:sp>
        <p:nvSpPr>
          <p:cNvPr id="86" name="Shape 84"/>
          <p:cNvSpPr/>
          <p:nvPr/>
        </p:nvSpPr>
        <p:spPr>
          <a:xfrm>
            <a:off x="9448800" y="2923654"/>
            <a:ext cx="285750" cy="285750"/>
          </a:xfrm>
          <a:prstGeom prst="roundRect">
            <a:avLst>
              <a:gd name="adj" fmla="val 26667"/>
            </a:avLst>
          </a:prstGeom>
          <a:solidFill>
            <a:srgbClr val="FAF1DC"/>
          </a:solidFill>
          <a:ln/>
        </p:spPr>
      </p:sp>
      <p:sp>
        <p:nvSpPr>
          <p:cNvPr id="87" name="Text 85"/>
          <p:cNvSpPr/>
          <p:nvPr/>
        </p:nvSpPr>
        <p:spPr>
          <a:xfrm>
            <a:off x="9410700" y="2923654"/>
            <a:ext cx="361950" cy="323850"/>
          </a:xfrm>
          <a:prstGeom prst="rect">
            <a:avLst/>
          </a:prstGeom>
          <a:noFill/>
          <a:ln/>
        </p:spPr>
        <p:txBody>
          <a:bodyPr wrap="square" lIns="25400" tIns="25400" rIns="25400" bIns="25400" rtlCol="0" anchor="ctr">
            <a:normAutofit/>
          </a:bodyPr>
          <a:lstStyle/>
          <a:p>
            <a:pPr algn="ctr" indent="0" marL="0">
              <a:buNone/>
            </a:pPr>
            <a:r>
              <a:rPr lang="en-US" sz="1050" dirty="0">
                <a:solidFill>
                  <a:srgbClr val="B5882B"/>
                </a:solidFill>
                <a:latin typeface="Courier New" pitchFamily="34" charset="0"/>
                <a:ea typeface="Courier New" pitchFamily="34" charset="-122"/>
                <a:cs typeface="Courier New" pitchFamily="34" charset="-120"/>
              </a:rPr>
              <a:t>03</a:t>
            </a:r>
            <a:endParaRPr lang="en-US" sz="1050" dirty="0"/>
          </a:p>
        </p:txBody>
      </p:sp>
      <p:sp>
        <p:nvSpPr>
          <p:cNvPr id="88" name="Text 86"/>
          <p:cNvSpPr/>
          <p:nvPr/>
        </p:nvSpPr>
        <p:spPr>
          <a:xfrm>
            <a:off x="9839325" y="2952229"/>
            <a:ext cx="776585" cy="266700"/>
          </a:xfrm>
          <a:prstGeom prst="rect">
            <a:avLst/>
          </a:prstGeom>
          <a:noFill/>
          <a:ln/>
        </p:spPr>
        <p:txBody>
          <a:bodyPr wrap="square" lIns="25400" tIns="25400" rIns="25400" bIns="25400" rtlCol="0" anchor="t">
            <a:normAutofit/>
          </a:bodyPr>
          <a:lstStyle/>
          <a:p>
            <a:pPr algn="l" indent="0" marL="0">
              <a:buNone/>
            </a:pPr>
            <a:r>
              <a:rPr lang="en-US" sz="1575" b="1" dirty="0">
                <a:solidFill>
                  <a:srgbClr val="18181B"/>
                </a:solidFill>
                <a:latin typeface="Arial" pitchFamily="34" charset="0"/>
                <a:ea typeface="Arial" pitchFamily="34" charset="-122"/>
                <a:cs typeface="Arial" pitchFamily="34" charset="-120"/>
              </a:rPr>
              <a:t>Restore</a:t>
            </a:r>
            <a:endParaRPr lang="en-US" sz="1575" dirty="0"/>
          </a:p>
        </p:txBody>
      </p:sp>
      <p:sp>
        <p:nvSpPr>
          <p:cNvPr id="89" name="Text 87"/>
          <p:cNvSpPr/>
          <p:nvPr/>
        </p:nvSpPr>
        <p:spPr>
          <a:xfrm>
            <a:off x="9448800" y="3257029"/>
            <a:ext cx="3986689" cy="238348"/>
          </a:xfrm>
          <a:prstGeom prst="rect">
            <a:avLst/>
          </a:prstGeom>
          <a:noFill/>
          <a:ln/>
        </p:spPr>
        <p:txBody>
          <a:bodyPr wrap="square" lIns="25400" tIns="25400" rIns="25400" bIns="25400" rtlCol="0" anchor="t">
            <a:normAutofit/>
          </a:bodyPr>
          <a:lstStyle/>
          <a:p>
            <a:pPr algn="l" indent="0" marL="0">
              <a:lnSpc>
                <a:spcPct val="145000"/>
              </a:lnSpc>
              <a:buNone/>
            </a:pPr>
            <a:r>
              <a:rPr lang="en-US" sz="1088" dirty="0">
                <a:solidFill>
                  <a:srgbClr val="71717A"/>
                </a:solidFill>
                <a:latin typeface="Arial" pitchFamily="34" charset="0"/>
                <a:ea typeface="Arial" pitchFamily="34" charset="-122"/>
                <a:cs typeface="Arial" pitchFamily="34" charset="-120"/>
              </a:rPr>
              <a:t>Recover the namespace from a backup image.</a:t>
            </a:r>
            <a:endParaRPr lang="en-US" sz="1088" dirty="0"/>
          </a:p>
        </p:txBody>
      </p:sp>
      <p:sp>
        <p:nvSpPr>
          <p:cNvPr id="90" name="Shape 88"/>
          <p:cNvSpPr/>
          <p:nvPr/>
        </p:nvSpPr>
        <p:spPr>
          <a:xfrm>
            <a:off x="9448800" y="3628727"/>
            <a:ext cx="228600" cy="228600"/>
          </a:xfrm>
          <a:prstGeom prst="ellipse">
            <a:avLst/>
          </a:prstGeom>
          <a:solidFill>
            <a:srgbClr val="FAF1DC"/>
          </a:solidFill>
          <a:ln/>
        </p:spPr>
      </p:sp>
      <p:sp>
        <p:nvSpPr>
          <p:cNvPr id="91" name="Text 89"/>
          <p:cNvSpPr/>
          <p:nvPr/>
        </p:nvSpPr>
        <p:spPr>
          <a:xfrm>
            <a:off x="9410700" y="3628727"/>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B5882B"/>
                </a:solidFill>
                <a:latin typeface="Courier New" pitchFamily="34" charset="0"/>
                <a:ea typeface="Courier New" pitchFamily="34" charset="-122"/>
                <a:cs typeface="Courier New" pitchFamily="34" charset="-120"/>
              </a:rPr>
              <a:t>1</a:t>
            </a:r>
            <a:endParaRPr lang="en-US" sz="900" dirty="0"/>
          </a:p>
        </p:txBody>
      </p:sp>
      <p:sp>
        <p:nvSpPr>
          <p:cNvPr id="92" name="Shape 90"/>
          <p:cNvSpPr/>
          <p:nvPr/>
        </p:nvSpPr>
        <p:spPr>
          <a:xfrm>
            <a:off x="9553575" y="3895427"/>
            <a:ext cx="19050" cy="2022425"/>
          </a:xfrm>
          <a:prstGeom prst="rect">
            <a:avLst/>
          </a:prstGeom>
          <a:solidFill>
            <a:srgbClr val="E7E6DF"/>
          </a:solidFill>
          <a:ln/>
        </p:spPr>
      </p:sp>
      <p:sp>
        <p:nvSpPr>
          <p:cNvPr id="93" name="Shape 91"/>
          <p:cNvSpPr/>
          <p:nvPr/>
        </p:nvSpPr>
        <p:spPr>
          <a:xfrm>
            <a:off x="9801225" y="3628727"/>
            <a:ext cx="332482" cy="190500"/>
          </a:xfrm>
          <a:prstGeom prst="roundRect">
            <a:avLst>
              <a:gd name="adj" fmla="val 25000"/>
            </a:avLst>
          </a:prstGeom>
          <a:solidFill>
            <a:srgbClr val="EAF0FB"/>
          </a:solidFill>
          <a:ln w="9525">
            <a:solidFill>
              <a:srgbClr val="C9DBF6"/>
            </a:solidFill>
            <a:prstDash val="solid"/>
          </a:ln>
        </p:spPr>
      </p:sp>
      <p:sp>
        <p:nvSpPr>
          <p:cNvPr id="94" name="Text 92"/>
          <p:cNvSpPr/>
          <p:nvPr/>
        </p:nvSpPr>
        <p:spPr>
          <a:xfrm>
            <a:off x="9877425" y="3657302"/>
            <a:ext cx="256282" cy="171450"/>
          </a:xfrm>
          <a:prstGeom prst="rect">
            <a:avLst/>
          </a:prstGeom>
          <a:noFill/>
          <a:ln/>
        </p:spPr>
        <p:txBody>
          <a:bodyPr wrap="square" lIns="25400" tIns="25400" rIns="25400" bIns="25400" rtlCol="0" anchor="t">
            <a:normAutofit/>
          </a:bodyPr>
          <a:lstStyle/>
          <a:p>
            <a:pPr algn="l" indent="0" marL="0">
              <a:buNone/>
            </a:pPr>
            <a:r>
              <a:rPr lang="en-US" sz="788" dirty="0">
                <a:solidFill>
                  <a:srgbClr val="2B5FC7"/>
                </a:solidFill>
                <a:latin typeface="Courier New" pitchFamily="34" charset="0"/>
                <a:ea typeface="Courier New" pitchFamily="34" charset="-122"/>
                <a:cs typeface="Courier New" pitchFamily="34" charset="-120"/>
              </a:rPr>
              <a:t>GET</a:t>
            </a:r>
            <a:endParaRPr lang="en-US" sz="788" dirty="0"/>
          </a:p>
        </p:txBody>
      </p:sp>
      <p:sp>
        <p:nvSpPr>
          <p:cNvPr id="95" name="Text 93"/>
          <p:cNvSpPr/>
          <p:nvPr/>
        </p:nvSpPr>
        <p:spPr>
          <a:xfrm>
            <a:off x="10209907" y="3643015"/>
            <a:ext cx="1190625"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/catalog/images</a:t>
            </a:r>
            <a:endParaRPr lang="en-US" sz="975" dirty="0"/>
          </a:p>
        </p:txBody>
      </p:sp>
      <p:sp>
        <p:nvSpPr>
          <p:cNvPr id="96" name="Text 94"/>
          <p:cNvSpPr/>
          <p:nvPr/>
        </p:nvSpPr>
        <p:spPr>
          <a:xfrm>
            <a:off x="9801225" y="3847802"/>
            <a:ext cx="2349579"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Find recovery points for the namespace.</a:t>
            </a:r>
            <a:endParaRPr lang="en-US" sz="938" dirty="0"/>
          </a:p>
        </p:txBody>
      </p:sp>
      <p:sp>
        <p:nvSpPr>
          <p:cNvPr id="97" name="Shape 95"/>
          <p:cNvSpPr/>
          <p:nvPr/>
        </p:nvSpPr>
        <p:spPr>
          <a:xfrm>
            <a:off x="9448800" y="5955953"/>
            <a:ext cx="228600" cy="228600"/>
          </a:xfrm>
          <a:prstGeom prst="ellipse">
            <a:avLst/>
          </a:prstGeom>
          <a:solidFill>
            <a:srgbClr val="FAF1DC"/>
          </a:solidFill>
          <a:ln/>
        </p:spPr>
      </p:sp>
      <p:sp>
        <p:nvSpPr>
          <p:cNvPr id="98" name="Text 96"/>
          <p:cNvSpPr/>
          <p:nvPr/>
        </p:nvSpPr>
        <p:spPr>
          <a:xfrm>
            <a:off x="9410700" y="5955953"/>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B5882B"/>
                </a:solidFill>
                <a:latin typeface="Courier New" pitchFamily="34" charset="0"/>
                <a:ea typeface="Courier New" pitchFamily="34" charset="-122"/>
                <a:cs typeface="Courier New" pitchFamily="34" charset="-120"/>
              </a:rPr>
              <a:t>2</a:t>
            </a:r>
            <a:endParaRPr lang="en-US" sz="900" dirty="0"/>
          </a:p>
        </p:txBody>
      </p:sp>
      <p:sp>
        <p:nvSpPr>
          <p:cNvPr id="99" name="Shape 97"/>
          <p:cNvSpPr/>
          <p:nvPr/>
        </p:nvSpPr>
        <p:spPr>
          <a:xfrm>
            <a:off x="9553575" y="6222653"/>
            <a:ext cx="19050" cy="2022425"/>
          </a:xfrm>
          <a:prstGeom prst="rect">
            <a:avLst/>
          </a:prstGeom>
          <a:solidFill>
            <a:srgbClr val="E7E6DF"/>
          </a:solidFill>
          <a:ln/>
        </p:spPr>
      </p:sp>
      <p:sp>
        <p:nvSpPr>
          <p:cNvPr id="100" name="Shape 98"/>
          <p:cNvSpPr/>
          <p:nvPr/>
        </p:nvSpPr>
        <p:spPr>
          <a:xfrm>
            <a:off x="9801225" y="5955953"/>
            <a:ext cx="392460" cy="190500"/>
          </a:xfrm>
          <a:prstGeom prst="roundRect">
            <a:avLst>
              <a:gd name="adj" fmla="val 25000"/>
            </a:avLst>
          </a:prstGeom>
          <a:solidFill>
            <a:srgbClr val="FAF1DC"/>
          </a:solidFill>
          <a:ln w="9525">
            <a:solidFill>
              <a:srgbClr val="ECDDB6"/>
            </a:solidFill>
            <a:prstDash val="solid"/>
          </a:ln>
        </p:spPr>
      </p:sp>
      <p:sp>
        <p:nvSpPr>
          <p:cNvPr id="101" name="Text 99"/>
          <p:cNvSpPr/>
          <p:nvPr/>
        </p:nvSpPr>
        <p:spPr>
          <a:xfrm>
            <a:off x="9877425" y="5984528"/>
            <a:ext cx="316260" cy="171450"/>
          </a:xfrm>
          <a:prstGeom prst="rect">
            <a:avLst/>
          </a:prstGeom>
          <a:noFill/>
          <a:ln/>
        </p:spPr>
        <p:txBody>
          <a:bodyPr wrap="square" lIns="25400" tIns="25400" rIns="25400" bIns="25400" rtlCol="0" anchor="t">
            <a:normAutofit/>
          </a:bodyPr>
          <a:lstStyle/>
          <a:p>
            <a:pPr algn="l" indent="0" marL="0">
              <a:buNone/>
            </a:pPr>
            <a:r>
              <a:rPr lang="en-US" sz="788" dirty="0">
                <a:solidFill>
                  <a:srgbClr val="B5882B"/>
                </a:solidFill>
                <a:latin typeface="Courier New" pitchFamily="34" charset="0"/>
                <a:ea typeface="Courier New" pitchFamily="34" charset="-122"/>
                <a:cs typeface="Courier New" pitchFamily="34" charset="-120"/>
              </a:rPr>
              <a:t>POST</a:t>
            </a:r>
            <a:endParaRPr lang="en-US" sz="788" dirty="0"/>
          </a:p>
        </p:txBody>
      </p:sp>
      <p:sp>
        <p:nvSpPr>
          <p:cNvPr id="102" name="Text 100"/>
          <p:cNvSpPr/>
          <p:nvPr/>
        </p:nvSpPr>
        <p:spPr>
          <a:xfrm>
            <a:off x="10269885" y="5970240"/>
            <a:ext cx="2533509"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/recovery/.../namespace/recover</a:t>
            </a:r>
            <a:endParaRPr lang="en-US" sz="975" dirty="0"/>
          </a:p>
        </p:txBody>
      </p:sp>
      <p:sp>
        <p:nvSpPr>
          <p:cNvPr id="103" name="Text 101"/>
          <p:cNvSpPr/>
          <p:nvPr/>
        </p:nvSpPr>
        <p:spPr>
          <a:xfrm>
            <a:off x="9801225" y="6175028"/>
            <a:ext cx="3049034"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Launch the namespace recovery scenario.</a:t>
            </a:r>
            <a:endParaRPr lang="en-US" sz="938" dirty="0"/>
          </a:p>
        </p:txBody>
      </p:sp>
      <p:sp>
        <p:nvSpPr>
          <p:cNvPr id="104" name="Shape 102"/>
          <p:cNvSpPr/>
          <p:nvPr/>
        </p:nvSpPr>
        <p:spPr>
          <a:xfrm>
            <a:off x="9448800" y="8283178"/>
            <a:ext cx="228600" cy="228600"/>
          </a:xfrm>
          <a:prstGeom prst="ellipse">
            <a:avLst/>
          </a:prstGeom>
          <a:solidFill>
            <a:srgbClr val="FAF1DC"/>
          </a:solidFill>
          <a:ln/>
        </p:spPr>
      </p:sp>
      <p:sp>
        <p:nvSpPr>
          <p:cNvPr id="105" name="Text 103"/>
          <p:cNvSpPr/>
          <p:nvPr/>
        </p:nvSpPr>
        <p:spPr>
          <a:xfrm>
            <a:off x="9410700" y="8283178"/>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B5882B"/>
                </a:solidFill>
                <a:latin typeface="Courier New" pitchFamily="34" charset="0"/>
                <a:ea typeface="Courier New" pitchFamily="34" charset="-122"/>
                <a:cs typeface="Courier New" pitchFamily="34" charset="-120"/>
              </a:rPr>
              <a:t>3</a:t>
            </a:r>
            <a:endParaRPr lang="en-US" sz="900" dirty="0"/>
          </a:p>
        </p:txBody>
      </p:sp>
      <p:sp>
        <p:nvSpPr>
          <p:cNvPr id="106" name="Shape 104"/>
          <p:cNvSpPr/>
          <p:nvPr/>
        </p:nvSpPr>
        <p:spPr>
          <a:xfrm>
            <a:off x="9801225" y="8283178"/>
            <a:ext cx="332482" cy="190500"/>
          </a:xfrm>
          <a:prstGeom prst="roundRect">
            <a:avLst>
              <a:gd name="adj" fmla="val 25000"/>
            </a:avLst>
          </a:prstGeom>
          <a:solidFill>
            <a:srgbClr val="EAF0FB"/>
          </a:solidFill>
          <a:ln w="9525">
            <a:solidFill>
              <a:srgbClr val="C9DBF6"/>
            </a:solidFill>
            <a:prstDash val="solid"/>
          </a:ln>
        </p:spPr>
      </p:sp>
      <p:sp>
        <p:nvSpPr>
          <p:cNvPr id="107" name="Text 105"/>
          <p:cNvSpPr/>
          <p:nvPr/>
        </p:nvSpPr>
        <p:spPr>
          <a:xfrm>
            <a:off x="9877425" y="8311753"/>
            <a:ext cx="256282" cy="171450"/>
          </a:xfrm>
          <a:prstGeom prst="rect">
            <a:avLst/>
          </a:prstGeom>
          <a:noFill/>
          <a:ln/>
        </p:spPr>
        <p:txBody>
          <a:bodyPr wrap="square" lIns="25400" tIns="25400" rIns="25400" bIns="25400" rtlCol="0" anchor="t">
            <a:normAutofit/>
          </a:bodyPr>
          <a:lstStyle/>
          <a:p>
            <a:pPr algn="l" indent="0" marL="0">
              <a:buNone/>
            </a:pPr>
            <a:r>
              <a:rPr lang="en-US" sz="788" dirty="0">
                <a:solidFill>
                  <a:srgbClr val="2B5FC7"/>
                </a:solidFill>
                <a:latin typeface="Courier New" pitchFamily="34" charset="0"/>
                <a:ea typeface="Courier New" pitchFamily="34" charset="-122"/>
                <a:cs typeface="Courier New" pitchFamily="34" charset="-120"/>
              </a:rPr>
              <a:t>GET</a:t>
            </a:r>
            <a:endParaRPr lang="en-US" sz="788" dirty="0"/>
          </a:p>
        </p:txBody>
      </p:sp>
      <p:sp>
        <p:nvSpPr>
          <p:cNvPr id="108" name="Text 106"/>
          <p:cNvSpPr/>
          <p:nvPr/>
        </p:nvSpPr>
        <p:spPr>
          <a:xfrm>
            <a:off x="10209907" y="8297466"/>
            <a:ext cx="1552798"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/admin/jobs/{jobId}</a:t>
            </a:r>
            <a:endParaRPr lang="en-US" sz="975" dirty="0"/>
          </a:p>
        </p:txBody>
      </p:sp>
      <p:sp>
        <p:nvSpPr>
          <p:cNvPr id="109" name="Text 107"/>
          <p:cNvSpPr/>
          <p:nvPr/>
        </p:nvSpPr>
        <p:spPr>
          <a:xfrm>
            <a:off x="9801225" y="8502253"/>
            <a:ext cx="2002348"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Confirm the recovery succeeded.</a:t>
            </a:r>
            <a:endParaRPr lang="en-US" sz="938" dirty="0"/>
          </a:p>
        </p:txBody>
      </p:sp>
      <p:sp>
        <p:nvSpPr>
          <p:cNvPr id="110" name="Shape 108"/>
          <p:cNvSpPr/>
          <p:nvPr/>
        </p:nvSpPr>
        <p:spPr>
          <a:xfrm>
            <a:off x="9448800" y="8834438"/>
            <a:ext cx="3624263" cy="371475"/>
          </a:xfrm>
          <a:prstGeom prst="roundRect">
            <a:avLst>
              <a:gd name="adj" fmla="val 23077"/>
            </a:avLst>
          </a:prstGeom>
          <a:solidFill>
            <a:srgbClr val="FAF1DC"/>
          </a:solidFill>
          <a:ln w="9525">
            <a:solidFill>
              <a:srgbClr val="ECDDB6"/>
            </a:solidFill>
            <a:prstDash val="solid"/>
          </a:ln>
        </p:spPr>
      </p:sp>
      <p:sp>
        <p:nvSpPr>
          <p:cNvPr id="111" name="Text 109"/>
          <p:cNvSpPr/>
          <p:nvPr/>
        </p:nvSpPr>
        <p:spPr>
          <a:xfrm>
            <a:off x="9582150" y="8939213"/>
            <a:ext cx="178147" cy="200025"/>
          </a:xfrm>
          <a:prstGeom prst="rect">
            <a:avLst/>
          </a:prstGeom>
          <a:noFill/>
          <a:ln/>
        </p:spPr>
        <p:txBody>
          <a:bodyPr wrap="square" lIns="25400" tIns="25400" rIns="25400" bIns="25400" rtlCol="0" anchor="t">
            <a:normAutofit/>
          </a:bodyPr>
          <a:lstStyle/>
          <a:p>
            <a:pPr algn="l" indent="0" marL="0">
              <a:buNone/>
            </a:pPr>
            <a:r>
              <a:rPr lang="en-US" sz="1050" b="1" dirty="0">
                <a:solidFill>
                  <a:srgbClr val="B5882B"/>
                </a:solidFill>
                <a:latin typeface="Arial" pitchFamily="34" charset="0"/>
                <a:ea typeface="Arial" pitchFamily="34" charset="-122"/>
                <a:cs typeface="Arial" pitchFamily="34" charset="-120"/>
              </a:rPr>
              <a:t>✓</a:t>
            </a:r>
            <a:endParaRPr lang="en-US" sz="1050" dirty="0"/>
          </a:p>
        </p:txBody>
      </p:sp>
      <p:sp>
        <p:nvSpPr>
          <p:cNvPr id="112" name="Text 110"/>
          <p:cNvSpPr/>
          <p:nvPr/>
        </p:nvSpPr>
        <p:spPr>
          <a:xfrm>
            <a:off x="9769822" y="8939213"/>
            <a:ext cx="2029279" cy="200025"/>
          </a:xfrm>
          <a:prstGeom prst="rect">
            <a:avLst/>
          </a:prstGeom>
          <a:noFill/>
          <a:ln/>
        </p:spPr>
        <p:txBody>
          <a:bodyPr wrap="square" lIns="25400" tIns="25400" rIns="25400" bIns="25400" rtlCol="0" anchor="t">
            <a:normAutofit/>
          </a:bodyPr>
          <a:lstStyle/>
          <a:p>
            <a:pPr algn="l" indent="0" marL="0">
              <a:buNone/>
            </a:pPr>
            <a:r>
              <a:rPr lang="en-US" sz="975" dirty="0">
                <a:solidFill>
                  <a:srgbClr val="8A6418"/>
                </a:solidFill>
                <a:latin typeface="Arial" pitchFamily="34" charset="0"/>
                <a:ea typeface="Arial" pitchFamily="34" charset="-122"/>
                <a:cs typeface="Arial" pitchFamily="34" charset="-120"/>
              </a:rPr>
              <a:t>Namespace recovered &amp; running.</a:t>
            </a:r>
            <a:endParaRPr lang="en-US" sz="975" dirty="0"/>
          </a:p>
        </p:txBody>
      </p:sp>
      <p:sp>
        <p:nvSpPr>
          <p:cNvPr id="113" name="Shape 111"/>
          <p:cNvSpPr/>
          <p:nvPr/>
        </p:nvSpPr>
        <p:spPr>
          <a:xfrm>
            <a:off x="13463588" y="2685529"/>
            <a:ext cx="4062412" cy="6739458"/>
          </a:xfrm>
          <a:prstGeom prst="roundRect">
            <a:avLst>
              <a:gd name="adj" fmla="val 3283"/>
            </a:avLst>
          </a:prstGeom>
          <a:solidFill>
            <a:srgbClr val="FFFFFF"/>
          </a:solidFill>
          <a:ln/>
          <a:effectLst>
            <a:outerShdw sx="100000" sy="100000" kx="0" ky="0" algn="bl" rotWithShape="0" blurRad="19050" dist="9525" dir="5400000">
              <a:srgbClr val="141414">
                <a:alpha val="4000"/>
              </a:srgbClr>
            </a:outerShdw>
          </a:effectLst>
        </p:spPr>
      </p:sp>
      <p:sp>
        <p:nvSpPr>
          <p:cNvPr id="114" name="Shape 112"/>
          <p:cNvSpPr/>
          <p:nvPr/>
        </p:nvSpPr>
        <p:spPr>
          <a:xfrm>
            <a:off x="13463588" y="9415463"/>
            <a:ext cx="4062412" cy="9525"/>
          </a:xfrm>
          <a:prstGeom prst="rect">
            <a:avLst/>
          </a:prstGeom>
          <a:solidFill>
            <a:srgbClr val="E7E6DF"/>
          </a:solidFill>
          <a:ln/>
        </p:spPr>
      </p:sp>
      <p:sp>
        <p:nvSpPr>
          <p:cNvPr id="115" name="Shape 113"/>
          <p:cNvSpPr/>
          <p:nvPr/>
        </p:nvSpPr>
        <p:spPr>
          <a:xfrm>
            <a:off x="13463588" y="2685529"/>
            <a:ext cx="4062412" cy="28575"/>
          </a:xfrm>
          <a:prstGeom prst="rect">
            <a:avLst/>
          </a:prstGeom>
          <a:solidFill>
            <a:srgbClr val="4A5BB0"/>
          </a:solidFill>
          <a:ln/>
        </p:spPr>
      </p:sp>
      <p:sp>
        <p:nvSpPr>
          <p:cNvPr id="116" name="Shape 114"/>
          <p:cNvSpPr/>
          <p:nvPr/>
        </p:nvSpPr>
        <p:spPr>
          <a:xfrm>
            <a:off x="13463588" y="2685529"/>
            <a:ext cx="9525" cy="6739458"/>
          </a:xfrm>
          <a:prstGeom prst="rect">
            <a:avLst/>
          </a:prstGeom>
          <a:solidFill>
            <a:srgbClr val="E7E6DF"/>
          </a:solidFill>
          <a:ln/>
        </p:spPr>
      </p:sp>
      <p:sp>
        <p:nvSpPr>
          <p:cNvPr id="117" name="Shape 115"/>
          <p:cNvSpPr/>
          <p:nvPr/>
        </p:nvSpPr>
        <p:spPr>
          <a:xfrm>
            <a:off x="17516475" y="2685529"/>
            <a:ext cx="9525" cy="6739458"/>
          </a:xfrm>
          <a:prstGeom prst="rect">
            <a:avLst/>
          </a:prstGeom>
          <a:solidFill>
            <a:srgbClr val="E7E6DF"/>
          </a:solidFill>
          <a:ln/>
        </p:spPr>
      </p:sp>
      <p:sp>
        <p:nvSpPr>
          <p:cNvPr id="118" name="Shape 116"/>
          <p:cNvSpPr/>
          <p:nvPr/>
        </p:nvSpPr>
        <p:spPr>
          <a:xfrm>
            <a:off x="13663613" y="2923654"/>
            <a:ext cx="285750" cy="285750"/>
          </a:xfrm>
          <a:prstGeom prst="roundRect">
            <a:avLst>
              <a:gd name="adj" fmla="val 26667"/>
            </a:avLst>
          </a:prstGeom>
          <a:solidFill>
            <a:srgbClr val="ECEEF8"/>
          </a:solidFill>
          <a:ln/>
        </p:spPr>
      </p:sp>
      <p:sp>
        <p:nvSpPr>
          <p:cNvPr id="119" name="Text 117"/>
          <p:cNvSpPr/>
          <p:nvPr/>
        </p:nvSpPr>
        <p:spPr>
          <a:xfrm>
            <a:off x="13625513" y="2923654"/>
            <a:ext cx="361950" cy="323850"/>
          </a:xfrm>
          <a:prstGeom prst="rect">
            <a:avLst/>
          </a:prstGeom>
          <a:noFill/>
          <a:ln/>
        </p:spPr>
        <p:txBody>
          <a:bodyPr wrap="square" lIns="25400" tIns="25400" rIns="25400" bIns="25400" rtlCol="0" anchor="ctr">
            <a:normAutofit/>
          </a:bodyPr>
          <a:lstStyle/>
          <a:p>
            <a:pPr algn="ctr" indent="0" marL="0">
              <a:buNone/>
            </a:pPr>
            <a:r>
              <a:rPr lang="en-US" sz="1050" dirty="0">
                <a:solidFill>
                  <a:srgbClr val="4A5BB0"/>
                </a:solidFill>
                <a:latin typeface="Courier New" pitchFamily="34" charset="0"/>
                <a:ea typeface="Courier New" pitchFamily="34" charset="-122"/>
                <a:cs typeface="Courier New" pitchFamily="34" charset="-120"/>
              </a:rPr>
              <a:t>04</a:t>
            </a:r>
            <a:endParaRPr lang="en-US" sz="1050" dirty="0"/>
          </a:p>
        </p:txBody>
      </p:sp>
      <p:sp>
        <p:nvSpPr>
          <p:cNvPr id="120" name="Text 118"/>
          <p:cNvSpPr/>
          <p:nvPr/>
        </p:nvSpPr>
        <p:spPr>
          <a:xfrm>
            <a:off x="14054138" y="2952229"/>
            <a:ext cx="743248" cy="266700"/>
          </a:xfrm>
          <a:prstGeom prst="rect">
            <a:avLst/>
          </a:prstGeom>
          <a:noFill/>
          <a:ln/>
        </p:spPr>
        <p:txBody>
          <a:bodyPr wrap="square" lIns="25400" tIns="25400" rIns="25400" bIns="25400" rtlCol="0" anchor="t">
            <a:normAutofit/>
          </a:bodyPr>
          <a:lstStyle/>
          <a:p>
            <a:pPr algn="l" indent="0" marL="0">
              <a:buNone/>
            </a:pPr>
            <a:r>
              <a:rPr lang="en-US" sz="1575" b="1" dirty="0">
                <a:solidFill>
                  <a:srgbClr val="18181B"/>
                </a:solidFill>
                <a:latin typeface="Arial" pitchFamily="34" charset="0"/>
                <a:ea typeface="Arial" pitchFamily="34" charset="-122"/>
                <a:cs typeface="Arial" pitchFamily="34" charset="-120"/>
              </a:rPr>
              <a:t>Monitor</a:t>
            </a:r>
            <a:endParaRPr lang="en-US" sz="1575" dirty="0"/>
          </a:p>
        </p:txBody>
      </p:sp>
      <p:sp>
        <p:nvSpPr>
          <p:cNvPr id="121" name="Text 119"/>
          <p:cNvSpPr/>
          <p:nvPr/>
        </p:nvSpPr>
        <p:spPr>
          <a:xfrm>
            <a:off x="13663613" y="3257029"/>
            <a:ext cx="4028599" cy="238348"/>
          </a:xfrm>
          <a:prstGeom prst="rect">
            <a:avLst/>
          </a:prstGeom>
          <a:noFill/>
          <a:ln/>
        </p:spPr>
        <p:txBody>
          <a:bodyPr wrap="square" lIns="25400" tIns="25400" rIns="25400" bIns="25400" rtlCol="0" anchor="t">
            <a:normAutofit/>
          </a:bodyPr>
          <a:lstStyle/>
          <a:p>
            <a:pPr algn="l" indent="0" marL="0">
              <a:lnSpc>
                <a:spcPct val="145000"/>
              </a:lnSpc>
              <a:buNone/>
            </a:pPr>
            <a:r>
              <a:rPr lang="en-US" sz="1088" dirty="0">
                <a:solidFill>
                  <a:srgbClr val="71717A"/>
                </a:solidFill>
                <a:latin typeface="Arial" pitchFamily="34" charset="0"/>
                <a:ea typeface="Arial" pitchFamily="34" charset="-122"/>
                <a:cs typeface="Arial" pitchFamily="34" charset="-120"/>
              </a:rPr>
              <a:t>Track every job and catch the failures.</a:t>
            </a:r>
            <a:endParaRPr lang="en-US" sz="1088" dirty="0"/>
          </a:p>
        </p:txBody>
      </p:sp>
      <p:sp>
        <p:nvSpPr>
          <p:cNvPr id="122" name="Shape 120"/>
          <p:cNvSpPr/>
          <p:nvPr/>
        </p:nvSpPr>
        <p:spPr>
          <a:xfrm>
            <a:off x="13663613" y="3628727"/>
            <a:ext cx="228600" cy="228600"/>
          </a:xfrm>
          <a:prstGeom prst="ellipse">
            <a:avLst/>
          </a:prstGeom>
          <a:solidFill>
            <a:srgbClr val="ECEEF8"/>
          </a:solidFill>
          <a:ln/>
        </p:spPr>
      </p:sp>
      <p:sp>
        <p:nvSpPr>
          <p:cNvPr id="123" name="Text 121"/>
          <p:cNvSpPr/>
          <p:nvPr/>
        </p:nvSpPr>
        <p:spPr>
          <a:xfrm>
            <a:off x="13625513" y="3628727"/>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4A5BB0"/>
                </a:solidFill>
                <a:latin typeface="Courier New" pitchFamily="34" charset="0"/>
                <a:ea typeface="Courier New" pitchFamily="34" charset="-122"/>
                <a:cs typeface="Courier New" pitchFamily="34" charset="-120"/>
              </a:rPr>
              <a:t>1</a:t>
            </a:r>
            <a:endParaRPr lang="en-US" sz="900" dirty="0"/>
          </a:p>
        </p:txBody>
      </p:sp>
      <p:sp>
        <p:nvSpPr>
          <p:cNvPr id="124" name="Shape 122"/>
          <p:cNvSpPr/>
          <p:nvPr/>
        </p:nvSpPr>
        <p:spPr>
          <a:xfrm>
            <a:off x="13768388" y="3895427"/>
            <a:ext cx="19050" cy="2022425"/>
          </a:xfrm>
          <a:prstGeom prst="rect">
            <a:avLst/>
          </a:prstGeom>
          <a:solidFill>
            <a:srgbClr val="E7E6DF"/>
          </a:solidFill>
          <a:ln/>
        </p:spPr>
      </p:sp>
      <p:sp>
        <p:nvSpPr>
          <p:cNvPr id="125" name="Shape 123"/>
          <p:cNvSpPr/>
          <p:nvPr/>
        </p:nvSpPr>
        <p:spPr>
          <a:xfrm>
            <a:off x="14016038" y="3628727"/>
            <a:ext cx="332482" cy="190500"/>
          </a:xfrm>
          <a:prstGeom prst="roundRect">
            <a:avLst>
              <a:gd name="adj" fmla="val 25000"/>
            </a:avLst>
          </a:prstGeom>
          <a:solidFill>
            <a:srgbClr val="EAF0FB"/>
          </a:solidFill>
          <a:ln w="9525">
            <a:solidFill>
              <a:srgbClr val="C9DBF6"/>
            </a:solidFill>
            <a:prstDash val="solid"/>
          </a:ln>
        </p:spPr>
      </p:sp>
      <p:sp>
        <p:nvSpPr>
          <p:cNvPr id="126" name="Text 124"/>
          <p:cNvSpPr/>
          <p:nvPr/>
        </p:nvSpPr>
        <p:spPr>
          <a:xfrm>
            <a:off x="14092238" y="3657302"/>
            <a:ext cx="256282" cy="171450"/>
          </a:xfrm>
          <a:prstGeom prst="rect">
            <a:avLst/>
          </a:prstGeom>
          <a:noFill/>
          <a:ln/>
        </p:spPr>
        <p:txBody>
          <a:bodyPr wrap="square" lIns="25400" tIns="25400" rIns="25400" bIns="25400" rtlCol="0" anchor="t">
            <a:normAutofit/>
          </a:bodyPr>
          <a:lstStyle/>
          <a:p>
            <a:pPr algn="l" indent="0" marL="0">
              <a:buNone/>
            </a:pPr>
            <a:r>
              <a:rPr lang="en-US" sz="788" dirty="0">
                <a:solidFill>
                  <a:srgbClr val="2B5FC7"/>
                </a:solidFill>
                <a:latin typeface="Courier New" pitchFamily="34" charset="0"/>
                <a:ea typeface="Courier New" pitchFamily="34" charset="-122"/>
                <a:cs typeface="Courier New" pitchFamily="34" charset="-120"/>
              </a:rPr>
              <a:t>GET</a:t>
            </a:r>
            <a:endParaRPr lang="en-US" sz="788" dirty="0"/>
          </a:p>
        </p:txBody>
      </p:sp>
      <p:sp>
        <p:nvSpPr>
          <p:cNvPr id="127" name="Text 125"/>
          <p:cNvSpPr/>
          <p:nvPr/>
        </p:nvSpPr>
        <p:spPr>
          <a:xfrm>
            <a:off x="14424720" y="3643015"/>
            <a:ext cx="893490"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/admin/jobs</a:t>
            </a:r>
            <a:endParaRPr lang="en-US" sz="975" dirty="0"/>
          </a:p>
        </p:txBody>
      </p:sp>
      <p:sp>
        <p:nvSpPr>
          <p:cNvPr id="128" name="Text 126"/>
          <p:cNvSpPr/>
          <p:nvPr/>
        </p:nvSpPr>
        <p:spPr>
          <a:xfrm>
            <a:off x="14016038" y="3847802"/>
            <a:ext cx="1789197"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Filter Kubernetes backup jobs.</a:t>
            </a:r>
            <a:endParaRPr lang="en-US" sz="938" dirty="0"/>
          </a:p>
        </p:txBody>
      </p:sp>
      <p:sp>
        <p:nvSpPr>
          <p:cNvPr id="129" name="Shape 127"/>
          <p:cNvSpPr/>
          <p:nvPr/>
        </p:nvSpPr>
        <p:spPr>
          <a:xfrm>
            <a:off x="13663613" y="5955953"/>
            <a:ext cx="228600" cy="228600"/>
          </a:xfrm>
          <a:prstGeom prst="ellipse">
            <a:avLst/>
          </a:prstGeom>
          <a:solidFill>
            <a:srgbClr val="ECEEF8"/>
          </a:solidFill>
          <a:ln/>
        </p:spPr>
      </p:sp>
      <p:sp>
        <p:nvSpPr>
          <p:cNvPr id="130" name="Text 128"/>
          <p:cNvSpPr/>
          <p:nvPr/>
        </p:nvSpPr>
        <p:spPr>
          <a:xfrm>
            <a:off x="13625513" y="5955953"/>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4A5BB0"/>
                </a:solidFill>
                <a:latin typeface="Courier New" pitchFamily="34" charset="0"/>
                <a:ea typeface="Courier New" pitchFamily="34" charset="-122"/>
                <a:cs typeface="Courier New" pitchFamily="34" charset="-120"/>
              </a:rPr>
              <a:t>2</a:t>
            </a:r>
            <a:endParaRPr lang="en-US" sz="900" dirty="0"/>
          </a:p>
        </p:txBody>
      </p:sp>
      <p:sp>
        <p:nvSpPr>
          <p:cNvPr id="131" name="Shape 129"/>
          <p:cNvSpPr/>
          <p:nvPr/>
        </p:nvSpPr>
        <p:spPr>
          <a:xfrm>
            <a:off x="13768388" y="6222653"/>
            <a:ext cx="19050" cy="2022425"/>
          </a:xfrm>
          <a:prstGeom prst="rect">
            <a:avLst/>
          </a:prstGeom>
          <a:solidFill>
            <a:srgbClr val="E7E6DF"/>
          </a:solidFill>
          <a:ln/>
        </p:spPr>
      </p:sp>
      <p:sp>
        <p:nvSpPr>
          <p:cNvPr id="132" name="Shape 130"/>
          <p:cNvSpPr/>
          <p:nvPr/>
        </p:nvSpPr>
        <p:spPr>
          <a:xfrm>
            <a:off x="14016038" y="5955953"/>
            <a:ext cx="332482" cy="190500"/>
          </a:xfrm>
          <a:prstGeom prst="roundRect">
            <a:avLst>
              <a:gd name="adj" fmla="val 25000"/>
            </a:avLst>
          </a:prstGeom>
          <a:solidFill>
            <a:srgbClr val="EAF0FB"/>
          </a:solidFill>
          <a:ln w="9525">
            <a:solidFill>
              <a:srgbClr val="C9DBF6"/>
            </a:solidFill>
            <a:prstDash val="solid"/>
          </a:ln>
        </p:spPr>
      </p:sp>
      <p:sp>
        <p:nvSpPr>
          <p:cNvPr id="133" name="Text 131"/>
          <p:cNvSpPr/>
          <p:nvPr/>
        </p:nvSpPr>
        <p:spPr>
          <a:xfrm>
            <a:off x="14092238" y="5984528"/>
            <a:ext cx="256282" cy="171450"/>
          </a:xfrm>
          <a:prstGeom prst="rect">
            <a:avLst/>
          </a:prstGeom>
          <a:noFill/>
          <a:ln/>
        </p:spPr>
        <p:txBody>
          <a:bodyPr wrap="square" lIns="25400" tIns="25400" rIns="25400" bIns="25400" rtlCol="0" anchor="t">
            <a:normAutofit/>
          </a:bodyPr>
          <a:lstStyle/>
          <a:p>
            <a:pPr algn="l" indent="0" marL="0">
              <a:buNone/>
            </a:pPr>
            <a:r>
              <a:rPr lang="en-US" sz="788" dirty="0">
                <a:solidFill>
                  <a:srgbClr val="2B5FC7"/>
                </a:solidFill>
                <a:latin typeface="Courier New" pitchFamily="34" charset="0"/>
                <a:ea typeface="Courier New" pitchFamily="34" charset="-122"/>
                <a:cs typeface="Courier New" pitchFamily="34" charset="-120"/>
              </a:rPr>
              <a:t>GET</a:t>
            </a:r>
            <a:endParaRPr lang="en-US" sz="788" dirty="0"/>
          </a:p>
        </p:txBody>
      </p:sp>
      <p:sp>
        <p:nvSpPr>
          <p:cNvPr id="134" name="Text 132"/>
          <p:cNvSpPr/>
          <p:nvPr/>
        </p:nvSpPr>
        <p:spPr>
          <a:xfrm>
            <a:off x="14424720" y="5970240"/>
            <a:ext cx="1552798"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/admin/jobs/{jobId}</a:t>
            </a:r>
            <a:endParaRPr lang="en-US" sz="975" dirty="0"/>
          </a:p>
        </p:txBody>
      </p:sp>
      <p:sp>
        <p:nvSpPr>
          <p:cNvPr id="135" name="Text 133"/>
          <p:cNvSpPr/>
          <p:nvPr/>
        </p:nvSpPr>
        <p:spPr>
          <a:xfrm>
            <a:off x="14016038" y="6175028"/>
            <a:ext cx="2002348"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Status, exit code &amp; duration.</a:t>
            </a:r>
            <a:endParaRPr lang="en-US" sz="938" dirty="0"/>
          </a:p>
        </p:txBody>
      </p:sp>
      <p:sp>
        <p:nvSpPr>
          <p:cNvPr id="136" name="Shape 134"/>
          <p:cNvSpPr/>
          <p:nvPr/>
        </p:nvSpPr>
        <p:spPr>
          <a:xfrm>
            <a:off x="13663613" y="8283178"/>
            <a:ext cx="228600" cy="228600"/>
          </a:xfrm>
          <a:prstGeom prst="ellipse">
            <a:avLst/>
          </a:prstGeom>
          <a:solidFill>
            <a:srgbClr val="ECEEF8"/>
          </a:solidFill>
          <a:ln/>
        </p:spPr>
      </p:sp>
      <p:sp>
        <p:nvSpPr>
          <p:cNvPr id="137" name="Text 135"/>
          <p:cNvSpPr/>
          <p:nvPr/>
        </p:nvSpPr>
        <p:spPr>
          <a:xfrm>
            <a:off x="13625513" y="8283178"/>
            <a:ext cx="304800" cy="266700"/>
          </a:xfrm>
          <a:prstGeom prst="rect">
            <a:avLst/>
          </a:prstGeom>
          <a:noFill/>
          <a:ln/>
        </p:spPr>
        <p:txBody>
          <a:bodyPr wrap="square" lIns="25400" tIns="25400" rIns="25400" bIns="25400" rtlCol="0" anchor="ctr">
            <a:normAutofit/>
          </a:bodyPr>
          <a:lstStyle/>
          <a:p>
            <a:pPr algn="ctr" indent="0" marL="0">
              <a:buNone/>
            </a:pPr>
            <a:r>
              <a:rPr lang="en-US" sz="900" dirty="0">
                <a:solidFill>
                  <a:srgbClr val="4A5BB0"/>
                </a:solidFill>
                <a:latin typeface="Courier New" pitchFamily="34" charset="0"/>
                <a:ea typeface="Courier New" pitchFamily="34" charset="-122"/>
                <a:cs typeface="Courier New" pitchFamily="34" charset="-120"/>
              </a:rPr>
              <a:t>3</a:t>
            </a:r>
            <a:endParaRPr lang="en-US" sz="900" dirty="0"/>
          </a:p>
        </p:txBody>
      </p:sp>
      <p:sp>
        <p:nvSpPr>
          <p:cNvPr id="138" name="Shape 136"/>
          <p:cNvSpPr/>
          <p:nvPr/>
        </p:nvSpPr>
        <p:spPr>
          <a:xfrm>
            <a:off x="14016038" y="8283178"/>
            <a:ext cx="332482" cy="190500"/>
          </a:xfrm>
          <a:prstGeom prst="roundRect">
            <a:avLst>
              <a:gd name="adj" fmla="val 25000"/>
            </a:avLst>
          </a:prstGeom>
          <a:solidFill>
            <a:srgbClr val="EAF0FB"/>
          </a:solidFill>
          <a:ln w="9525">
            <a:solidFill>
              <a:srgbClr val="C9DBF6"/>
            </a:solidFill>
            <a:prstDash val="solid"/>
          </a:ln>
        </p:spPr>
      </p:sp>
      <p:sp>
        <p:nvSpPr>
          <p:cNvPr id="139" name="Text 137"/>
          <p:cNvSpPr/>
          <p:nvPr/>
        </p:nvSpPr>
        <p:spPr>
          <a:xfrm>
            <a:off x="14092238" y="8311753"/>
            <a:ext cx="256282" cy="171450"/>
          </a:xfrm>
          <a:prstGeom prst="rect">
            <a:avLst/>
          </a:prstGeom>
          <a:noFill/>
          <a:ln/>
        </p:spPr>
        <p:txBody>
          <a:bodyPr wrap="square" lIns="25400" tIns="25400" rIns="25400" bIns="25400" rtlCol="0" anchor="t">
            <a:normAutofit/>
          </a:bodyPr>
          <a:lstStyle/>
          <a:p>
            <a:pPr algn="l" indent="0" marL="0">
              <a:buNone/>
            </a:pPr>
            <a:r>
              <a:rPr lang="en-US" sz="788" dirty="0">
                <a:solidFill>
                  <a:srgbClr val="2B5FC7"/>
                </a:solidFill>
                <a:latin typeface="Courier New" pitchFamily="34" charset="0"/>
                <a:ea typeface="Courier New" pitchFamily="34" charset="-122"/>
                <a:cs typeface="Courier New" pitchFamily="34" charset="-120"/>
              </a:rPr>
              <a:t>GET</a:t>
            </a:r>
            <a:endParaRPr lang="en-US" sz="788" dirty="0"/>
          </a:p>
        </p:txBody>
      </p:sp>
      <p:sp>
        <p:nvSpPr>
          <p:cNvPr id="140" name="Text 138"/>
          <p:cNvSpPr/>
          <p:nvPr/>
        </p:nvSpPr>
        <p:spPr>
          <a:xfrm>
            <a:off x="14424720" y="8297466"/>
            <a:ext cx="2288351" cy="200025"/>
          </a:xfrm>
          <a:prstGeom prst="rect">
            <a:avLst/>
          </a:prstGeom>
          <a:noFill/>
          <a:ln/>
        </p:spPr>
        <p:txBody>
          <a:bodyPr wrap="square" lIns="25400" tIns="25400" rIns="25400" bIns="25400" rtlCol="0" anchor="t">
            <a:normAutofit/>
          </a:bodyPr>
          <a:lstStyle/>
          <a:p>
            <a:pPr algn="l" indent="0" marL="0">
              <a:buNone/>
            </a:pPr>
            <a:r>
              <a:rPr lang="en-US" sz="975" dirty="0">
                <a:solidFill>
                  <a:srgbClr val="27303B"/>
                </a:solidFill>
                <a:latin typeface="Courier New" pitchFamily="34" charset="0"/>
                <a:ea typeface="Courier New" pitchFamily="34" charset="-122"/>
                <a:cs typeface="Courier New" pitchFamily="34" charset="-120"/>
              </a:rPr>
              <a:t>/admin/jobs/{jobId}/try-logs</a:t>
            </a:r>
            <a:endParaRPr lang="en-US" sz="975" dirty="0"/>
          </a:p>
        </p:txBody>
      </p:sp>
      <p:sp>
        <p:nvSpPr>
          <p:cNvPr id="141" name="Text 139"/>
          <p:cNvSpPr/>
          <p:nvPr/>
        </p:nvSpPr>
        <p:spPr>
          <a:xfrm>
            <a:off x="14016038" y="8502253"/>
            <a:ext cx="2737902" cy="198834"/>
          </a:xfrm>
          <a:prstGeom prst="rect">
            <a:avLst/>
          </a:prstGeom>
          <a:noFill/>
          <a:ln/>
        </p:spPr>
        <p:txBody>
          <a:bodyPr wrap="square" lIns="25400" tIns="25400" rIns="25400" bIns="25400" rtlCol="0" anchor="t">
            <a:normAutofit/>
          </a:bodyPr>
          <a:lstStyle/>
          <a:p>
            <a:pPr algn="l" indent="0" marL="0">
              <a:lnSpc>
                <a:spcPct val="135000"/>
              </a:lnSpc>
              <a:buNone/>
            </a:pPr>
            <a:r>
              <a:rPr lang="en-US" sz="938" dirty="0">
                <a:solidFill>
                  <a:srgbClr val="9A9A93"/>
                </a:solidFill>
                <a:latin typeface="Arial" pitchFamily="34" charset="0"/>
                <a:ea typeface="Arial" pitchFamily="34" charset="-122"/>
                <a:cs typeface="Arial" pitchFamily="34" charset="-120"/>
              </a:rPr>
              <a:t>Error text on failed jobs.</a:t>
            </a:r>
            <a:endParaRPr lang="en-US" sz="938" dirty="0"/>
          </a:p>
        </p:txBody>
      </p:sp>
      <p:sp>
        <p:nvSpPr>
          <p:cNvPr id="142" name="Shape 140"/>
          <p:cNvSpPr/>
          <p:nvPr/>
        </p:nvSpPr>
        <p:spPr>
          <a:xfrm>
            <a:off x="13663613" y="8834438"/>
            <a:ext cx="3662362" cy="371475"/>
          </a:xfrm>
          <a:prstGeom prst="roundRect">
            <a:avLst>
              <a:gd name="adj" fmla="val 23077"/>
            </a:avLst>
          </a:prstGeom>
          <a:solidFill>
            <a:srgbClr val="ECEEF8"/>
          </a:solidFill>
          <a:ln w="9525">
            <a:solidFill>
              <a:srgbClr val="D4D9F0"/>
            </a:solidFill>
            <a:prstDash val="solid"/>
          </a:ln>
        </p:spPr>
      </p:sp>
      <p:sp>
        <p:nvSpPr>
          <p:cNvPr id="143" name="Text 141"/>
          <p:cNvSpPr/>
          <p:nvPr/>
        </p:nvSpPr>
        <p:spPr>
          <a:xfrm>
            <a:off x="13796963" y="8939213"/>
            <a:ext cx="178147" cy="200025"/>
          </a:xfrm>
          <a:prstGeom prst="rect">
            <a:avLst/>
          </a:prstGeom>
          <a:noFill/>
          <a:ln/>
        </p:spPr>
        <p:txBody>
          <a:bodyPr wrap="square" lIns="25400" tIns="25400" rIns="25400" bIns="25400" rtlCol="0" anchor="t">
            <a:normAutofit/>
          </a:bodyPr>
          <a:lstStyle/>
          <a:p>
            <a:pPr algn="l" indent="0" marL="0">
              <a:buNone/>
            </a:pPr>
            <a:r>
              <a:rPr lang="en-US" sz="1050" b="1" dirty="0">
                <a:solidFill>
                  <a:srgbClr val="4A5BB0"/>
                </a:solidFill>
                <a:latin typeface="Arial" pitchFamily="34" charset="0"/>
                <a:ea typeface="Arial" pitchFamily="34" charset="-122"/>
                <a:cs typeface="Arial" pitchFamily="34" charset="-120"/>
              </a:rPr>
              <a:t>✓</a:t>
            </a:r>
            <a:endParaRPr lang="en-US" sz="1050" dirty="0"/>
          </a:p>
        </p:txBody>
      </p:sp>
      <p:sp>
        <p:nvSpPr>
          <p:cNvPr id="144" name="Text 142"/>
          <p:cNvSpPr/>
          <p:nvPr/>
        </p:nvSpPr>
        <p:spPr>
          <a:xfrm>
            <a:off x="13984635" y="8939213"/>
            <a:ext cx="2269115" cy="200025"/>
          </a:xfrm>
          <a:prstGeom prst="rect">
            <a:avLst/>
          </a:prstGeom>
          <a:noFill/>
          <a:ln/>
        </p:spPr>
        <p:txBody>
          <a:bodyPr wrap="square" lIns="25400" tIns="25400" rIns="25400" bIns="25400" rtlCol="0" anchor="t">
            <a:normAutofit/>
          </a:bodyPr>
          <a:lstStyle/>
          <a:p>
            <a:pPr algn="l" indent="0" marL="0">
              <a:buNone/>
            </a:pPr>
            <a:r>
              <a:rPr lang="en-US" sz="975" dirty="0">
                <a:solidFill>
                  <a:srgbClr val="3A479A"/>
                </a:solidFill>
                <a:latin typeface="Arial" pitchFamily="34" charset="0"/>
                <a:ea typeface="Arial" pitchFamily="34" charset="-122"/>
                <a:cs typeface="Arial" pitchFamily="34" charset="-120"/>
              </a:rPr>
              <a:t>Failures tracked &amp; alerted in Grafana.</a:t>
            </a:r>
            <a:endParaRPr lang="en-US" sz="975" dirty="0"/>
          </a:p>
        </p:txBody>
      </p:sp>
      <p:sp>
        <p:nvSpPr>
          <p:cNvPr id="145" name="Text 143"/>
          <p:cNvSpPr/>
          <p:nvPr/>
        </p:nvSpPr>
        <p:spPr>
          <a:xfrm>
            <a:off x="762000" y="9634538"/>
            <a:ext cx="18440400" cy="195263"/>
          </a:xfrm>
          <a:prstGeom prst="rect">
            <a:avLst/>
          </a:prstGeom>
          <a:noFill/>
          <a:ln/>
        </p:spPr>
        <p:txBody>
          <a:bodyPr wrap="square" lIns="25400" tIns="25400" rIns="25400" bIns="25400" rtlCol="0" anchor="t">
            <a:normAutofit/>
          </a:bodyPr>
          <a:lstStyle/>
          <a:p>
            <a:pPr algn="l" indent="0" marL="0">
              <a:buNone/>
            </a:pPr>
            <a:r>
              <a:rPr lang="en-US" sz="938" dirty="0">
                <a:solidFill>
                  <a:srgbClr val="9A9A93"/>
                </a:solidFill>
                <a:latin typeface="Courier New" pitchFamily="34" charset="0"/>
                <a:ea typeface="Courier New" pitchFamily="34" charset="-122"/>
                <a:cs typeface="Courier New" pitchFamily="34" charset="-120"/>
              </a:rPr>
              <a:t>All calls authenticated with the JWT from </a:t>
            </a:r>
            <a:pPr algn="l" indent="0" marL="0">
              <a:buNone/>
            </a:pPr>
            <a:r>
              <a:rPr lang="en-US" sz="938" dirty="0">
                <a:solidFill>
                  <a:srgbClr val="27303B"/>
                </a:solidFill>
                <a:latin typeface="Courier New" pitchFamily="34" charset="0"/>
                <a:ea typeface="Courier New" pitchFamily="34" charset="-122"/>
                <a:cs typeface="Courier New" pitchFamily="34" charset="-120"/>
              </a:rPr>
              <a:t>POST /netbackup/login </a:t>
            </a:r>
            <a:pPr algn="l" indent="0" marL="0">
              <a:buNone/>
            </a:pPr>
            <a:r>
              <a:rPr lang="en-US" sz="938" dirty="0">
                <a:solidFill>
                  <a:srgbClr val="9A9A93"/>
                </a:solidFill>
                <a:latin typeface="Courier New" pitchFamily="34" charset="0"/>
                <a:ea typeface="Courier New" pitchFamily="34" charset="-122"/>
                <a:cs typeface="Courier New" pitchFamily="34" charset="-120"/>
              </a:rPr>
              <a:t>— same API surface as the supervision pipeline.</a:t>
            </a:r>
            <a:endParaRPr lang="en-US" sz="938"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2026-06-24T13:26:22Z</dcterms:created>
  <dcterms:modified xsi:type="dcterms:W3CDTF">2026-06-24T13:26:22Z</dcterms:modified>
</cp:coreProperties>
</file>